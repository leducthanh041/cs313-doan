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2" r:id="rId1"/>
  </p:sldMasterIdLst>
  <p:notesMasterIdLst>
    <p:notesMasterId r:id="rId84"/>
  </p:notesMasterIdLst>
  <p:sldIdLst>
    <p:sldId id="256" r:id="rId2"/>
    <p:sldId id="2083" r:id="rId3"/>
    <p:sldId id="258" r:id="rId4"/>
    <p:sldId id="1977" r:id="rId5"/>
    <p:sldId id="259" r:id="rId6"/>
    <p:sldId id="1974" r:id="rId7"/>
    <p:sldId id="1976" r:id="rId8"/>
    <p:sldId id="1978" r:id="rId9"/>
    <p:sldId id="1979" r:id="rId10"/>
    <p:sldId id="2059" r:id="rId11"/>
    <p:sldId id="1980" r:id="rId12"/>
    <p:sldId id="1981" r:id="rId13"/>
    <p:sldId id="1982" r:id="rId14"/>
    <p:sldId id="2037" r:id="rId15"/>
    <p:sldId id="1983" r:id="rId16"/>
    <p:sldId id="1984" r:id="rId17"/>
    <p:sldId id="2036" r:id="rId18"/>
    <p:sldId id="1985" r:id="rId19"/>
    <p:sldId id="1986" r:id="rId20"/>
    <p:sldId id="1987" r:id="rId21"/>
    <p:sldId id="1988" r:id="rId22"/>
    <p:sldId id="1989" r:id="rId23"/>
    <p:sldId id="2010" r:id="rId24"/>
    <p:sldId id="1998" r:id="rId25"/>
    <p:sldId id="1999" r:id="rId26"/>
    <p:sldId id="2000" r:id="rId27"/>
    <p:sldId id="2011" r:id="rId28"/>
    <p:sldId id="2021" r:id="rId29"/>
    <p:sldId id="2022" r:id="rId30"/>
    <p:sldId id="2023" r:id="rId31"/>
    <p:sldId id="2003" r:id="rId32"/>
    <p:sldId id="2058" r:id="rId33"/>
    <p:sldId id="2002" r:id="rId34"/>
    <p:sldId id="2014" r:id="rId35"/>
    <p:sldId id="2038" r:id="rId36"/>
    <p:sldId id="2004" r:id="rId37"/>
    <p:sldId id="2039" r:id="rId38"/>
    <p:sldId id="1990" r:id="rId39"/>
    <p:sldId id="2031" r:id="rId40"/>
    <p:sldId id="2084" r:id="rId41"/>
    <p:sldId id="2027" r:id="rId42"/>
    <p:sldId id="2028" r:id="rId43"/>
    <p:sldId id="2020" r:id="rId44"/>
    <p:sldId id="2019" r:id="rId45"/>
    <p:sldId id="2029" r:id="rId46"/>
    <p:sldId id="2030" r:id="rId47"/>
    <p:sldId id="2040" r:id="rId48"/>
    <p:sldId id="2041" r:id="rId49"/>
    <p:sldId id="2042" r:id="rId50"/>
    <p:sldId id="2045" r:id="rId51"/>
    <p:sldId id="2069" r:id="rId52"/>
    <p:sldId id="2070" r:id="rId53"/>
    <p:sldId id="2024" r:id="rId54"/>
    <p:sldId id="2060" r:id="rId55"/>
    <p:sldId id="2061" r:id="rId56"/>
    <p:sldId id="2062" r:id="rId57"/>
    <p:sldId id="2064" r:id="rId58"/>
    <p:sldId id="2065" r:id="rId59"/>
    <p:sldId id="2063" r:id="rId60"/>
    <p:sldId id="1991" r:id="rId61"/>
    <p:sldId id="1995" r:id="rId62"/>
    <p:sldId id="1996" r:id="rId63"/>
    <p:sldId id="1997" r:id="rId64"/>
    <p:sldId id="2066" r:id="rId65"/>
    <p:sldId id="2067" r:id="rId66"/>
    <p:sldId id="2049" r:id="rId67"/>
    <p:sldId id="2050" r:id="rId68"/>
    <p:sldId id="2068" r:id="rId69"/>
    <p:sldId id="2048" r:id="rId70"/>
    <p:sldId id="2057" r:id="rId71"/>
    <p:sldId id="2051" r:id="rId72"/>
    <p:sldId id="2052" r:id="rId73"/>
    <p:sldId id="1992" r:id="rId74"/>
    <p:sldId id="2076" r:id="rId75"/>
    <p:sldId id="2080" r:id="rId76"/>
    <p:sldId id="2081" r:id="rId77"/>
    <p:sldId id="2082" r:id="rId78"/>
    <p:sldId id="2077" r:id="rId79"/>
    <p:sldId id="2079" r:id="rId80"/>
    <p:sldId id="2085" r:id="rId81"/>
    <p:sldId id="1993" r:id="rId82"/>
    <p:sldId id="305" r:id="rId83"/>
  </p:sldIdLst>
  <p:sldSz cx="9144000" cy="5143500" type="screen16x9"/>
  <p:notesSz cx="6858000" cy="9144000"/>
  <p:embeddedFontLst>
    <p:embeddedFont>
      <p:font typeface="Archivo" panose="020B0604020202020204" charset="0"/>
      <p:regular r:id="rId85"/>
      <p:bold r:id="rId86"/>
      <p:italic r:id="rId87"/>
      <p:boldItalic r:id="rId88"/>
    </p:embeddedFont>
    <p:embeddedFont>
      <p:font typeface="Archivo Light" panose="020B0604020202020204" charset="0"/>
      <p:regular r:id="rId89"/>
      <p:bold r:id="rId90"/>
      <p:italic r:id="rId91"/>
      <p:boldItalic r:id="rId92"/>
    </p:embeddedFont>
    <p:embeddedFont>
      <p:font typeface="Barlow" panose="00000500000000000000" pitchFamily="2" charset="0"/>
      <p:regular r:id="rId93"/>
      <p:bold r:id="rId94"/>
      <p:italic r:id="rId95"/>
      <p:boldItalic r:id="rId96"/>
    </p:embeddedFont>
    <p:embeddedFont>
      <p:font typeface="Cambria Math" panose="02040503050406030204" pitchFamily="18" charset="0"/>
      <p:regular r:id="rId9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316928-1020-4733-AD95-DCBFB2D23494}" v="1" dt="2025-12-14T08:46:11.318"/>
  </p1510:revLst>
</p1510:revInfo>
</file>

<file path=ppt/tableStyles.xml><?xml version="1.0" encoding="utf-8"?>
<a:tblStyleLst xmlns:a="http://schemas.openxmlformats.org/drawingml/2006/main" def="{D6CBFD61-9CC1-4848-B8E2-E103B36D63B7}">
  <a:tblStyle styleId="{D6CBFD61-9CC1-4848-B8E2-E103B36D63B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font" Target="fonts/font5.fntdata"/><Relationship Id="rId97"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font" Target="fonts/font3.fntdata"/><Relationship Id="rId102"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font" Target="fonts/font6.fntdata"/><Relationship Id="rId95"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1.fntdata"/><Relationship Id="rId93" Type="http://schemas.openxmlformats.org/officeDocument/2006/relationships/font" Target="fonts/font9.fntdata"/><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font" Target="fonts/font10.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DCE3E8C9-DD42-B937-14C4-4A45BF213363}"/>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90F7EBC8-5CB0-8B97-A9EE-A8D3542B47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675A0C57-C229-3B29-7553-010EE168C9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9746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364d9da1f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364d9da1f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a:extLst>
            <a:ext uri="{FF2B5EF4-FFF2-40B4-BE49-F238E27FC236}">
              <a16:creationId xmlns:a16="http://schemas.microsoft.com/office/drawing/2014/main" id="{4231630B-D111-E314-3314-718B30E62244}"/>
            </a:ext>
          </a:extLst>
        </p:cNvPr>
        <p:cNvGrpSpPr/>
        <p:nvPr/>
      </p:nvGrpSpPr>
      <p:grpSpPr>
        <a:xfrm>
          <a:off x="0" y="0"/>
          <a:ext cx="0" cy="0"/>
          <a:chOff x="0" y="0"/>
          <a:chExt cx="0" cy="0"/>
        </a:xfrm>
      </p:grpSpPr>
      <p:sp>
        <p:nvSpPr>
          <p:cNvPr id="802" name="Google Shape;802;g13660f6265e_1_228:notes">
            <a:extLst>
              <a:ext uri="{FF2B5EF4-FFF2-40B4-BE49-F238E27FC236}">
                <a16:creationId xmlns:a16="http://schemas.microsoft.com/office/drawing/2014/main" id="{40C442AE-7F53-45CF-3043-F4ED5E67BD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3660f6265e_1_228:notes">
            <a:extLst>
              <a:ext uri="{FF2B5EF4-FFF2-40B4-BE49-F238E27FC236}">
                <a16:creationId xmlns:a16="http://schemas.microsoft.com/office/drawing/2014/main" id="{DA870481-8AAE-84F0-C140-0FC194B282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5231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1364d9da1fa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EE066297-C24F-1F94-39A0-A01D01364E50}"/>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FB043069-6CD8-3463-6C5E-84A7ED5131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584BB902-6A3C-6F82-BAC2-E66AC584C8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663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84F2CBF7-E14A-9268-51D0-E37F86A74307}"/>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E40B276-1DF5-80A2-DCA6-14C5971903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512C9F80-083B-7B62-C707-6ACBE8276D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3867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A45F22A3-C399-0AD0-66AD-02B215B73CC8}"/>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127E743F-0BC6-7B5E-BB3D-90AD898625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C35AA1E3-A973-4EDD-9991-4E5CE1EF86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0137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CC3A5D2-171C-DE80-4274-E0FAC1E6DC73}"/>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520E6251-713A-0B3C-068E-E0D7EE456B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76E425CA-A063-F2BB-CE31-6CDA24159C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412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FC8004EF-AC29-516C-F6DF-41FFDC6F4BB3}"/>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81DD6FF7-D201-879C-C187-8A2F2EBCA8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2BFB48FB-F021-C297-BBC6-B9B4164E36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2527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a:extLst>
            <a:ext uri="{FF2B5EF4-FFF2-40B4-BE49-F238E27FC236}">
              <a16:creationId xmlns:a16="http://schemas.microsoft.com/office/drawing/2014/main" id="{82A0DE4B-8C78-5C93-9B46-FE34BA0CD7EB}"/>
            </a:ext>
          </a:extLst>
        </p:cNvPr>
        <p:cNvGrpSpPr/>
        <p:nvPr/>
      </p:nvGrpSpPr>
      <p:grpSpPr>
        <a:xfrm>
          <a:off x="0" y="0"/>
          <a:ext cx="0" cy="0"/>
          <a:chOff x="0" y="0"/>
          <a:chExt cx="0" cy="0"/>
        </a:xfrm>
      </p:grpSpPr>
      <p:sp>
        <p:nvSpPr>
          <p:cNvPr id="802" name="Google Shape;802;g13660f6265e_1_228:notes">
            <a:extLst>
              <a:ext uri="{FF2B5EF4-FFF2-40B4-BE49-F238E27FC236}">
                <a16:creationId xmlns:a16="http://schemas.microsoft.com/office/drawing/2014/main" id="{27391A4C-C3C9-8BC0-FAC3-C9D2E9A279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3660f6265e_1_228:notes">
            <a:extLst>
              <a:ext uri="{FF2B5EF4-FFF2-40B4-BE49-F238E27FC236}">
                <a16:creationId xmlns:a16="http://schemas.microsoft.com/office/drawing/2014/main" id="{DF66DC7F-DE91-D0BA-40FF-BE4B3C6D94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9652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EAEFA4DE-11B6-E5C1-B2D6-113EA3BA8C22}"/>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53B05A83-3425-8EE7-2812-22076521A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DD87151A-EDE1-BCA8-46E7-2D8E2F4D15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6061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521FF417-A4A8-E90F-EE7A-31F8BA370860}"/>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4B83B7BB-3C81-9B97-4074-18502034AF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C5DF1EAD-67E9-3868-E0C7-55D0A99CF8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240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1C1EF0C3-6B3A-B837-6D2F-D35C28ECC545}"/>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ABC6C200-B734-33D6-0BB9-9FCE240A2F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5B786B67-D1AB-320D-0322-6F72EC4CA8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799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D990C151-87C0-26D0-D598-FADA6D2C660A}"/>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657314A9-5F1B-E7C3-E234-8A948AFB20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B152AC06-4158-0413-4D45-F425999775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3131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39DE754F-D44F-A015-A081-FE27120F4D85}"/>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F803807E-2821-CD15-5A99-2EE2E7F3AB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6A600BE9-5C47-D94C-E18F-CECA3762C9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9146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472386C7-E65E-1953-32DF-9FEBAB5899A6}"/>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642424F7-8C75-1EAD-8513-EDCB1DE2F7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DDC83577-D419-6AE0-CDA7-CFC6E96DB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7793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BA23D150-1B6D-C38C-0FF7-7A5B2587BF18}"/>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EE2B167C-1CF7-7C6B-3E09-86E71930C5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1308F07F-35AE-94B2-20DC-4873D33DFA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5241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3DA98E8C-5D15-CFFE-1C9F-3AC5BD304ECB}"/>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9AAE4A8D-5229-BEBB-F1AA-5741C83C6B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B31AFA37-9A6F-80B1-2D31-564C80B1C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4688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458D1692-9AD9-1079-43DD-44AAAF867637}"/>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4283FA19-92A2-2E6A-9977-6CAC6872F8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D0CB0504-4FC1-EAE9-6459-580A050F39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6651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64470397-F642-1AA3-9707-3FCCA4C3FDFD}"/>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B4D8C92-AAC7-DC6A-AD1C-B205702EC5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FE950768-E470-8553-DD4A-3C3D60214C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010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A22A35A0-FEE1-3A84-599C-2194859235A3}"/>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5BA8A8B6-891E-ED69-0EA8-1ECD870682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AC71A96E-12C4-0CD3-2EFC-2EA40BC0B2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94691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6B2A3339-A409-355F-2D4A-9518E6DE838C}"/>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FEAEF5B5-C983-18B0-895F-CF548B97E8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836F3035-3CAE-3487-5E3D-585AEDF52D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1783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CAD6A4E1-2FF0-F2A6-38E6-705CC2AD69D0}"/>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080C348F-7A0D-2D89-B0F2-AD09E88051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05424DDB-9E37-0F44-7E97-0F288B7CEA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8587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BD84855E-1F6E-B0BD-CE41-C8A844D081AE}"/>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52D9A204-153B-2BA1-F6B8-15239FCC81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AD8425C3-DD0C-8AAD-A620-F4217019D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79908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B875CE92-4CDC-286B-D67D-049724CE7458}"/>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7FB10655-2439-45F9-91B2-DCA284589F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38158598-BA32-DE9B-5289-1E335F2D57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98391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1474B48-E02F-97DB-B666-6D7EC666BF90}"/>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1A746C77-EC47-7169-EB5D-AC52148000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5D1594EB-9481-5C31-1E91-1C746EF2F0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6676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CE92B142-5281-8410-020F-DE2557DA9B64}"/>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0FF58CC-EEF2-D57E-CE72-F7FD71EDBA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18AA4D65-22FE-C565-7DE9-667B2C6EF9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0339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EB99D08B-110B-61E8-2DB9-39077EBB16B1}"/>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184DF5D6-89E6-EC74-403B-47E2F5606D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C7085507-332E-ADC8-8ACE-C9B243B343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463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E0B0158D-ED9B-1D9B-9E9B-A7A007834DF4}"/>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6B324E37-765F-0FE0-79FA-F79CBC658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906E8816-8154-7214-BF20-8249C21DEC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8571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B31AF59C-F3C6-6CA6-EFAF-C17A17F94569}"/>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9C2BA2D5-7924-6FF1-7372-9DDED5BA44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6BE572EF-6F49-BDEB-369C-D16B768817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5282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BC5D7784-794A-73C5-B443-C05A113EDAAC}"/>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41AC72B1-F10B-233A-73B9-037A061412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CD6C1F41-E634-D9D0-B336-D3316B906D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06831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30D0B272-AA36-40C3-57AF-602A1210A414}"/>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7BA7CD9-6E93-45DA-5ED9-D818A6CEE5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66CF9296-73B9-A7AF-1F94-4737468FF9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031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4262B565-6ABC-38B7-A67D-B5CE6848259C}"/>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E8AA45E8-6AFA-3E9E-84C5-3E50242710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EF3C3D85-F9C6-5A86-7C56-76DA0301EC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66097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E6CC85F7-D4FF-A262-FFE9-3FE3F90C2737}"/>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C08D9FF0-D126-B675-A9AA-22B499BDB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0340BC54-F3C1-8CFD-3EF1-CAB3727522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90189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2AB0691-A3D5-5C40-8252-1CD589CD37BF}"/>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09A9EB8-2A77-A33E-B1BF-3D903B4A96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1BC5FAE1-44F8-9927-CB3C-5BCDB7D048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25656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3799E8D6-3A3A-0582-4DE0-72AF3333EED4}"/>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5989C63D-41A1-D797-9AFC-172C2C504C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AF916997-6836-35AD-DD79-71BF621428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31447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a:extLst>
            <a:ext uri="{FF2B5EF4-FFF2-40B4-BE49-F238E27FC236}">
              <a16:creationId xmlns:a16="http://schemas.microsoft.com/office/drawing/2014/main" id="{89113FAF-6902-4415-BB3F-C18E52770508}"/>
            </a:ext>
          </a:extLst>
        </p:cNvPr>
        <p:cNvGrpSpPr/>
        <p:nvPr/>
      </p:nvGrpSpPr>
      <p:grpSpPr>
        <a:xfrm>
          <a:off x="0" y="0"/>
          <a:ext cx="0" cy="0"/>
          <a:chOff x="0" y="0"/>
          <a:chExt cx="0" cy="0"/>
        </a:xfrm>
      </p:grpSpPr>
      <p:sp>
        <p:nvSpPr>
          <p:cNvPr id="802" name="Google Shape;802;g13660f6265e_1_228:notes">
            <a:extLst>
              <a:ext uri="{FF2B5EF4-FFF2-40B4-BE49-F238E27FC236}">
                <a16:creationId xmlns:a16="http://schemas.microsoft.com/office/drawing/2014/main" id="{7D929569-8C9F-2277-B993-6E0F7269FF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3660f6265e_1_228:notes">
            <a:extLst>
              <a:ext uri="{FF2B5EF4-FFF2-40B4-BE49-F238E27FC236}">
                <a16:creationId xmlns:a16="http://schemas.microsoft.com/office/drawing/2014/main" id="{1E46E5DE-2FD7-1B2E-1796-16A2DC178F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51267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99583204-F8B1-9F2D-F612-13651740B234}"/>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AF62D1C6-22BF-36D4-A157-BE0724A208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EB784CA4-5D52-CAF1-7E64-BCFEA6FF06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37753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2ABEBD60-760D-7D0F-1DFB-8EDBA5FC93EA}"/>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430ED240-3F57-37A0-18C2-00E9CCF91A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7D0F68A3-20BB-22B1-4A32-4AFB434008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22642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1895FD89-B56D-9D3C-DBC7-B63A33EE97C8}"/>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5FDDFBD9-E72B-A957-586C-01686507B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7AEA5914-0589-7D11-6727-85F6B2F30A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9932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433FAC2C-C14E-86B0-22B7-16E49896AC63}"/>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25BB4A88-5D5F-9EAB-B173-1B10D17EC6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8F94FDD3-A5F7-DE27-5A84-06F179576B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88713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652E9206-8A49-78D5-D88E-7B28A5C6E22C}"/>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96CDC85-6D27-234D-6ACD-BD62C79309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5B7A36BD-BF8B-4E27-6350-793B1D4BCF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05035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D2036EFF-C48F-D2E7-6AD9-4B40C71079EE}"/>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56BDBAA-86AC-AC9B-1263-6964E1ED25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B4DA0696-4953-C5C7-F2D0-DA7193F087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17932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89B4B325-C5D2-AEF2-DBDC-6C5DEA915BCA}"/>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24A2B665-3C04-665B-FB32-CC6665B109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663CA741-70B5-13C2-81A9-6193863EEB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0102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343D952E-F8F4-3B49-8554-61D0A37C910B}"/>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0CDF8E6-B84A-03E2-4358-D0F4D2D8D8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499A0C2C-ACF5-01A6-0D1B-D4F505EAAF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00201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917721A-914D-7ABB-40AF-5B377066EFC5}"/>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A78E6B0B-B828-192F-B42A-5CD587DE4F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D383CB86-07F0-048E-B9F5-2611343582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03437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CCFAC153-A507-AADB-6AF2-E49311911770}"/>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6EB1A674-1E59-4B35-5E6C-0A5698C423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31EC855B-8650-0548-CC00-DFC9D1436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67219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0C2064AA-1371-C52A-88E4-22B88760C20E}"/>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F275B45A-7F5E-1833-8B13-975B547790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44D8C02D-462E-5D18-0127-119234B843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86569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8643ABEF-49C3-12FC-655B-554F19A79F27}"/>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6C4B215-1BFF-6399-F881-D5DEFE05AA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889071B8-6BD4-8D94-C074-922772345E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017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D786E4F4-5FCC-BB16-4093-F12B61B7EDF3}"/>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F4DD1056-FA2A-B7EE-0B95-B036BB2869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3144F5D1-E7B8-4A87-B546-353DB7678C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31323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71706C2B-FF15-1E3F-8C09-4E2BB48E909C}"/>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13F82DA-2D9F-D311-0275-0FE8B9EBD2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7246887C-04FD-61D4-D55B-2E5DFA76DF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79432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265556E-8959-D068-4242-1B27336D8BCF}"/>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A57F745C-2A3A-799F-A47A-FAB82C8978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852DC111-3203-1FED-ADE1-111261218A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62392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5685800-EC94-384B-B0B3-EB1B5C9797ED}"/>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24FAF49-454D-6E3C-FDA4-FAE93A7F6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7ED3C19A-4196-B93B-5CA0-839842B3D5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63060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F33142EF-2950-8CC6-D95E-F81743CA0C4E}"/>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66133862-D161-4C1B-434C-DD2C438393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517DD15C-644A-7374-97D9-170FD66D7C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8178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EF105D0B-4193-1DFA-3C5B-514C98617D78}"/>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A4E5BF2C-C23F-0649-2FDA-66C3A245EC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7A08F857-01EC-241D-D730-8D6276097B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95046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0AC67CFB-E436-FD2F-15EB-2770CD66A59E}"/>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11DEB16-E888-6350-04A8-5E4B91DE4F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9B346316-C0A4-9CA3-8B2A-8E13C540C4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08509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A03FB38A-5FAC-5A59-463C-ED412ED1176D}"/>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06E86FC5-8AAE-6B78-E6E7-E053FDA6E5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42987A45-F6ED-C61C-959E-CC2D4ECB3C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53554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C8E28798-1315-C394-ECE6-F24DE54BE7C6}"/>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8759EEDD-465A-13B7-8AA3-866F320320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1287F42A-AAFC-EFFA-A544-3BE107D69A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26786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a:extLst>
            <a:ext uri="{FF2B5EF4-FFF2-40B4-BE49-F238E27FC236}">
              <a16:creationId xmlns:a16="http://schemas.microsoft.com/office/drawing/2014/main" id="{5B66EBCB-08A4-592B-6AD5-E7CB821642BA}"/>
            </a:ext>
          </a:extLst>
        </p:cNvPr>
        <p:cNvGrpSpPr/>
        <p:nvPr/>
      </p:nvGrpSpPr>
      <p:grpSpPr>
        <a:xfrm>
          <a:off x="0" y="0"/>
          <a:ext cx="0" cy="0"/>
          <a:chOff x="0" y="0"/>
          <a:chExt cx="0" cy="0"/>
        </a:xfrm>
      </p:grpSpPr>
      <p:sp>
        <p:nvSpPr>
          <p:cNvPr id="802" name="Google Shape;802;g13660f6265e_1_228:notes">
            <a:extLst>
              <a:ext uri="{FF2B5EF4-FFF2-40B4-BE49-F238E27FC236}">
                <a16:creationId xmlns:a16="http://schemas.microsoft.com/office/drawing/2014/main" id="{C150514B-E091-2DBE-101D-01B1B274F3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3660f6265e_1_228:notes">
            <a:extLst>
              <a:ext uri="{FF2B5EF4-FFF2-40B4-BE49-F238E27FC236}">
                <a16:creationId xmlns:a16="http://schemas.microsoft.com/office/drawing/2014/main" id="{D063AEEF-55E3-5947-C4C7-4E6AABB561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849117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316DA5E6-CF1A-700B-3BD8-A47B1FB5B7C3}"/>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4DF0C661-130A-0903-58C6-412FB428FE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0294A8E0-97ED-6C9B-573B-45CA988928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85369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444E0AAF-493F-C02B-1FF2-80D109CE0C4D}"/>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0D1B713F-554F-CB5E-C397-8A45F35B09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7E3DCD5F-2C72-B520-E576-EFAF21FF1E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86758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883645CE-2590-A99B-431E-9402FAD3F0D4}"/>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A8679F14-1FAA-7FAB-3756-03C5ED3BC4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6AA2DBEF-5532-0515-091B-45386CBE42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02666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A6649AA7-4AEB-E715-AC43-5AA7FEE5168A}"/>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1CAE59F-0D55-CB90-6CCF-9547E4CFB9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26AEB4FA-84DB-F5CD-91E6-F92D2E2C96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10410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9C8BAE5-47CD-C7E0-EEF6-F71BABEB1589}"/>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CD9B8D25-8CBD-5CA7-FE75-9A0155EDFF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349ED498-4729-0049-120C-95CE806F03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72274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E58359B4-CA42-B768-E6E0-DEAB28088F76}"/>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CB4C217-8478-8149-28DC-1F7737287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CC763DCA-6C25-05E0-F30B-CDB5F694FF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81478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C3A5B2DD-A593-E99A-6EA4-2852F1502F87}"/>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82542401-C8A9-788A-14A8-3E410D2C3A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CD732076-9989-D793-6490-D4734EBEAD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24885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D3D5D48C-8D3D-899C-07E0-3026DEE093D3}"/>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FA4CADE-17AE-0B69-405E-09060802F5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D9C0D8CC-569B-BF96-7728-6602303305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93797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5855C8FB-23C0-D9B9-B1B0-A765DA94C7F2}"/>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D4F1DBEC-A1E1-E3E0-CA75-4E81DEB602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9ADADB6B-97AB-8A7D-79A4-F59C77887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361864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FB885DEB-B925-9FB5-A6BE-93D9D9AA0166}"/>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2CCAC405-6FFD-1D59-4532-EAB034DE3E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F272786D-4C82-E71F-C07F-D4412904A3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96865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AA01CD57-8159-8858-FC36-578086D2FBFD}"/>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903614B0-1631-A7B8-BBC9-AF0CDB8656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47924B6A-4BB5-2F89-87D8-766F508F13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294559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71596845-55D9-A976-1AF8-1EA5804279F1}"/>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F57D5E00-A628-2E51-FE09-5952CDFC49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99B847C0-AEEB-AEEE-271C-A6F3D4EC18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49517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a:extLst>
            <a:ext uri="{FF2B5EF4-FFF2-40B4-BE49-F238E27FC236}">
              <a16:creationId xmlns:a16="http://schemas.microsoft.com/office/drawing/2014/main" id="{8C0D8C4C-D256-9245-8982-DC4C477A7FA4}"/>
            </a:ext>
          </a:extLst>
        </p:cNvPr>
        <p:cNvGrpSpPr/>
        <p:nvPr/>
      </p:nvGrpSpPr>
      <p:grpSpPr>
        <a:xfrm>
          <a:off x="0" y="0"/>
          <a:ext cx="0" cy="0"/>
          <a:chOff x="0" y="0"/>
          <a:chExt cx="0" cy="0"/>
        </a:xfrm>
      </p:grpSpPr>
      <p:sp>
        <p:nvSpPr>
          <p:cNvPr id="802" name="Google Shape;802;g13660f6265e_1_228:notes">
            <a:extLst>
              <a:ext uri="{FF2B5EF4-FFF2-40B4-BE49-F238E27FC236}">
                <a16:creationId xmlns:a16="http://schemas.microsoft.com/office/drawing/2014/main" id="{AEBDA10B-E4DD-1430-BC07-4F5A2746DC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3660f6265e_1_228:notes">
            <a:extLst>
              <a:ext uri="{FF2B5EF4-FFF2-40B4-BE49-F238E27FC236}">
                <a16:creationId xmlns:a16="http://schemas.microsoft.com/office/drawing/2014/main" id="{A42C89B1-BE06-3932-2EF2-10DD0CBC18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211009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B471597B-1EBC-77DB-3FE2-D3A77D877974}"/>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2DBEE72F-AB6B-7589-FDD9-5D9BDF16C5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E2D35CBF-1E7E-0D98-911C-C577813DCC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972197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80F3CF86-1E68-846D-2333-5990BD333221}"/>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1CB520BE-61B8-DA74-B4E9-DEC647438C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62A0240B-C17B-0381-E193-29AFF3B110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89404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01A58AC7-7C5B-1D64-CD65-09AD0866180E}"/>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EDB96D64-CF88-955A-3909-99BA3D729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1FFA75A2-3A2A-CA0E-1880-605D434B32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65485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2858D54F-E868-2E61-E8B6-C985808CB23E}"/>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B6218886-DA30-6834-B148-F87C2232B3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335564D9-4167-56BB-D4F8-7313B67B61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514299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5F60D9FB-EB61-88E8-F431-490CC3EF86CB}"/>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44D389EC-3ACB-D6B3-2C0F-CADD10E898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255CB005-7459-43DA-C891-CA81622D8B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7601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1C530A84-E2E6-8841-AB4E-45C975F7D62A}"/>
            </a:ext>
          </a:extLst>
        </p:cNvPr>
        <p:cNvGrpSpPr/>
        <p:nvPr/>
      </p:nvGrpSpPr>
      <p:grpSpPr>
        <a:xfrm>
          <a:off x="0" y="0"/>
          <a:ext cx="0" cy="0"/>
          <a:chOff x="0" y="0"/>
          <a:chExt cx="0" cy="0"/>
        </a:xfrm>
      </p:grpSpPr>
      <p:sp>
        <p:nvSpPr>
          <p:cNvPr id="734" name="Google Shape;734;g1364d9da1fa_0_300:notes">
            <a:extLst>
              <a:ext uri="{FF2B5EF4-FFF2-40B4-BE49-F238E27FC236}">
                <a16:creationId xmlns:a16="http://schemas.microsoft.com/office/drawing/2014/main" id="{2A8B637B-D323-2481-8FE8-F510F74DBE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64d9da1fa_0_300:notes">
            <a:extLst>
              <a:ext uri="{FF2B5EF4-FFF2-40B4-BE49-F238E27FC236}">
                <a16:creationId xmlns:a16="http://schemas.microsoft.com/office/drawing/2014/main" id="{B45262E0-D357-CBA9-F33F-93C4EC0742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23550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a:extLst>
            <a:ext uri="{FF2B5EF4-FFF2-40B4-BE49-F238E27FC236}">
              <a16:creationId xmlns:a16="http://schemas.microsoft.com/office/drawing/2014/main" id="{B99315E8-2903-2722-13F2-25471C611051}"/>
            </a:ext>
          </a:extLst>
        </p:cNvPr>
        <p:cNvGrpSpPr/>
        <p:nvPr/>
      </p:nvGrpSpPr>
      <p:grpSpPr>
        <a:xfrm>
          <a:off x="0" y="0"/>
          <a:ext cx="0" cy="0"/>
          <a:chOff x="0" y="0"/>
          <a:chExt cx="0" cy="0"/>
        </a:xfrm>
      </p:grpSpPr>
      <p:sp>
        <p:nvSpPr>
          <p:cNvPr id="704" name="Google Shape;704;g1364d9da1fa_0_52:notes">
            <a:extLst>
              <a:ext uri="{FF2B5EF4-FFF2-40B4-BE49-F238E27FC236}">
                <a16:creationId xmlns:a16="http://schemas.microsoft.com/office/drawing/2014/main" id="{74C21AA9-D423-8597-C6EC-259E45E605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1364d9da1fa_0_52:notes">
            <a:extLst>
              <a:ext uri="{FF2B5EF4-FFF2-40B4-BE49-F238E27FC236}">
                <a16:creationId xmlns:a16="http://schemas.microsoft.com/office/drawing/2014/main" id="{4D4D69C3-B2EC-185F-A306-D3DDEA98A0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75426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a:extLst>
            <a:ext uri="{FF2B5EF4-FFF2-40B4-BE49-F238E27FC236}">
              <a16:creationId xmlns:a16="http://schemas.microsoft.com/office/drawing/2014/main" id="{D868659E-DCB7-C833-3517-8A3506257EBD}"/>
            </a:ext>
          </a:extLst>
        </p:cNvPr>
        <p:cNvGrpSpPr/>
        <p:nvPr/>
      </p:nvGrpSpPr>
      <p:grpSpPr>
        <a:xfrm>
          <a:off x="0" y="0"/>
          <a:ext cx="0" cy="0"/>
          <a:chOff x="0" y="0"/>
          <a:chExt cx="0" cy="0"/>
        </a:xfrm>
      </p:grpSpPr>
      <p:sp>
        <p:nvSpPr>
          <p:cNvPr id="802" name="Google Shape;802;g13660f6265e_1_228:notes">
            <a:extLst>
              <a:ext uri="{FF2B5EF4-FFF2-40B4-BE49-F238E27FC236}">
                <a16:creationId xmlns:a16="http://schemas.microsoft.com/office/drawing/2014/main" id="{F180098A-D0C3-A080-BA1E-CA5ADEF4B2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3660f6265e_1_228:notes">
            <a:extLst>
              <a:ext uri="{FF2B5EF4-FFF2-40B4-BE49-F238E27FC236}">
                <a16:creationId xmlns:a16="http://schemas.microsoft.com/office/drawing/2014/main" id="{A7AB44D1-7540-EDF5-4900-C5E31961C9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341041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13660f6265e_1_10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0" name="Google Shape;1770;g13660f6265e_1_1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741925" y="1181100"/>
            <a:ext cx="5963700" cy="16527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5000">
                <a:solidFill>
                  <a:schemeClr val="accen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845025" y="3126825"/>
            <a:ext cx="3858900" cy="432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b="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6713117" y="-49300"/>
            <a:ext cx="3012741" cy="3731349"/>
          </a:xfrm>
          <a:custGeom>
            <a:avLst/>
            <a:gdLst/>
            <a:ahLst/>
            <a:cxnLst/>
            <a:rect l="l" t="t" r="r" b="b"/>
            <a:pathLst>
              <a:path w="95257" h="117978" extrusionOk="0">
                <a:moveTo>
                  <a:pt x="1" y="0"/>
                </a:moveTo>
                <a:cubicBezTo>
                  <a:pt x="6" y="16"/>
                  <a:pt x="7" y="33"/>
                  <a:pt x="10" y="50"/>
                </a:cubicBezTo>
                <a:cubicBezTo>
                  <a:pt x="15" y="66"/>
                  <a:pt x="22" y="85"/>
                  <a:pt x="26" y="103"/>
                </a:cubicBezTo>
                <a:cubicBezTo>
                  <a:pt x="259" y="113"/>
                  <a:pt x="491" y="116"/>
                  <a:pt x="724" y="128"/>
                </a:cubicBezTo>
                <a:cubicBezTo>
                  <a:pt x="16323" y="980"/>
                  <a:pt x="33356" y="8690"/>
                  <a:pt x="37853" y="23652"/>
                </a:cubicBezTo>
                <a:cubicBezTo>
                  <a:pt x="41475" y="35702"/>
                  <a:pt x="36482" y="50528"/>
                  <a:pt x="44575" y="60161"/>
                </a:cubicBezTo>
                <a:cubicBezTo>
                  <a:pt x="53009" y="70205"/>
                  <a:pt x="70274" y="67642"/>
                  <a:pt x="79509" y="76954"/>
                </a:cubicBezTo>
                <a:cubicBezTo>
                  <a:pt x="87937" y="85451"/>
                  <a:pt x="85896" y="99582"/>
                  <a:pt x="90533" y="110614"/>
                </a:cubicBezTo>
                <a:cubicBezTo>
                  <a:pt x="91679" y="113340"/>
                  <a:pt x="93298" y="115808"/>
                  <a:pt x="95256" y="117977"/>
                </a:cubicBezTo>
                <a:lnTo>
                  <a:pt x="95256"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676319" y="-49300"/>
            <a:ext cx="1049872" cy="1219012"/>
          </a:xfrm>
          <a:custGeom>
            <a:avLst/>
            <a:gdLst/>
            <a:ahLst/>
            <a:cxnLst/>
            <a:rect l="l" t="t" r="r" b="b"/>
            <a:pathLst>
              <a:path w="45219" h="52504" extrusionOk="0">
                <a:moveTo>
                  <a:pt x="1295" y="0"/>
                </a:moveTo>
                <a:cubicBezTo>
                  <a:pt x="2651" y="10854"/>
                  <a:pt x="1" y="22896"/>
                  <a:pt x="6925" y="31140"/>
                </a:cubicBezTo>
                <a:cubicBezTo>
                  <a:pt x="15359" y="41182"/>
                  <a:pt x="32624" y="38620"/>
                  <a:pt x="41859" y="47931"/>
                </a:cubicBezTo>
                <a:cubicBezTo>
                  <a:pt x="43234" y="49317"/>
                  <a:pt x="44326" y="50855"/>
                  <a:pt x="45218" y="52503"/>
                </a:cubicBezTo>
                <a:lnTo>
                  <a:pt x="45218" y="0"/>
                </a:lnTo>
                <a:close/>
              </a:path>
            </a:pathLst>
          </a:custGeom>
          <a:gradFill>
            <a:gsLst>
              <a:gs pos="0">
                <a:schemeClr val="accent2"/>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47324" y="1507353"/>
            <a:ext cx="3161194" cy="3731397"/>
          </a:xfrm>
          <a:custGeom>
            <a:avLst/>
            <a:gdLst/>
            <a:ahLst/>
            <a:cxnLst/>
            <a:rect l="l" t="t" r="r" b="b"/>
            <a:pathLst>
              <a:path w="71585" h="84502" extrusionOk="0">
                <a:moveTo>
                  <a:pt x="1" y="0"/>
                </a:moveTo>
                <a:lnTo>
                  <a:pt x="1" y="84501"/>
                </a:lnTo>
                <a:cubicBezTo>
                  <a:pt x="477" y="83955"/>
                  <a:pt x="874" y="83403"/>
                  <a:pt x="1139" y="82890"/>
                </a:cubicBezTo>
                <a:cubicBezTo>
                  <a:pt x="2672" y="79929"/>
                  <a:pt x="2697" y="76446"/>
                  <a:pt x="2700" y="73111"/>
                </a:cubicBezTo>
                <a:cubicBezTo>
                  <a:pt x="2702" y="69777"/>
                  <a:pt x="2754" y="66288"/>
                  <a:pt x="4329" y="63351"/>
                </a:cubicBezTo>
                <a:cubicBezTo>
                  <a:pt x="6516" y="59275"/>
                  <a:pt x="11131" y="57170"/>
                  <a:pt x="15568" y="55862"/>
                </a:cubicBezTo>
                <a:cubicBezTo>
                  <a:pt x="20006" y="54556"/>
                  <a:pt x="24722" y="53701"/>
                  <a:pt x="28491" y="51020"/>
                </a:cubicBezTo>
                <a:cubicBezTo>
                  <a:pt x="39032" y="43516"/>
                  <a:pt x="35754" y="27781"/>
                  <a:pt x="44955" y="19139"/>
                </a:cubicBezTo>
                <a:cubicBezTo>
                  <a:pt x="51913" y="12607"/>
                  <a:pt x="67486" y="11669"/>
                  <a:pt x="71584" y="1497"/>
                </a:cubicBezTo>
                <a:lnTo>
                  <a:pt x="1"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flipH="1">
            <a:off x="-47324" y="3141196"/>
            <a:ext cx="3340792" cy="2036058"/>
          </a:xfrm>
          <a:custGeom>
            <a:avLst/>
            <a:gdLst/>
            <a:ahLst/>
            <a:cxnLst/>
            <a:rect l="l" t="t" r="r" b="b"/>
            <a:pathLst>
              <a:path w="75652" h="46109" extrusionOk="0">
                <a:moveTo>
                  <a:pt x="1" y="0"/>
                </a:moveTo>
                <a:lnTo>
                  <a:pt x="1" y="46108"/>
                </a:lnTo>
                <a:cubicBezTo>
                  <a:pt x="1086" y="45834"/>
                  <a:pt x="2128" y="45411"/>
                  <a:pt x="3098" y="44854"/>
                </a:cubicBezTo>
                <a:cubicBezTo>
                  <a:pt x="6905" y="42653"/>
                  <a:pt x="9630" y="38836"/>
                  <a:pt x="12059" y="35015"/>
                </a:cubicBezTo>
                <a:cubicBezTo>
                  <a:pt x="14488" y="31193"/>
                  <a:pt x="16806" y="27177"/>
                  <a:pt x="20156" y="24252"/>
                </a:cubicBezTo>
                <a:cubicBezTo>
                  <a:pt x="24658" y="20319"/>
                  <a:pt x="30596" y="18751"/>
                  <a:pt x="36394" y="18220"/>
                </a:cubicBezTo>
                <a:cubicBezTo>
                  <a:pt x="42194" y="17688"/>
                  <a:pt x="48043" y="18078"/>
                  <a:pt x="53840" y="17512"/>
                </a:cubicBezTo>
                <a:cubicBezTo>
                  <a:pt x="59636" y="16947"/>
                  <a:pt x="65564" y="15302"/>
                  <a:pt x="70004" y="11290"/>
                </a:cubicBezTo>
                <a:cubicBezTo>
                  <a:pt x="73124" y="8470"/>
                  <a:pt x="75316" y="4271"/>
                  <a:pt x="75652" y="0"/>
                </a:cubicBezTo>
                <a:close/>
              </a:path>
            </a:pathLst>
          </a:custGeom>
          <a:gradFill>
            <a:gsLst>
              <a:gs pos="0">
                <a:schemeClr val="accent2"/>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flipH="1">
            <a:off x="-47324" y="4364780"/>
            <a:ext cx="2078655" cy="807332"/>
          </a:xfrm>
          <a:custGeom>
            <a:avLst/>
            <a:gdLst/>
            <a:ahLst/>
            <a:cxnLst/>
            <a:rect l="l" t="t" r="r" b="b"/>
            <a:pathLst>
              <a:path w="47071" h="18283" extrusionOk="0">
                <a:moveTo>
                  <a:pt x="1" y="0"/>
                </a:moveTo>
                <a:lnTo>
                  <a:pt x="1" y="18282"/>
                </a:lnTo>
                <a:cubicBezTo>
                  <a:pt x="2594" y="17456"/>
                  <a:pt x="5313" y="16985"/>
                  <a:pt x="8003" y="16739"/>
                </a:cubicBezTo>
                <a:cubicBezTo>
                  <a:pt x="13802" y="16206"/>
                  <a:pt x="19652" y="16597"/>
                  <a:pt x="25448" y="16031"/>
                </a:cubicBezTo>
                <a:cubicBezTo>
                  <a:pt x="31244" y="15466"/>
                  <a:pt x="37173" y="13822"/>
                  <a:pt x="41613" y="9810"/>
                </a:cubicBezTo>
                <a:cubicBezTo>
                  <a:pt x="44371" y="7317"/>
                  <a:pt x="46404" y="3746"/>
                  <a:pt x="47071" y="1"/>
                </a:cubicBezTo>
                <a:lnTo>
                  <a:pt x="1"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p2"/>
          <p:cNvGrpSpPr/>
          <p:nvPr/>
        </p:nvGrpSpPr>
        <p:grpSpPr>
          <a:xfrm>
            <a:off x="7031953" y="2934947"/>
            <a:ext cx="1918181" cy="2237123"/>
            <a:chOff x="7556913" y="3814718"/>
            <a:chExt cx="891846" cy="1040135"/>
          </a:xfrm>
        </p:grpSpPr>
        <p:grpSp>
          <p:nvGrpSpPr>
            <p:cNvPr id="17" name="Google Shape;17;p2"/>
            <p:cNvGrpSpPr/>
            <p:nvPr/>
          </p:nvGrpSpPr>
          <p:grpSpPr>
            <a:xfrm>
              <a:off x="7990222" y="3814718"/>
              <a:ext cx="458536" cy="1040135"/>
              <a:chOff x="5599250" y="4194125"/>
              <a:chExt cx="418525" cy="949375"/>
            </a:xfrm>
          </p:grpSpPr>
          <p:sp>
            <p:nvSpPr>
              <p:cNvPr id="18" name="Google Shape;18;p2"/>
              <p:cNvSpPr/>
              <p:nvPr/>
            </p:nvSpPr>
            <p:spPr>
              <a:xfrm>
                <a:off x="5599250" y="4194125"/>
                <a:ext cx="418525" cy="949375"/>
              </a:xfrm>
              <a:custGeom>
                <a:avLst/>
                <a:gdLst/>
                <a:ahLst/>
                <a:cxnLst/>
                <a:rect l="l" t="t" r="r" b="b"/>
                <a:pathLst>
                  <a:path w="16741" h="37975" extrusionOk="0">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709300" y="4452000"/>
                <a:ext cx="198375" cy="691500"/>
              </a:xfrm>
              <a:custGeom>
                <a:avLst/>
                <a:gdLst/>
                <a:ahLst/>
                <a:cxnLst/>
                <a:rect l="l" t="t" r="r" b="b"/>
                <a:pathLst>
                  <a:path w="7935" h="27660" extrusionOk="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556913" y="4235041"/>
              <a:ext cx="623725" cy="619808"/>
              <a:chOff x="4791175" y="4530525"/>
              <a:chExt cx="569300" cy="565725"/>
            </a:xfrm>
          </p:grpSpPr>
          <p:sp>
            <p:nvSpPr>
              <p:cNvPr id="21" name="Google Shape;21;p2"/>
              <p:cNvSpPr/>
              <p:nvPr/>
            </p:nvSpPr>
            <p:spPr>
              <a:xfrm>
                <a:off x="4913775" y="4642875"/>
                <a:ext cx="446700" cy="453375"/>
              </a:xfrm>
              <a:custGeom>
                <a:avLst/>
                <a:gdLst/>
                <a:ahLst/>
                <a:cxnLst/>
                <a:rect l="l" t="t" r="r" b="b"/>
                <a:pathLst>
                  <a:path w="17868" h="18135" extrusionOk="0">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a:gsLst>
                  <a:gs pos="0">
                    <a:schemeClr val="accent2"/>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976325" y="4793200"/>
                <a:ext cx="195375" cy="303050"/>
              </a:xfrm>
              <a:custGeom>
                <a:avLst/>
                <a:gdLst/>
                <a:ahLst/>
                <a:cxnLst/>
                <a:rect l="l" t="t" r="r" b="b"/>
                <a:pathLst>
                  <a:path w="7815" h="12122" extrusionOk="0">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791175" y="4530525"/>
                <a:ext cx="245600" cy="565725"/>
              </a:xfrm>
              <a:custGeom>
                <a:avLst/>
                <a:gdLst/>
                <a:ahLst/>
                <a:cxnLst/>
                <a:rect l="l" t="t" r="r" b="b"/>
                <a:pathLst>
                  <a:path w="9824" h="22629" extrusionOk="0">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4849450" y="4699600"/>
                <a:ext cx="58500" cy="396650"/>
              </a:xfrm>
              <a:custGeom>
                <a:avLst/>
                <a:gdLst/>
                <a:ahLst/>
                <a:cxnLst/>
                <a:rect l="l" t="t" r="r" b="b"/>
                <a:pathLst>
                  <a:path w="2340" h="15866" extrusionOk="0">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 name="Google Shape;25;p2"/>
          <p:cNvGrpSpPr/>
          <p:nvPr/>
        </p:nvGrpSpPr>
        <p:grpSpPr>
          <a:xfrm rot="10800000">
            <a:off x="193865" y="-55084"/>
            <a:ext cx="1745788" cy="2036065"/>
            <a:chOff x="7556913" y="3814718"/>
            <a:chExt cx="891846" cy="1040135"/>
          </a:xfrm>
        </p:grpSpPr>
        <p:grpSp>
          <p:nvGrpSpPr>
            <p:cNvPr id="26" name="Google Shape;26;p2"/>
            <p:cNvGrpSpPr/>
            <p:nvPr/>
          </p:nvGrpSpPr>
          <p:grpSpPr>
            <a:xfrm>
              <a:off x="7990222" y="3814718"/>
              <a:ext cx="458536" cy="1040135"/>
              <a:chOff x="5599250" y="4194125"/>
              <a:chExt cx="418525" cy="949375"/>
            </a:xfrm>
          </p:grpSpPr>
          <p:sp>
            <p:nvSpPr>
              <p:cNvPr id="27" name="Google Shape;27;p2"/>
              <p:cNvSpPr/>
              <p:nvPr/>
            </p:nvSpPr>
            <p:spPr>
              <a:xfrm>
                <a:off x="5599250" y="4194125"/>
                <a:ext cx="418525" cy="949375"/>
              </a:xfrm>
              <a:custGeom>
                <a:avLst/>
                <a:gdLst/>
                <a:ahLst/>
                <a:cxnLst/>
                <a:rect l="l" t="t" r="r" b="b"/>
                <a:pathLst>
                  <a:path w="16741" h="37975" extrusionOk="0">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09300" y="4452000"/>
                <a:ext cx="198375" cy="691500"/>
              </a:xfrm>
              <a:custGeom>
                <a:avLst/>
                <a:gdLst/>
                <a:ahLst/>
                <a:cxnLst/>
                <a:rect l="l" t="t" r="r" b="b"/>
                <a:pathLst>
                  <a:path w="7935" h="27660" extrusionOk="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
            <p:cNvGrpSpPr/>
            <p:nvPr/>
          </p:nvGrpSpPr>
          <p:grpSpPr>
            <a:xfrm>
              <a:off x="7556913" y="4235041"/>
              <a:ext cx="623725" cy="619808"/>
              <a:chOff x="4791175" y="4530525"/>
              <a:chExt cx="569300" cy="565725"/>
            </a:xfrm>
          </p:grpSpPr>
          <p:sp>
            <p:nvSpPr>
              <p:cNvPr id="30" name="Google Shape;30;p2"/>
              <p:cNvSpPr/>
              <p:nvPr/>
            </p:nvSpPr>
            <p:spPr>
              <a:xfrm>
                <a:off x="4913775" y="4642875"/>
                <a:ext cx="446700" cy="453375"/>
              </a:xfrm>
              <a:custGeom>
                <a:avLst/>
                <a:gdLst/>
                <a:ahLst/>
                <a:cxnLst/>
                <a:rect l="l" t="t" r="r" b="b"/>
                <a:pathLst>
                  <a:path w="17868" h="18135" extrusionOk="0">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a:gsLst>
                  <a:gs pos="0">
                    <a:schemeClr val="accent2"/>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976325" y="4793200"/>
                <a:ext cx="195375" cy="303050"/>
              </a:xfrm>
              <a:custGeom>
                <a:avLst/>
                <a:gdLst/>
                <a:ahLst/>
                <a:cxnLst/>
                <a:rect l="l" t="t" r="r" b="b"/>
                <a:pathLst>
                  <a:path w="7815" h="12122" extrusionOk="0">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791175" y="4530525"/>
                <a:ext cx="245600" cy="565725"/>
              </a:xfrm>
              <a:custGeom>
                <a:avLst/>
                <a:gdLst/>
                <a:ahLst/>
                <a:cxnLst/>
                <a:rect l="l" t="t" r="r" b="b"/>
                <a:pathLst>
                  <a:path w="9824" h="22629" extrusionOk="0">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849450" y="4699600"/>
                <a:ext cx="58500" cy="396650"/>
              </a:xfrm>
              <a:custGeom>
                <a:avLst/>
                <a:gdLst/>
                <a:ahLst/>
                <a:cxnLst/>
                <a:rect l="l" t="t" r="r" b="b"/>
                <a:pathLst>
                  <a:path w="2340" h="15866" extrusionOk="0">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3"/>
          <p:cNvSpPr txBox="1">
            <a:spLocks noGrp="1"/>
          </p:cNvSpPr>
          <p:nvPr>
            <p:ph type="title"/>
          </p:nvPr>
        </p:nvSpPr>
        <p:spPr>
          <a:xfrm>
            <a:off x="2657400" y="1579175"/>
            <a:ext cx="3829200" cy="9888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6" name="Google Shape;36;p3"/>
          <p:cNvSpPr txBox="1">
            <a:spLocks noGrp="1"/>
          </p:cNvSpPr>
          <p:nvPr>
            <p:ph type="body" idx="1"/>
          </p:nvPr>
        </p:nvSpPr>
        <p:spPr>
          <a:xfrm>
            <a:off x="2657400" y="2567975"/>
            <a:ext cx="3829200" cy="10707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sz="1400" b="0">
                <a:latin typeface="Archivo Light"/>
                <a:ea typeface="Archivo Light"/>
                <a:cs typeface="Archivo Light"/>
                <a:sym typeface="Archivo Light"/>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7" name="Google Shape;37;p3"/>
          <p:cNvSpPr/>
          <p:nvPr/>
        </p:nvSpPr>
        <p:spPr>
          <a:xfrm>
            <a:off x="5215720" y="-34825"/>
            <a:ext cx="3928399" cy="4865413"/>
          </a:xfrm>
          <a:custGeom>
            <a:avLst/>
            <a:gdLst/>
            <a:ahLst/>
            <a:cxnLst/>
            <a:rect l="l" t="t" r="r" b="b"/>
            <a:pathLst>
              <a:path w="95257" h="117978" extrusionOk="0">
                <a:moveTo>
                  <a:pt x="1" y="0"/>
                </a:moveTo>
                <a:cubicBezTo>
                  <a:pt x="6" y="16"/>
                  <a:pt x="7" y="33"/>
                  <a:pt x="10" y="50"/>
                </a:cubicBezTo>
                <a:cubicBezTo>
                  <a:pt x="15" y="66"/>
                  <a:pt x="22" y="85"/>
                  <a:pt x="26" y="103"/>
                </a:cubicBezTo>
                <a:cubicBezTo>
                  <a:pt x="259" y="113"/>
                  <a:pt x="491" y="116"/>
                  <a:pt x="724" y="128"/>
                </a:cubicBezTo>
                <a:cubicBezTo>
                  <a:pt x="16323" y="980"/>
                  <a:pt x="33356" y="8690"/>
                  <a:pt x="37853" y="23652"/>
                </a:cubicBezTo>
                <a:cubicBezTo>
                  <a:pt x="41475" y="35702"/>
                  <a:pt x="36482" y="50528"/>
                  <a:pt x="44575" y="60161"/>
                </a:cubicBezTo>
                <a:cubicBezTo>
                  <a:pt x="53009" y="70205"/>
                  <a:pt x="70274" y="67642"/>
                  <a:pt x="79509" y="76954"/>
                </a:cubicBezTo>
                <a:cubicBezTo>
                  <a:pt x="87937" y="85451"/>
                  <a:pt x="85896" y="99582"/>
                  <a:pt x="90533" y="110614"/>
                </a:cubicBezTo>
                <a:cubicBezTo>
                  <a:pt x="91679" y="113340"/>
                  <a:pt x="93298" y="115808"/>
                  <a:pt x="95256" y="117977"/>
                </a:cubicBezTo>
                <a:lnTo>
                  <a:pt x="95256"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7279224" y="-34825"/>
            <a:ext cx="1864832" cy="2165265"/>
          </a:xfrm>
          <a:custGeom>
            <a:avLst/>
            <a:gdLst/>
            <a:ahLst/>
            <a:cxnLst/>
            <a:rect l="l" t="t" r="r" b="b"/>
            <a:pathLst>
              <a:path w="45219" h="52504" extrusionOk="0">
                <a:moveTo>
                  <a:pt x="1295" y="0"/>
                </a:moveTo>
                <a:cubicBezTo>
                  <a:pt x="2651" y="10854"/>
                  <a:pt x="1" y="22896"/>
                  <a:pt x="6925" y="31140"/>
                </a:cubicBezTo>
                <a:cubicBezTo>
                  <a:pt x="15359" y="41182"/>
                  <a:pt x="32624" y="38620"/>
                  <a:pt x="41859" y="47931"/>
                </a:cubicBezTo>
                <a:cubicBezTo>
                  <a:pt x="43234" y="49317"/>
                  <a:pt x="44326" y="50855"/>
                  <a:pt x="45218" y="52503"/>
                </a:cubicBezTo>
                <a:lnTo>
                  <a:pt x="45218" y="0"/>
                </a:ln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724063" y="4793230"/>
            <a:ext cx="17364" cy="37305"/>
          </a:xfrm>
          <a:custGeom>
            <a:avLst/>
            <a:gdLst/>
            <a:ahLst/>
            <a:cxnLst/>
            <a:rect l="l" t="t" r="r" b="b"/>
            <a:pathLst>
              <a:path w="256" h="550" extrusionOk="0">
                <a:moveTo>
                  <a:pt x="0" y="1"/>
                </a:moveTo>
                <a:lnTo>
                  <a:pt x="0" y="1"/>
                </a:lnTo>
                <a:cubicBezTo>
                  <a:pt x="53" y="194"/>
                  <a:pt x="105" y="380"/>
                  <a:pt x="153" y="550"/>
                </a:cubicBezTo>
                <a:lnTo>
                  <a:pt x="256" y="550"/>
                </a:lnTo>
                <a:cubicBezTo>
                  <a:pt x="253" y="543"/>
                  <a:pt x="251" y="538"/>
                  <a:pt x="250" y="534"/>
                </a:cubicBezTo>
                <a:cubicBezTo>
                  <a:pt x="181" y="375"/>
                  <a:pt x="99" y="198"/>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3"/>
          <p:cNvGrpSpPr/>
          <p:nvPr/>
        </p:nvGrpSpPr>
        <p:grpSpPr>
          <a:xfrm>
            <a:off x="1118967" y="2567861"/>
            <a:ext cx="1135500" cy="2575749"/>
            <a:chOff x="5599250" y="4194125"/>
            <a:chExt cx="418525" cy="949375"/>
          </a:xfrm>
        </p:grpSpPr>
        <p:sp>
          <p:nvSpPr>
            <p:cNvPr id="41" name="Google Shape;41;p3"/>
            <p:cNvSpPr/>
            <p:nvPr/>
          </p:nvSpPr>
          <p:spPr>
            <a:xfrm flipH="1">
              <a:off x="5599250" y="4194125"/>
              <a:ext cx="418525" cy="949375"/>
            </a:xfrm>
            <a:custGeom>
              <a:avLst/>
              <a:gdLst/>
              <a:ahLst/>
              <a:cxnLst/>
              <a:rect l="l" t="t" r="r" b="b"/>
              <a:pathLst>
                <a:path w="16741" h="37975" extrusionOk="0">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flipH="1">
              <a:off x="5709350" y="4452000"/>
              <a:ext cx="198375" cy="691500"/>
            </a:xfrm>
            <a:custGeom>
              <a:avLst/>
              <a:gdLst/>
              <a:ahLst/>
              <a:cxnLst/>
              <a:rect l="l" t="t" r="r" b="b"/>
              <a:pathLst>
                <a:path w="7935" h="27660" extrusionOk="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flipH="1">
            <a:off x="-9385" y="3608740"/>
            <a:ext cx="1544568" cy="1534868"/>
            <a:chOff x="4791175" y="4530525"/>
            <a:chExt cx="569300" cy="565725"/>
          </a:xfrm>
        </p:grpSpPr>
        <p:sp>
          <p:nvSpPr>
            <p:cNvPr id="44" name="Google Shape;44;p3"/>
            <p:cNvSpPr/>
            <p:nvPr/>
          </p:nvSpPr>
          <p:spPr>
            <a:xfrm>
              <a:off x="4913775" y="4642875"/>
              <a:ext cx="446700" cy="453375"/>
            </a:xfrm>
            <a:custGeom>
              <a:avLst/>
              <a:gdLst/>
              <a:ahLst/>
              <a:cxnLst/>
              <a:rect l="l" t="t" r="r" b="b"/>
              <a:pathLst>
                <a:path w="17868" h="18135" extrusionOk="0">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4976325" y="4793200"/>
              <a:ext cx="195375" cy="303050"/>
            </a:xfrm>
            <a:custGeom>
              <a:avLst/>
              <a:gdLst/>
              <a:ahLst/>
              <a:cxnLst/>
              <a:rect l="l" t="t" r="r" b="b"/>
              <a:pathLst>
                <a:path w="7815" h="12122" extrusionOk="0">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791175" y="4530525"/>
              <a:ext cx="245600" cy="565725"/>
            </a:xfrm>
            <a:custGeom>
              <a:avLst/>
              <a:gdLst/>
              <a:ahLst/>
              <a:cxnLst/>
              <a:rect l="l" t="t" r="r" b="b"/>
              <a:pathLst>
                <a:path w="9824" h="22629" extrusionOk="0">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4849450" y="4699600"/>
              <a:ext cx="58500" cy="396650"/>
            </a:xfrm>
            <a:custGeom>
              <a:avLst/>
              <a:gdLst/>
              <a:ahLst/>
              <a:cxnLst/>
              <a:rect l="l" t="t" r="r" b="b"/>
              <a:pathLst>
                <a:path w="2340" h="15866" extrusionOk="0">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48;p3"/>
          <p:cNvGrpSpPr/>
          <p:nvPr/>
        </p:nvGrpSpPr>
        <p:grpSpPr>
          <a:xfrm>
            <a:off x="143116" y="4708630"/>
            <a:ext cx="437827" cy="434978"/>
            <a:chOff x="4449850" y="4905150"/>
            <a:chExt cx="161375" cy="160325"/>
          </a:xfrm>
        </p:grpSpPr>
        <p:sp>
          <p:nvSpPr>
            <p:cNvPr id="49" name="Google Shape;49;p3"/>
            <p:cNvSpPr/>
            <p:nvPr/>
          </p:nvSpPr>
          <p:spPr>
            <a:xfrm>
              <a:off x="4449850" y="4936975"/>
              <a:ext cx="124050" cy="128500"/>
            </a:xfrm>
            <a:custGeom>
              <a:avLst/>
              <a:gdLst/>
              <a:ahLst/>
              <a:cxnLst/>
              <a:rect l="l" t="t" r="r" b="b"/>
              <a:pathLst>
                <a:path w="4962" h="5140" extrusionOk="0">
                  <a:moveTo>
                    <a:pt x="1522" y="1"/>
                  </a:moveTo>
                  <a:cubicBezTo>
                    <a:pt x="1396" y="1"/>
                    <a:pt x="1269" y="28"/>
                    <a:pt x="1144" y="85"/>
                  </a:cubicBezTo>
                  <a:cubicBezTo>
                    <a:pt x="1" y="608"/>
                    <a:pt x="1334" y="2738"/>
                    <a:pt x="2417" y="4175"/>
                  </a:cubicBezTo>
                  <a:cubicBezTo>
                    <a:pt x="2612" y="4435"/>
                    <a:pt x="2896" y="4786"/>
                    <a:pt x="3187" y="5140"/>
                  </a:cubicBezTo>
                  <a:lnTo>
                    <a:pt x="4962" y="5140"/>
                  </a:lnTo>
                  <a:cubicBezTo>
                    <a:pt x="4914" y="4970"/>
                    <a:pt x="4862" y="4784"/>
                    <a:pt x="4809" y="4591"/>
                  </a:cubicBezTo>
                  <a:cubicBezTo>
                    <a:pt x="4800" y="4576"/>
                    <a:pt x="4793" y="4559"/>
                    <a:pt x="4786" y="4544"/>
                  </a:cubicBezTo>
                  <a:cubicBezTo>
                    <a:pt x="4786" y="4544"/>
                    <a:pt x="4599" y="4021"/>
                    <a:pt x="4289" y="3331"/>
                  </a:cubicBezTo>
                  <a:cubicBezTo>
                    <a:pt x="3685" y="1986"/>
                    <a:pt x="2609" y="1"/>
                    <a:pt x="1522"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4541625" y="4905150"/>
              <a:ext cx="69600" cy="160325"/>
            </a:xfrm>
            <a:custGeom>
              <a:avLst/>
              <a:gdLst/>
              <a:ahLst/>
              <a:cxnLst/>
              <a:rect l="l" t="t" r="r" b="b"/>
              <a:pathLst>
                <a:path w="2784" h="6413" extrusionOk="0">
                  <a:moveTo>
                    <a:pt x="1260" y="0"/>
                  </a:moveTo>
                  <a:cubicBezTo>
                    <a:pt x="1259" y="0"/>
                    <a:pt x="1257" y="0"/>
                    <a:pt x="1256" y="0"/>
                  </a:cubicBezTo>
                  <a:cubicBezTo>
                    <a:pt x="0" y="3"/>
                    <a:pt x="332" y="2495"/>
                    <a:pt x="722" y="4250"/>
                  </a:cubicBezTo>
                  <a:cubicBezTo>
                    <a:pt x="816" y="4670"/>
                    <a:pt x="982" y="5294"/>
                    <a:pt x="1138" y="5865"/>
                  </a:cubicBezTo>
                  <a:cubicBezTo>
                    <a:pt x="1237" y="6061"/>
                    <a:pt x="1319" y="6238"/>
                    <a:pt x="1388" y="6397"/>
                  </a:cubicBezTo>
                  <a:cubicBezTo>
                    <a:pt x="1389" y="6401"/>
                    <a:pt x="1391" y="6408"/>
                    <a:pt x="1394" y="6413"/>
                  </a:cubicBezTo>
                  <a:lnTo>
                    <a:pt x="2727" y="6413"/>
                  </a:lnTo>
                  <a:cubicBezTo>
                    <a:pt x="2731" y="6349"/>
                    <a:pt x="2733" y="6280"/>
                    <a:pt x="2735" y="6207"/>
                  </a:cubicBezTo>
                  <a:cubicBezTo>
                    <a:pt x="2738" y="6020"/>
                    <a:pt x="2736" y="5807"/>
                    <a:pt x="2726" y="5565"/>
                  </a:cubicBezTo>
                  <a:cubicBezTo>
                    <a:pt x="2726" y="5565"/>
                    <a:pt x="2773" y="5013"/>
                    <a:pt x="2777" y="4256"/>
                  </a:cubicBezTo>
                  <a:cubicBezTo>
                    <a:pt x="2784" y="2611"/>
                    <a:pt x="2587" y="0"/>
                    <a:pt x="1260" y="0"/>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 name="Google Shape;51;p3"/>
          <p:cNvSpPr/>
          <p:nvPr/>
        </p:nvSpPr>
        <p:spPr>
          <a:xfrm flipH="1">
            <a:off x="1699965" y="4794841"/>
            <a:ext cx="336560" cy="348633"/>
          </a:xfrm>
          <a:custGeom>
            <a:avLst/>
            <a:gdLst/>
            <a:ahLst/>
            <a:cxnLst/>
            <a:rect l="l" t="t" r="r" b="b"/>
            <a:pathLst>
              <a:path w="4962" h="5140" extrusionOk="0">
                <a:moveTo>
                  <a:pt x="1522" y="1"/>
                </a:moveTo>
                <a:cubicBezTo>
                  <a:pt x="1396" y="1"/>
                  <a:pt x="1269" y="28"/>
                  <a:pt x="1144" y="85"/>
                </a:cubicBezTo>
                <a:cubicBezTo>
                  <a:pt x="1" y="608"/>
                  <a:pt x="1334" y="2738"/>
                  <a:pt x="2417" y="4175"/>
                </a:cubicBezTo>
                <a:cubicBezTo>
                  <a:pt x="2612" y="4435"/>
                  <a:pt x="2896" y="4786"/>
                  <a:pt x="3187" y="5140"/>
                </a:cubicBezTo>
                <a:lnTo>
                  <a:pt x="4962" y="5140"/>
                </a:lnTo>
                <a:cubicBezTo>
                  <a:pt x="4914" y="4970"/>
                  <a:pt x="4862" y="4784"/>
                  <a:pt x="4809" y="4591"/>
                </a:cubicBezTo>
                <a:cubicBezTo>
                  <a:pt x="4800" y="4576"/>
                  <a:pt x="4793" y="4559"/>
                  <a:pt x="4786" y="4544"/>
                </a:cubicBezTo>
                <a:cubicBezTo>
                  <a:pt x="4786" y="4544"/>
                  <a:pt x="4599" y="4021"/>
                  <a:pt x="4289" y="3331"/>
                </a:cubicBezTo>
                <a:cubicBezTo>
                  <a:pt x="3685" y="1986"/>
                  <a:pt x="2609" y="1"/>
                  <a:pt x="1522"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flipH="1">
            <a:off x="1598696" y="4708496"/>
            <a:ext cx="188832" cy="434978"/>
          </a:xfrm>
          <a:custGeom>
            <a:avLst/>
            <a:gdLst/>
            <a:ahLst/>
            <a:cxnLst/>
            <a:rect l="l" t="t" r="r" b="b"/>
            <a:pathLst>
              <a:path w="2784" h="6413" extrusionOk="0">
                <a:moveTo>
                  <a:pt x="1260" y="0"/>
                </a:moveTo>
                <a:cubicBezTo>
                  <a:pt x="1259" y="0"/>
                  <a:pt x="1257" y="0"/>
                  <a:pt x="1256" y="0"/>
                </a:cubicBezTo>
                <a:cubicBezTo>
                  <a:pt x="0" y="3"/>
                  <a:pt x="332" y="2495"/>
                  <a:pt x="722" y="4250"/>
                </a:cubicBezTo>
                <a:cubicBezTo>
                  <a:pt x="816" y="4670"/>
                  <a:pt x="982" y="5294"/>
                  <a:pt x="1138" y="5865"/>
                </a:cubicBezTo>
                <a:cubicBezTo>
                  <a:pt x="1237" y="6061"/>
                  <a:pt x="1319" y="6238"/>
                  <a:pt x="1388" y="6397"/>
                </a:cubicBezTo>
                <a:cubicBezTo>
                  <a:pt x="1389" y="6401"/>
                  <a:pt x="1391" y="6408"/>
                  <a:pt x="1394" y="6413"/>
                </a:cubicBezTo>
                <a:lnTo>
                  <a:pt x="2727" y="6413"/>
                </a:lnTo>
                <a:cubicBezTo>
                  <a:pt x="2731" y="6349"/>
                  <a:pt x="2733" y="6280"/>
                  <a:pt x="2735" y="6207"/>
                </a:cubicBezTo>
                <a:cubicBezTo>
                  <a:pt x="2738" y="6020"/>
                  <a:pt x="2736" y="5807"/>
                  <a:pt x="2726" y="5565"/>
                </a:cubicBezTo>
                <a:cubicBezTo>
                  <a:pt x="2726" y="5565"/>
                  <a:pt x="2773" y="5013"/>
                  <a:pt x="2777" y="4256"/>
                </a:cubicBezTo>
                <a:cubicBezTo>
                  <a:pt x="2784" y="2611"/>
                  <a:pt x="2587" y="0"/>
                  <a:pt x="1260" y="0"/>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5" name="Google Shape;115;p6"/>
          <p:cNvSpPr/>
          <p:nvPr/>
        </p:nvSpPr>
        <p:spPr>
          <a:xfrm rot="10800000" flipH="1">
            <a:off x="-19046" y="3354089"/>
            <a:ext cx="1572365" cy="1856086"/>
          </a:xfrm>
          <a:custGeom>
            <a:avLst/>
            <a:gdLst/>
            <a:ahLst/>
            <a:cxnLst/>
            <a:rect l="l" t="t" r="r" b="b"/>
            <a:pathLst>
              <a:path w="71585" h="84502" extrusionOk="0">
                <a:moveTo>
                  <a:pt x="1" y="0"/>
                </a:moveTo>
                <a:lnTo>
                  <a:pt x="1" y="84501"/>
                </a:lnTo>
                <a:cubicBezTo>
                  <a:pt x="477" y="83955"/>
                  <a:pt x="874" y="83403"/>
                  <a:pt x="1139" y="82890"/>
                </a:cubicBezTo>
                <a:cubicBezTo>
                  <a:pt x="2672" y="79929"/>
                  <a:pt x="2697" y="76446"/>
                  <a:pt x="2700" y="73111"/>
                </a:cubicBezTo>
                <a:cubicBezTo>
                  <a:pt x="2702" y="69777"/>
                  <a:pt x="2754" y="66288"/>
                  <a:pt x="4329" y="63351"/>
                </a:cubicBezTo>
                <a:cubicBezTo>
                  <a:pt x="6516" y="59275"/>
                  <a:pt x="11131" y="57170"/>
                  <a:pt x="15568" y="55862"/>
                </a:cubicBezTo>
                <a:cubicBezTo>
                  <a:pt x="20006" y="54556"/>
                  <a:pt x="24722" y="53701"/>
                  <a:pt x="28491" y="51020"/>
                </a:cubicBezTo>
                <a:cubicBezTo>
                  <a:pt x="39032" y="43516"/>
                  <a:pt x="35754" y="27781"/>
                  <a:pt x="44955" y="19139"/>
                </a:cubicBezTo>
                <a:cubicBezTo>
                  <a:pt x="51913" y="12607"/>
                  <a:pt x="67486" y="11669"/>
                  <a:pt x="71584" y="1497"/>
                </a:cubicBezTo>
                <a:lnTo>
                  <a:pt x="1"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6"/>
          <p:cNvSpPr/>
          <p:nvPr/>
        </p:nvSpPr>
        <p:spPr>
          <a:xfrm rot="10800000" flipH="1">
            <a:off x="-19046" y="4164244"/>
            <a:ext cx="1661696" cy="1012784"/>
          </a:xfrm>
          <a:custGeom>
            <a:avLst/>
            <a:gdLst/>
            <a:ahLst/>
            <a:cxnLst/>
            <a:rect l="l" t="t" r="r" b="b"/>
            <a:pathLst>
              <a:path w="75652" h="46109" extrusionOk="0">
                <a:moveTo>
                  <a:pt x="1" y="0"/>
                </a:moveTo>
                <a:lnTo>
                  <a:pt x="1" y="46108"/>
                </a:lnTo>
                <a:cubicBezTo>
                  <a:pt x="1086" y="45834"/>
                  <a:pt x="2128" y="45411"/>
                  <a:pt x="3098" y="44854"/>
                </a:cubicBezTo>
                <a:cubicBezTo>
                  <a:pt x="6905" y="42653"/>
                  <a:pt x="9630" y="38836"/>
                  <a:pt x="12059" y="35015"/>
                </a:cubicBezTo>
                <a:cubicBezTo>
                  <a:pt x="14488" y="31193"/>
                  <a:pt x="16806" y="27177"/>
                  <a:pt x="20156" y="24252"/>
                </a:cubicBezTo>
                <a:cubicBezTo>
                  <a:pt x="24658" y="20319"/>
                  <a:pt x="30596" y="18751"/>
                  <a:pt x="36394" y="18220"/>
                </a:cubicBezTo>
                <a:cubicBezTo>
                  <a:pt x="42194" y="17688"/>
                  <a:pt x="48043" y="18078"/>
                  <a:pt x="53840" y="17512"/>
                </a:cubicBezTo>
                <a:cubicBezTo>
                  <a:pt x="59636" y="16947"/>
                  <a:pt x="65564" y="15302"/>
                  <a:pt x="70004" y="11290"/>
                </a:cubicBezTo>
                <a:cubicBezTo>
                  <a:pt x="73124" y="8470"/>
                  <a:pt x="75316" y="4271"/>
                  <a:pt x="75652" y="0"/>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rot="10800000" flipH="1">
            <a:off x="-19046" y="4775442"/>
            <a:ext cx="1033915" cy="401586"/>
          </a:xfrm>
          <a:custGeom>
            <a:avLst/>
            <a:gdLst/>
            <a:ahLst/>
            <a:cxnLst/>
            <a:rect l="l" t="t" r="r" b="b"/>
            <a:pathLst>
              <a:path w="47071" h="18283" extrusionOk="0">
                <a:moveTo>
                  <a:pt x="1" y="0"/>
                </a:moveTo>
                <a:lnTo>
                  <a:pt x="1" y="18282"/>
                </a:lnTo>
                <a:cubicBezTo>
                  <a:pt x="2594" y="17456"/>
                  <a:pt x="5313" y="16985"/>
                  <a:pt x="8003" y="16739"/>
                </a:cubicBezTo>
                <a:cubicBezTo>
                  <a:pt x="13802" y="16206"/>
                  <a:pt x="19652" y="16597"/>
                  <a:pt x="25448" y="16031"/>
                </a:cubicBezTo>
                <a:cubicBezTo>
                  <a:pt x="31244" y="15466"/>
                  <a:pt x="37173" y="13822"/>
                  <a:pt x="41613" y="9810"/>
                </a:cubicBezTo>
                <a:cubicBezTo>
                  <a:pt x="44371" y="7317"/>
                  <a:pt x="46404" y="3746"/>
                  <a:pt x="47071" y="1"/>
                </a:cubicBezTo>
                <a:lnTo>
                  <a:pt x="1"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 name="Google Shape;118;p6"/>
          <p:cNvGrpSpPr/>
          <p:nvPr/>
        </p:nvGrpSpPr>
        <p:grpSpPr>
          <a:xfrm>
            <a:off x="7313647" y="-66675"/>
            <a:ext cx="1891885" cy="2343038"/>
            <a:chOff x="6964650" y="0"/>
            <a:chExt cx="2179340" cy="2699042"/>
          </a:xfrm>
        </p:grpSpPr>
        <p:sp>
          <p:nvSpPr>
            <p:cNvPr id="119" name="Google Shape;119;p6"/>
            <p:cNvSpPr/>
            <p:nvPr/>
          </p:nvSpPr>
          <p:spPr>
            <a:xfrm>
              <a:off x="6964650" y="0"/>
              <a:ext cx="2179242" cy="2699042"/>
            </a:xfrm>
            <a:custGeom>
              <a:avLst/>
              <a:gdLst/>
              <a:ahLst/>
              <a:cxnLst/>
              <a:rect l="l" t="t" r="r" b="b"/>
              <a:pathLst>
                <a:path w="95257" h="117978" extrusionOk="0">
                  <a:moveTo>
                    <a:pt x="1" y="0"/>
                  </a:moveTo>
                  <a:cubicBezTo>
                    <a:pt x="6" y="16"/>
                    <a:pt x="7" y="33"/>
                    <a:pt x="10" y="50"/>
                  </a:cubicBezTo>
                  <a:cubicBezTo>
                    <a:pt x="15" y="66"/>
                    <a:pt x="22" y="85"/>
                    <a:pt x="26" y="103"/>
                  </a:cubicBezTo>
                  <a:cubicBezTo>
                    <a:pt x="259" y="113"/>
                    <a:pt x="491" y="116"/>
                    <a:pt x="724" y="128"/>
                  </a:cubicBezTo>
                  <a:cubicBezTo>
                    <a:pt x="16323" y="980"/>
                    <a:pt x="33356" y="8690"/>
                    <a:pt x="37853" y="23652"/>
                  </a:cubicBezTo>
                  <a:cubicBezTo>
                    <a:pt x="41475" y="35702"/>
                    <a:pt x="36482" y="50528"/>
                    <a:pt x="44575" y="60161"/>
                  </a:cubicBezTo>
                  <a:cubicBezTo>
                    <a:pt x="53009" y="70205"/>
                    <a:pt x="70274" y="67642"/>
                    <a:pt x="79509" y="76954"/>
                  </a:cubicBezTo>
                  <a:cubicBezTo>
                    <a:pt x="87937" y="85451"/>
                    <a:pt x="85896" y="99582"/>
                    <a:pt x="90533" y="110614"/>
                  </a:cubicBezTo>
                  <a:cubicBezTo>
                    <a:pt x="91679" y="113340"/>
                    <a:pt x="93298" y="115808"/>
                    <a:pt x="95256" y="117977"/>
                  </a:cubicBezTo>
                  <a:lnTo>
                    <a:pt x="95256"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8384650" y="0"/>
              <a:ext cx="759340" cy="881673"/>
            </a:xfrm>
            <a:custGeom>
              <a:avLst/>
              <a:gdLst/>
              <a:ahLst/>
              <a:cxnLst/>
              <a:rect l="l" t="t" r="r" b="b"/>
              <a:pathLst>
                <a:path w="45219" h="52504" extrusionOk="0">
                  <a:moveTo>
                    <a:pt x="1295" y="0"/>
                  </a:moveTo>
                  <a:cubicBezTo>
                    <a:pt x="2651" y="10854"/>
                    <a:pt x="1" y="22896"/>
                    <a:pt x="6925" y="31140"/>
                  </a:cubicBezTo>
                  <a:cubicBezTo>
                    <a:pt x="15359" y="41182"/>
                    <a:pt x="32624" y="38620"/>
                    <a:pt x="41859" y="47931"/>
                  </a:cubicBezTo>
                  <a:cubicBezTo>
                    <a:pt x="43234" y="49317"/>
                    <a:pt x="44326" y="50855"/>
                    <a:pt x="45218" y="52503"/>
                  </a:cubicBezTo>
                  <a:lnTo>
                    <a:pt x="45218" y="0"/>
                  </a:ln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27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73"/>
        <p:cNvGrpSpPr/>
        <p:nvPr/>
      </p:nvGrpSpPr>
      <p:grpSpPr>
        <a:xfrm>
          <a:off x="0" y="0"/>
          <a:ext cx="0" cy="0"/>
          <a:chOff x="0" y="0"/>
          <a:chExt cx="0" cy="0"/>
        </a:xfrm>
      </p:grpSpPr>
      <p:sp>
        <p:nvSpPr>
          <p:cNvPr id="274" name="Google Shape;274;p1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5" name="Google Shape;275;p13"/>
          <p:cNvSpPr txBox="1">
            <a:spLocks noGrp="1"/>
          </p:cNvSpPr>
          <p:nvPr>
            <p:ph type="subTitle" idx="1"/>
          </p:nvPr>
        </p:nvSpPr>
        <p:spPr>
          <a:xfrm>
            <a:off x="1952850" y="1990900"/>
            <a:ext cx="2058600" cy="58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b="0">
                <a:latin typeface="Archivo Light"/>
                <a:ea typeface="Archivo Light"/>
                <a:cs typeface="Archivo Light"/>
                <a:sym typeface="Archivo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13"/>
          <p:cNvSpPr txBox="1">
            <a:spLocks noGrp="1"/>
          </p:cNvSpPr>
          <p:nvPr>
            <p:ph type="subTitle" idx="2"/>
          </p:nvPr>
        </p:nvSpPr>
        <p:spPr>
          <a:xfrm>
            <a:off x="5867625" y="1990900"/>
            <a:ext cx="2058600" cy="58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b="0">
                <a:latin typeface="Archivo Light"/>
                <a:ea typeface="Archivo Light"/>
                <a:cs typeface="Archivo Light"/>
                <a:sym typeface="Archivo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7" name="Google Shape;277;p13"/>
          <p:cNvSpPr txBox="1">
            <a:spLocks noGrp="1"/>
          </p:cNvSpPr>
          <p:nvPr>
            <p:ph type="title" idx="3" hasCustomPrompt="1"/>
          </p:nvPr>
        </p:nvSpPr>
        <p:spPr>
          <a:xfrm>
            <a:off x="925350" y="1636350"/>
            <a:ext cx="951300" cy="650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2800"/>
              <a:buNone/>
              <a:defRPr sz="3500">
                <a:solidFill>
                  <a:schemeClr val="lt1"/>
                </a:solidFill>
              </a:defRPr>
            </a:lvl1pPr>
            <a:lvl2pPr lvl="1" algn="ctr" rtl="0">
              <a:spcBef>
                <a:spcPts val="0"/>
              </a:spcBef>
              <a:spcAft>
                <a:spcPts val="0"/>
              </a:spcAft>
              <a:buClr>
                <a:schemeClr val="accent2"/>
              </a:buClr>
              <a:buSzPts val="2800"/>
              <a:buNone/>
              <a:defRPr>
                <a:solidFill>
                  <a:schemeClr val="accent2"/>
                </a:solidFill>
              </a:defRPr>
            </a:lvl2pPr>
            <a:lvl3pPr lvl="2" algn="ctr" rtl="0">
              <a:spcBef>
                <a:spcPts val="0"/>
              </a:spcBef>
              <a:spcAft>
                <a:spcPts val="0"/>
              </a:spcAft>
              <a:buClr>
                <a:schemeClr val="accent2"/>
              </a:buClr>
              <a:buSzPts val="2800"/>
              <a:buNone/>
              <a:defRPr>
                <a:solidFill>
                  <a:schemeClr val="accent2"/>
                </a:solidFill>
              </a:defRPr>
            </a:lvl3pPr>
            <a:lvl4pPr lvl="3" algn="ctr" rtl="0">
              <a:spcBef>
                <a:spcPts val="0"/>
              </a:spcBef>
              <a:spcAft>
                <a:spcPts val="0"/>
              </a:spcAft>
              <a:buClr>
                <a:schemeClr val="accent2"/>
              </a:buClr>
              <a:buSzPts val="2800"/>
              <a:buNone/>
              <a:defRPr>
                <a:solidFill>
                  <a:schemeClr val="accent2"/>
                </a:solidFill>
              </a:defRPr>
            </a:lvl4pPr>
            <a:lvl5pPr lvl="4" algn="ctr" rtl="0">
              <a:spcBef>
                <a:spcPts val="0"/>
              </a:spcBef>
              <a:spcAft>
                <a:spcPts val="0"/>
              </a:spcAft>
              <a:buClr>
                <a:schemeClr val="accent2"/>
              </a:buClr>
              <a:buSzPts val="2800"/>
              <a:buNone/>
              <a:defRPr>
                <a:solidFill>
                  <a:schemeClr val="accent2"/>
                </a:solidFill>
              </a:defRPr>
            </a:lvl5pPr>
            <a:lvl6pPr lvl="5" algn="ctr" rtl="0">
              <a:spcBef>
                <a:spcPts val="0"/>
              </a:spcBef>
              <a:spcAft>
                <a:spcPts val="0"/>
              </a:spcAft>
              <a:buClr>
                <a:schemeClr val="accent2"/>
              </a:buClr>
              <a:buSzPts val="2800"/>
              <a:buNone/>
              <a:defRPr>
                <a:solidFill>
                  <a:schemeClr val="accent2"/>
                </a:solidFill>
              </a:defRPr>
            </a:lvl6pPr>
            <a:lvl7pPr lvl="6" algn="ctr" rtl="0">
              <a:spcBef>
                <a:spcPts val="0"/>
              </a:spcBef>
              <a:spcAft>
                <a:spcPts val="0"/>
              </a:spcAft>
              <a:buClr>
                <a:schemeClr val="accent2"/>
              </a:buClr>
              <a:buSzPts val="2800"/>
              <a:buNone/>
              <a:defRPr>
                <a:solidFill>
                  <a:schemeClr val="accent2"/>
                </a:solidFill>
              </a:defRPr>
            </a:lvl7pPr>
            <a:lvl8pPr lvl="7" algn="ctr" rtl="0">
              <a:spcBef>
                <a:spcPts val="0"/>
              </a:spcBef>
              <a:spcAft>
                <a:spcPts val="0"/>
              </a:spcAft>
              <a:buClr>
                <a:schemeClr val="accent2"/>
              </a:buClr>
              <a:buSzPts val="2800"/>
              <a:buNone/>
              <a:defRPr>
                <a:solidFill>
                  <a:schemeClr val="accent2"/>
                </a:solidFill>
              </a:defRPr>
            </a:lvl8pPr>
            <a:lvl9pPr lvl="8" algn="ctr" rtl="0">
              <a:spcBef>
                <a:spcPts val="0"/>
              </a:spcBef>
              <a:spcAft>
                <a:spcPts val="0"/>
              </a:spcAft>
              <a:buClr>
                <a:schemeClr val="accent2"/>
              </a:buClr>
              <a:buSzPts val="2800"/>
              <a:buNone/>
              <a:defRPr>
                <a:solidFill>
                  <a:schemeClr val="accent2"/>
                </a:solidFill>
              </a:defRPr>
            </a:lvl9pPr>
          </a:lstStyle>
          <a:p>
            <a:r>
              <a:t>xx%</a:t>
            </a:r>
          </a:p>
        </p:txBody>
      </p:sp>
      <p:sp>
        <p:nvSpPr>
          <p:cNvPr id="278" name="Google Shape;278;p13"/>
          <p:cNvSpPr txBox="1">
            <a:spLocks noGrp="1"/>
          </p:cNvSpPr>
          <p:nvPr>
            <p:ph type="title" idx="4" hasCustomPrompt="1"/>
          </p:nvPr>
        </p:nvSpPr>
        <p:spPr>
          <a:xfrm>
            <a:off x="4840125" y="1636350"/>
            <a:ext cx="951300" cy="650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2800"/>
              <a:buNone/>
              <a:defRPr sz="3500">
                <a:solidFill>
                  <a:schemeClr val="lt1"/>
                </a:solidFill>
              </a:defRPr>
            </a:lvl1pPr>
            <a:lvl2pPr lvl="1" algn="ctr" rtl="0">
              <a:spcBef>
                <a:spcPts val="0"/>
              </a:spcBef>
              <a:spcAft>
                <a:spcPts val="0"/>
              </a:spcAft>
              <a:buClr>
                <a:schemeClr val="accent2"/>
              </a:buClr>
              <a:buSzPts val="2800"/>
              <a:buNone/>
              <a:defRPr>
                <a:solidFill>
                  <a:schemeClr val="accent2"/>
                </a:solidFill>
              </a:defRPr>
            </a:lvl2pPr>
            <a:lvl3pPr lvl="2" algn="ctr" rtl="0">
              <a:spcBef>
                <a:spcPts val="0"/>
              </a:spcBef>
              <a:spcAft>
                <a:spcPts val="0"/>
              </a:spcAft>
              <a:buClr>
                <a:schemeClr val="accent2"/>
              </a:buClr>
              <a:buSzPts val="2800"/>
              <a:buNone/>
              <a:defRPr>
                <a:solidFill>
                  <a:schemeClr val="accent2"/>
                </a:solidFill>
              </a:defRPr>
            </a:lvl3pPr>
            <a:lvl4pPr lvl="3" algn="ctr" rtl="0">
              <a:spcBef>
                <a:spcPts val="0"/>
              </a:spcBef>
              <a:spcAft>
                <a:spcPts val="0"/>
              </a:spcAft>
              <a:buClr>
                <a:schemeClr val="accent2"/>
              </a:buClr>
              <a:buSzPts val="2800"/>
              <a:buNone/>
              <a:defRPr>
                <a:solidFill>
                  <a:schemeClr val="accent2"/>
                </a:solidFill>
              </a:defRPr>
            </a:lvl4pPr>
            <a:lvl5pPr lvl="4" algn="ctr" rtl="0">
              <a:spcBef>
                <a:spcPts val="0"/>
              </a:spcBef>
              <a:spcAft>
                <a:spcPts val="0"/>
              </a:spcAft>
              <a:buClr>
                <a:schemeClr val="accent2"/>
              </a:buClr>
              <a:buSzPts val="2800"/>
              <a:buNone/>
              <a:defRPr>
                <a:solidFill>
                  <a:schemeClr val="accent2"/>
                </a:solidFill>
              </a:defRPr>
            </a:lvl5pPr>
            <a:lvl6pPr lvl="5" algn="ctr" rtl="0">
              <a:spcBef>
                <a:spcPts val="0"/>
              </a:spcBef>
              <a:spcAft>
                <a:spcPts val="0"/>
              </a:spcAft>
              <a:buClr>
                <a:schemeClr val="accent2"/>
              </a:buClr>
              <a:buSzPts val="2800"/>
              <a:buNone/>
              <a:defRPr>
                <a:solidFill>
                  <a:schemeClr val="accent2"/>
                </a:solidFill>
              </a:defRPr>
            </a:lvl6pPr>
            <a:lvl7pPr lvl="6" algn="ctr" rtl="0">
              <a:spcBef>
                <a:spcPts val="0"/>
              </a:spcBef>
              <a:spcAft>
                <a:spcPts val="0"/>
              </a:spcAft>
              <a:buClr>
                <a:schemeClr val="accent2"/>
              </a:buClr>
              <a:buSzPts val="2800"/>
              <a:buNone/>
              <a:defRPr>
                <a:solidFill>
                  <a:schemeClr val="accent2"/>
                </a:solidFill>
              </a:defRPr>
            </a:lvl7pPr>
            <a:lvl8pPr lvl="7" algn="ctr" rtl="0">
              <a:spcBef>
                <a:spcPts val="0"/>
              </a:spcBef>
              <a:spcAft>
                <a:spcPts val="0"/>
              </a:spcAft>
              <a:buClr>
                <a:schemeClr val="accent2"/>
              </a:buClr>
              <a:buSzPts val="2800"/>
              <a:buNone/>
              <a:defRPr>
                <a:solidFill>
                  <a:schemeClr val="accent2"/>
                </a:solidFill>
              </a:defRPr>
            </a:lvl8pPr>
            <a:lvl9pPr lvl="8" algn="ctr" rtl="0">
              <a:spcBef>
                <a:spcPts val="0"/>
              </a:spcBef>
              <a:spcAft>
                <a:spcPts val="0"/>
              </a:spcAft>
              <a:buClr>
                <a:schemeClr val="accent2"/>
              </a:buClr>
              <a:buSzPts val="2800"/>
              <a:buNone/>
              <a:defRPr>
                <a:solidFill>
                  <a:schemeClr val="accent2"/>
                </a:solidFill>
              </a:defRPr>
            </a:lvl9pPr>
          </a:lstStyle>
          <a:p>
            <a:r>
              <a:t>xx%</a:t>
            </a:r>
          </a:p>
        </p:txBody>
      </p:sp>
      <p:sp>
        <p:nvSpPr>
          <p:cNvPr id="279" name="Google Shape;279;p13"/>
          <p:cNvSpPr txBox="1">
            <a:spLocks noGrp="1"/>
          </p:cNvSpPr>
          <p:nvPr>
            <p:ph type="title" idx="5"/>
          </p:nvPr>
        </p:nvSpPr>
        <p:spPr>
          <a:xfrm>
            <a:off x="1952850" y="1343025"/>
            <a:ext cx="2058600" cy="721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80" name="Google Shape;280;p13"/>
          <p:cNvSpPr txBox="1">
            <a:spLocks noGrp="1"/>
          </p:cNvSpPr>
          <p:nvPr>
            <p:ph type="title" idx="6"/>
          </p:nvPr>
        </p:nvSpPr>
        <p:spPr>
          <a:xfrm>
            <a:off x="5867625" y="1342950"/>
            <a:ext cx="2058600" cy="721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81" name="Google Shape;281;p13"/>
          <p:cNvSpPr txBox="1">
            <a:spLocks noGrp="1"/>
          </p:cNvSpPr>
          <p:nvPr>
            <p:ph type="subTitle" idx="7"/>
          </p:nvPr>
        </p:nvSpPr>
        <p:spPr>
          <a:xfrm>
            <a:off x="1952850" y="3753500"/>
            <a:ext cx="2058600" cy="58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b="0">
                <a:latin typeface="Archivo Light"/>
                <a:ea typeface="Archivo Light"/>
                <a:cs typeface="Archivo Light"/>
                <a:sym typeface="Archivo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 name="Google Shape;282;p13"/>
          <p:cNvSpPr txBox="1">
            <a:spLocks noGrp="1"/>
          </p:cNvSpPr>
          <p:nvPr>
            <p:ph type="subTitle" idx="8"/>
          </p:nvPr>
        </p:nvSpPr>
        <p:spPr>
          <a:xfrm>
            <a:off x="5867625" y="3753500"/>
            <a:ext cx="2058600" cy="58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b="0">
                <a:latin typeface="Archivo Light"/>
                <a:ea typeface="Archivo Light"/>
                <a:cs typeface="Archivo Light"/>
                <a:sym typeface="Archivo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3" name="Google Shape;283;p13"/>
          <p:cNvSpPr txBox="1">
            <a:spLocks noGrp="1"/>
          </p:cNvSpPr>
          <p:nvPr>
            <p:ph type="title" idx="9" hasCustomPrompt="1"/>
          </p:nvPr>
        </p:nvSpPr>
        <p:spPr>
          <a:xfrm>
            <a:off x="925350" y="3405950"/>
            <a:ext cx="951300" cy="650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2800"/>
              <a:buNone/>
              <a:defRPr sz="3500">
                <a:solidFill>
                  <a:schemeClr val="lt1"/>
                </a:solidFill>
              </a:defRPr>
            </a:lvl1pPr>
            <a:lvl2pPr lvl="1" algn="ctr" rtl="0">
              <a:spcBef>
                <a:spcPts val="0"/>
              </a:spcBef>
              <a:spcAft>
                <a:spcPts val="0"/>
              </a:spcAft>
              <a:buClr>
                <a:schemeClr val="accent2"/>
              </a:buClr>
              <a:buSzPts val="2800"/>
              <a:buNone/>
              <a:defRPr>
                <a:solidFill>
                  <a:schemeClr val="accent2"/>
                </a:solidFill>
              </a:defRPr>
            </a:lvl2pPr>
            <a:lvl3pPr lvl="2" algn="ctr" rtl="0">
              <a:spcBef>
                <a:spcPts val="0"/>
              </a:spcBef>
              <a:spcAft>
                <a:spcPts val="0"/>
              </a:spcAft>
              <a:buClr>
                <a:schemeClr val="accent2"/>
              </a:buClr>
              <a:buSzPts val="2800"/>
              <a:buNone/>
              <a:defRPr>
                <a:solidFill>
                  <a:schemeClr val="accent2"/>
                </a:solidFill>
              </a:defRPr>
            </a:lvl3pPr>
            <a:lvl4pPr lvl="3" algn="ctr" rtl="0">
              <a:spcBef>
                <a:spcPts val="0"/>
              </a:spcBef>
              <a:spcAft>
                <a:spcPts val="0"/>
              </a:spcAft>
              <a:buClr>
                <a:schemeClr val="accent2"/>
              </a:buClr>
              <a:buSzPts val="2800"/>
              <a:buNone/>
              <a:defRPr>
                <a:solidFill>
                  <a:schemeClr val="accent2"/>
                </a:solidFill>
              </a:defRPr>
            </a:lvl4pPr>
            <a:lvl5pPr lvl="4" algn="ctr" rtl="0">
              <a:spcBef>
                <a:spcPts val="0"/>
              </a:spcBef>
              <a:spcAft>
                <a:spcPts val="0"/>
              </a:spcAft>
              <a:buClr>
                <a:schemeClr val="accent2"/>
              </a:buClr>
              <a:buSzPts val="2800"/>
              <a:buNone/>
              <a:defRPr>
                <a:solidFill>
                  <a:schemeClr val="accent2"/>
                </a:solidFill>
              </a:defRPr>
            </a:lvl5pPr>
            <a:lvl6pPr lvl="5" algn="ctr" rtl="0">
              <a:spcBef>
                <a:spcPts val="0"/>
              </a:spcBef>
              <a:spcAft>
                <a:spcPts val="0"/>
              </a:spcAft>
              <a:buClr>
                <a:schemeClr val="accent2"/>
              </a:buClr>
              <a:buSzPts val="2800"/>
              <a:buNone/>
              <a:defRPr>
                <a:solidFill>
                  <a:schemeClr val="accent2"/>
                </a:solidFill>
              </a:defRPr>
            </a:lvl6pPr>
            <a:lvl7pPr lvl="6" algn="ctr" rtl="0">
              <a:spcBef>
                <a:spcPts val="0"/>
              </a:spcBef>
              <a:spcAft>
                <a:spcPts val="0"/>
              </a:spcAft>
              <a:buClr>
                <a:schemeClr val="accent2"/>
              </a:buClr>
              <a:buSzPts val="2800"/>
              <a:buNone/>
              <a:defRPr>
                <a:solidFill>
                  <a:schemeClr val="accent2"/>
                </a:solidFill>
              </a:defRPr>
            </a:lvl7pPr>
            <a:lvl8pPr lvl="7" algn="ctr" rtl="0">
              <a:spcBef>
                <a:spcPts val="0"/>
              </a:spcBef>
              <a:spcAft>
                <a:spcPts val="0"/>
              </a:spcAft>
              <a:buClr>
                <a:schemeClr val="accent2"/>
              </a:buClr>
              <a:buSzPts val="2800"/>
              <a:buNone/>
              <a:defRPr>
                <a:solidFill>
                  <a:schemeClr val="accent2"/>
                </a:solidFill>
              </a:defRPr>
            </a:lvl8pPr>
            <a:lvl9pPr lvl="8" algn="ctr" rtl="0">
              <a:spcBef>
                <a:spcPts val="0"/>
              </a:spcBef>
              <a:spcAft>
                <a:spcPts val="0"/>
              </a:spcAft>
              <a:buClr>
                <a:schemeClr val="accent2"/>
              </a:buClr>
              <a:buSzPts val="2800"/>
              <a:buNone/>
              <a:defRPr>
                <a:solidFill>
                  <a:schemeClr val="accent2"/>
                </a:solidFill>
              </a:defRPr>
            </a:lvl9pPr>
          </a:lstStyle>
          <a:p>
            <a:r>
              <a:t>xx%</a:t>
            </a:r>
          </a:p>
        </p:txBody>
      </p:sp>
      <p:sp>
        <p:nvSpPr>
          <p:cNvPr id="284" name="Google Shape;284;p13"/>
          <p:cNvSpPr txBox="1">
            <a:spLocks noGrp="1"/>
          </p:cNvSpPr>
          <p:nvPr>
            <p:ph type="title" idx="13" hasCustomPrompt="1"/>
          </p:nvPr>
        </p:nvSpPr>
        <p:spPr>
          <a:xfrm>
            <a:off x="4840125" y="3405950"/>
            <a:ext cx="951300" cy="650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2800"/>
              <a:buNone/>
              <a:defRPr sz="3500">
                <a:solidFill>
                  <a:schemeClr val="lt1"/>
                </a:solidFill>
              </a:defRPr>
            </a:lvl1pPr>
            <a:lvl2pPr lvl="1" algn="ctr" rtl="0">
              <a:spcBef>
                <a:spcPts val="0"/>
              </a:spcBef>
              <a:spcAft>
                <a:spcPts val="0"/>
              </a:spcAft>
              <a:buClr>
                <a:schemeClr val="accent2"/>
              </a:buClr>
              <a:buSzPts val="2800"/>
              <a:buNone/>
              <a:defRPr>
                <a:solidFill>
                  <a:schemeClr val="accent2"/>
                </a:solidFill>
              </a:defRPr>
            </a:lvl2pPr>
            <a:lvl3pPr lvl="2" algn="ctr" rtl="0">
              <a:spcBef>
                <a:spcPts val="0"/>
              </a:spcBef>
              <a:spcAft>
                <a:spcPts val="0"/>
              </a:spcAft>
              <a:buClr>
                <a:schemeClr val="accent2"/>
              </a:buClr>
              <a:buSzPts val="2800"/>
              <a:buNone/>
              <a:defRPr>
                <a:solidFill>
                  <a:schemeClr val="accent2"/>
                </a:solidFill>
              </a:defRPr>
            </a:lvl3pPr>
            <a:lvl4pPr lvl="3" algn="ctr" rtl="0">
              <a:spcBef>
                <a:spcPts val="0"/>
              </a:spcBef>
              <a:spcAft>
                <a:spcPts val="0"/>
              </a:spcAft>
              <a:buClr>
                <a:schemeClr val="accent2"/>
              </a:buClr>
              <a:buSzPts val="2800"/>
              <a:buNone/>
              <a:defRPr>
                <a:solidFill>
                  <a:schemeClr val="accent2"/>
                </a:solidFill>
              </a:defRPr>
            </a:lvl4pPr>
            <a:lvl5pPr lvl="4" algn="ctr" rtl="0">
              <a:spcBef>
                <a:spcPts val="0"/>
              </a:spcBef>
              <a:spcAft>
                <a:spcPts val="0"/>
              </a:spcAft>
              <a:buClr>
                <a:schemeClr val="accent2"/>
              </a:buClr>
              <a:buSzPts val="2800"/>
              <a:buNone/>
              <a:defRPr>
                <a:solidFill>
                  <a:schemeClr val="accent2"/>
                </a:solidFill>
              </a:defRPr>
            </a:lvl5pPr>
            <a:lvl6pPr lvl="5" algn="ctr" rtl="0">
              <a:spcBef>
                <a:spcPts val="0"/>
              </a:spcBef>
              <a:spcAft>
                <a:spcPts val="0"/>
              </a:spcAft>
              <a:buClr>
                <a:schemeClr val="accent2"/>
              </a:buClr>
              <a:buSzPts val="2800"/>
              <a:buNone/>
              <a:defRPr>
                <a:solidFill>
                  <a:schemeClr val="accent2"/>
                </a:solidFill>
              </a:defRPr>
            </a:lvl6pPr>
            <a:lvl7pPr lvl="6" algn="ctr" rtl="0">
              <a:spcBef>
                <a:spcPts val="0"/>
              </a:spcBef>
              <a:spcAft>
                <a:spcPts val="0"/>
              </a:spcAft>
              <a:buClr>
                <a:schemeClr val="accent2"/>
              </a:buClr>
              <a:buSzPts val="2800"/>
              <a:buNone/>
              <a:defRPr>
                <a:solidFill>
                  <a:schemeClr val="accent2"/>
                </a:solidFill>
              </a:defRPr>
            </a:lvl7pPr>
            <a:lvl8pPr lvl="7" algn="ctr" rtl="0">
              <a:spcBef>
                <a:spcPts val="0"/>
              </a:spcBef>
              <a:spcAft>
                <a:spcPts val="0"/>
              </a:spcAft>
              <a:buClr>
                <a:schemeClr val="accent2"/>
              </a:buClr>
              <a:buSzPts val="2800"/>
              <a:buNone/>
              <a:defRPr>
                <a:solidFill>
                  <a:schemeClr val="accent2"/>
                </a:solidFill>
              </a:defRPr>
            </a:lvl8pPr>
            <a:lvl9pPr lvl="8" algn="ctr" rtl="0">
              <a:spcBef>
                <a:spcPts val="0"/>
              </a:spcBef>
              <a:spcAft>
                <a:spcPts val="0"/>
              </a:spcAft>
              <a:buClr>
                <a:schemeClr val="accent2"/>
              </a:buClr>
              <a:buSzPts val="2800"/>
              <a:buNone/>
              <a:defRPr>
                <a:solidFill>
                  <a:schemeClr val="accent2"/>
                </a:solidFill>
              </a:defRPr>
            </a:lvl9pPr>
          </a:lstStyle>
          <a:p>
            <a:r>
              <a:t>xx%</a:t>
            </a:r>
          </a:p>
        </p:txBody>
      </p:sp>
      <p:sp>
        <p:nvSpPr>
          <p:cNvPr id="285" name="Google Shape;285;p13"/>
          <p:cNvSpPr txBox="1">
            <a:spLocks noGrp="1"/>
          </p:cNvSpPr>
          <p:nvPr>
            <p:ph type="title" idx="14"/>
          </p:nvPr>
        </p:nvSpPr>
        <p:spPr>
          <a:xfrm>
            <a:off x="1952850" y="3105075"/>
            <a:ext cx="2058600" cy="721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86" name="Google Shape;286;p13"/>
          <p:cNvSpPr txBox="1">
            <a:spLocks noGrp="1"/>
          </p:cNvSpPr>
          <p:nvPr>
            <p:ph type="title" idx="15"/>
          </p:nvPr>
        </p:nvSpPr>
        <p:spPr>
          <a:xfrm>
            <a:off x="5867625" y="3105075"/>
            <a:ext cx="2058600" cy="721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grpSp>
        <p:nvGrpSpPr>
          <p:cNvPr id="287" name="Google Shape;287;p13"/>
          <p:cNvGrpSpPr/>
          <p:nvPr/>
        </p:nvGrpSpPr>
        <p:grpSpPr>
          <a:xfrm>
            <a:off x="7926275" y="3785960"/>
            <a:ext cx="1218083" cy="1420617"/>
            <a:chOff x="7556913" y="3814718"/>
            <a:chExt cx="891846" cy="1040135"/>
          </a:xfrm>
        </p:grpSpPr>
        <p:grpSp>
          <p:nvGrpSpPr>
            <p:cNvPr id="288" name="Google Shape;288;p13"/>
            <p:cNvGrpSpPr/>
            <p:nvPr/>
          </p:nvGrpSpPr>
          <p:grpSpPr>
            <a:xfrm>
              <a:off x="7990222" y="3814718"/>
              <a:ext cx="458536" cy="1040135"/>
              <a:chOff x="5599250" y="4194125"/>
              <a:chExt cx="418525" cy="949375"/>
            </a:xfrm>
          </p:grpSpPr>
          <p:sp>
            <p:nvSpPr>
              <p:cNvPr id="289" name="Google Shape;289;p13"/>
              <p:cNvSpPr/>
              <p:nvPr/>
            </p:nvSpPr>
            <p:spPr>
              <a:xfrm>
                <a:off x="5599250" y="4194125"/>
                <a:ext cx="418525" cy="949375"/>
              </a:xfrm>
              <a:custGeom>
                <a:avLst/>
                <a:gdLst/>
                <a:ahLst/>
                <a:cxnLst/>
                <a:rect l="l" t="t" r="r" b="b"/>
                <a:pathLst>
                  <a:path w="16741" h="37975" extrusionOk="0">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5709300" y="4452000"/>
                <a:ext cx="198375" cy="691500"/>
              </a:xfrm>
              <a:custGeom>
                <a:avLst/>
                <a:gdLst/>
                <a:ahLst/>
                <a:cxnLst/>
                <a:rect l="l" t="t" r="r" b="b"/>
                <a:pathLst>
                  <a:path w="7935" h="27660" extrusionOk="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13"/>
            <p:cNvGrpSpPr/>
            <p:nvPr/>
          </p:nvGrpSpPr>
          <p:grpSpPr>
            <a:xfrm>
              <a:off x="7556913" y="4235041"/>
              <a:ext cx="623725" cy="619808"/>
              <a:chOff x="4791175" y="4530525"/>
              <a:chExt cx="569300" cy="565725"/>
            </a:xfrm>
          </p:grpSpPr>
          <p:sp>
            <p:nvSpPr>
              <p:cNvPr id="292" name="Google Shape;292;p13"/>
              <p:cNvSpPr/>
              <p:nvPr/>
            </p:nvSpPr>
            <p:spPr>
              <a:xfrm>
                <a:off x="4913775" y="4642875"/>
                <a:ext cx="446700" cy="453375"/>
              </a:xfrm>
              <a:custGeom>
                <a:avLst/>
                <a:gdLst/>
                <a:ahLst/>
                <a:cxnLst/>
                <a:rect l="l" t="t" r="r" b="b"/>
                <a:pathLst>
                  <a:path w="17868" h="18135" extrusionOk="0">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a:gsLst>
                  <a:gs pos="0">
                    <a:schemeClr val="accent2"/>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4976325" y="4793200"/>
                <a:ext cx="195375" cy="303050"/>
              </a:xfrm>
              <a:custGeom>
                <a:avLst/>
                <a:gdLst/>
                <a:ahLst/>
                <a:cxnLst/>
                <a:rect l="l" t="t" r="r" b="b"/>
                <a:pathLst>
                  <a:path w="7815" h="12122" extrusionOk="0">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4791175" y="4530525"/>
                <a:ext cx="245600" cy="565725"/>
              </a:xfrm>
              <a:custGeom>
                <a:avLst/>
                <a:gdLst/>
                <a:ahLst/>
                <a:cxnLst/>
                <a:rect l="l" t="t" r="r" b="b"/>
                <a:pathLst>
                  <a:path w="9824" h="22629" extrusionOk="0">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4849450" y="4699600"/>
                <a:ext cx="58500" cy="396650"/>
              </a:xfrm>
              <a:custGeom>
                <a:avLst/>
                <a:gdLst/>
                <a:ahLst/>
                <a:cxnLst/>
                <a:rect l="l" t="t" r="r" b="b"/>
                <a:pathLst>
                  <a:path w="2340" h="15866" extrusionOk="0">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6" name="Google Shape;296;p13"/>
          <p:cNvGrpSpPr/>
          <p:nvPr/>
        </p:nvGrpSpPr>
        <p:grpSpPr>
          <a:xfrm>
            <a:off x="-43125" y="3350373"/>
            <a:ext cx="1642248" cy="1856016"/>
            <a:chOff x="-43125" y="3350373"/>
            <a:chExt cx="1642248" cy="1856016"/>
          </a:xfrm>
        </p:grpSpPr>
        <p:sp>
          <p:nvSpPr>
            <p:cNvPr id="297" name="Google Shape;297;p13"/>
            <p:cNvSpPr/>
            <p:nvPr/>
          </p:nvSpPr>
          <p:spPr>
            <a:xfrm>
              <a:off x="-43125" y="3350373"/>
              <a:ext cx="1642248" cy="1856016"/>
            </a:xfrm>
            <a:custGeom>
              <a:avLst/>
              <a:gdLst/>
              <a:ahLst/>
              <a:cxnLst/>
              <a:rect l="l" t="t" r="r" b="b"/>
              <a:pathLst>
                <a:path w="87856" h="99292" extrusionOk="0">
                  <a:moveTo>
                    <a:pt x="0" y="0"/>
                  </a:moveTo>
                  <a:lnTo>
                    <a:pt x="0" y="99292"/>
                  </a:lnTo>
                  <a:lnTo>
                    <a:pt x="87856" y="99292"/>
                  </a:lnTo>
                  <a:cubicBezTo>
                    <a:pt x="87352" y="82469"/>
                    <a:pt x="78559" y="65681"/>
                    <a:pt x="57884" y="63016"/>
                  </a:cubicBezTo>
                  <a:cubicBezTo>
                    <a:pt x="35087" y="60076"/>
                    <a:pt x="33637" y="46127"/>
                    <a:pt x="26301" y="24187"/>
                  </a:cubicBezTo>
                  <a:cubicBezTo>
                    <a:pt x="19496" y="3835"/>
                    <a:pt x="5705" y="490"/>
                    <a:pt x="0" y="0"/>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43125" y="3905893"/>
              <a:ext cx="1311012" cy="1242503"/>
            </a:xfrm>
            <a:custGeom>
              <a:avLst/>
              <a:gdLst/>
              <a:ahLst/>
              <a:cxnLst/>
              <a:rect l="l" t="t" r="r" b="b"/>
              <a:pathLst>
                <a:path w="86822" h="82285" extrusionOk="0">
                  <a:moveTo>
                    <a:pt x="0" y="1"/>
                  </a:moveTo>
                  <a:lnTo>
                    <a:pt x="0" y="82285"/>
                  </a:lnTo>
                  <a:lnTo>
                    <a:pt x="86479" y="82285"/>
                  </a:lnTo>
                  <a:cubicBezTo>
                    <a:pt x="86821" y="61310"/>
                    <a:pt x="74132" y="39571"/>
                    <a:pt x="42397" y="36242"/>
                  </a:cubicBezTo>
                  <a:cubicBezTo>
                    <a:pt x="13454" y="33205"/>
                    <a:pt x="7919" y="20349"/>
                    <a:pt x="0"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9" name="Google Shape;299;p13"/>
          <p:cNvSpPr/>
          <p:nvPr/>
        </p:nvSpPr>
        <p:spPr>
          <a:xfrm>
            <a:off x="6956700" y="-34825"/>
            <a:ext cx="2187339" cy="2709070"/>
          </a:xfrm>
          <a:custGeom>
            <a:avLst/>
            <a:gdLst/>
            <a:ahLst/>
            <a:cxnLst/>
            <a:rect l="l" t="t" r="r" b="b"/>
            <a:pathLst>
              <a:path w="95257" h="117978" extrusionOk="0">
                <a:moveTo>
                  <a:pt x="1" y="0"/>
                </a:moveTo>
                <a:cubicBezTo>
                  <a:pt x="6" y="16"/>
                  <a:pt x="7" y="33"/>
                  <a:pt x="10" y="50"/>
                </a:cubicBezTo>
                <a:cubicBezTo>
                  <a:pt x="15" y="66"/>
                  <a:pt x="22" y="85"/>
                  <a:pt x="26" y="103"/>
                </a:cubicBezTo>
                <a:cubicBezTo>
                  <a:pt x="259" y="113"/>
                  <a:pt x="491" y="116"/>
                  <a:pt x="724" y="128"/>
                </a:cubicBezTo>
                <a:cubicBezTo>
                  <a:pt x="16323" y="980"/>
                  <a:pt x="33356" y="8690"/>
                  <a:pt x="37853" y="23652"/>
                </a:cubicBezTo>
                <a:cubicBezTo>
                  <a:pt x="41475" y="35702"/>
                  <a:pt x="36482" y="50528"/>
                  <a:pt x="44575" y="60161"/>
                </a:cubicBezTo>
                <a:cubicBezTo>
                  <a:pt x="53009" y="70205"/>
                  <a:pt x="70274" y="67642"/>
                  <a:pt x="79509" y="76954"/>
                </a:cubicBezTo>
                <a:cubicBezTo>
                  <a:pt x="87937" y="85451"/>
                  <a:pt x="85896" y="99582"/>
                  <a:pt x="90533" y="110614"/>
                </a:cubicBezTo>
                <a:cubicBezTo>
                  <a:pt x="91679" y="113340"/>
                  <a:pt x="93298" y="115808"/>
                  <a:pt x="95256" y="117977"/>
                </a:cubicBezTo>
                <a:lnTo>
                  <a:pt x="95256"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3"/>
          <p:cNvSpPr/>
          <p:nvPr/>
        </p:nvSpPr>
        <p:spPr>
          <a:xfrm>
            <a:off x="8105677" y="-34825"/>
            <a:ext cx="1038341" cy="1205623"/>
          </a:xfrm>
          <a:custGeom>
            <a:avLst/>
            <a:gdLst/>
            <a:ahLst/>
            <a:cxnLst/>
            <a:rect l="l" t="t" r="r" b="b"/>
            <a:pathLst>
              <a:path w="45219" h="52504" extrusionOk="0">
                <a:moveTo>
                  <a:pt x="1295" y="0"/>
                </a:moveTo>
                <a:cubicBezTo>
                  <a:pt x="2651" y="10854"/>
                  <a:pt x="1" y="22896"/>
                  <a:pt x="6925" y="31140"/>
                </a:cubicBezTo>
                <a:cubicBezTo>
                  <a:pt x="15359" y="41182"/>
                  <a:pt x="32624" y="38620"/>
                  <a:pt x="41859" y="47931"/>
                </a:cubicBezTo>
                <a:cubicBezTo>
                  <a:pt x="43234" y="49317"/>
                  <a:pt x="44326" y="50855"/>
                  <a:pt x="45218" y="52503"/>
                </a:cubicBezTo>
                <a:lnTo>
                  <a:pt x="45218" y="0"/>
                </a:ln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 name="Google Shape;301;p13"/>
          <p:cNvGrpSpPr/>
          <p:nvPr/>
        </p:nvGrpSpPr>
        <p:grpSpPr>
          <a:xfrm rot="605466">
            <a:off x="-309798" y="-133680"/>
            <a:ext cx="858959" cy="1948449"/>
            <a:chOff x="5599250" y="4194125"/>
            <a:chExt cx="418525" cy="949375"/>
          </a:xfrm>
        </p:grpSpPr>
        <p:sp>
          <p:nvSpPr>
            <p:cNvPr id="302" name="Google Shape;302;p13"/>
            <p:cNvSpPr/>
            <p:nvPr/>
          </p:nvSpPr>
          <p:spPr>
            <a:xfrm>
              <a:off x="5599250" y="4194125"/>
              <a:ext cx="418525" cy="949375"/>
            </a:xfrm>
            <a:custGeom>
              <a:avLst/>
              <a:gdLst/>
              <a:ahLst/>
              <a:cxnLst/>
              <a:rect l="l" t="t" r="r" b="b"/>
              <a:pathLst>
                <a:path w="16741" h="37975" extrusionOk="0">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3"/>
            <p:cNvSpPr/>
            <p:nvPr/>
          </p:nvSpPr>
          <p:spPr>
            <a:xfrm>
              <a:off x="5709300" y="4452000"/>
              <a:ext cx="198375" cy="691500"/>
            </a:xfrm>
            <a:custGeom>
              <a:avLst/>
              <a:gdLst/>
              <a:ahLst/>
              <a:cxnLst/>
              <a:rect l="l" t="t" r="r" b="b"/>
              <a:pathLst>
                <a:path w="7935" h="27660" extrusionOk="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4" name="Google Shape;304;p13"/>
          <p:cNvSpPr/>
          <p:nvPr/>
        </p:nvSpPr>
        <p:spPr>
          <a:xfrm rot="1389579">
            <a:off x="-119822" y="1358157"/>
            <a:ext cx="509175" cy="516783"/>
          </a:xfrm>
          <a:custGeom>
            <a:avLst/>
            <a:gdLst/>
            <a:ahLst/>
            <a:cxnLst/>
            <a:rect l="l" t="t" r="r" b="b"/>
            <a:pathLst>
              <a:path w="17868" h="18135" extrusionOk="0">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3"/>
          <p:cNvSpPr/>
          <p:nvPr/>
        </p:nvSpPr>
        <p:spPr>
          <a:xfrm rot="1389579">
            <a:off x="-76419" y="1494309"/>
            <a:ext cx="222700" cy="345434"/>
          </a:xfrm>
          <a:custGeom>
            <a:avLst/>
            <a:gdLst/>
            <a:ahLst/>
            <a:cxnLst/>
            <a:rect l="l" t="t" r="r" b="b"/>
            <a:pathLst>
              <a:path w="7815" h="12122" extrusionOk="0">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410"/>
        <p:cNvGrpSpPr/>
        <p:nvPr/>
      </p:nvGrpSpPr>
      <p:grpSpPr>
        <a:xfrm>
          <a:off x="0" y="0"/>
          <a:ext cx="0" cy="0"/>
          <a:chOff x="0" y="0"/>
          <a:chExt cx="0" cy="0"/>
        </a:xfrm>
      </p:grpSpPr>
      <p:sp>
        <p:nvSpPr>
          <p:cNvPr id="411" name="Google Shape;411;p17"/>
          <p:cNvSpPr txBox="1">
            <a:spLocks noGrp="1"/>
          </p:cNvSpPr>
          <p:nvPr>
            <p:ph type="title"/>
          </p:nvPr>
        </p:nvSpPr>
        <p:spPr>
          <a:xfrm>
            <a:off x="713225" y="2476500"/>
            <a:ext cx="3068100" cy="447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1800">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12" name="Google Shape;412;p17"/>
          <p:cNvSpPr txBox="1">
            <a:spLocks noGrp="1"/>
          </p:cNvSpPr>
          <p:nvPr>
            <p:ph type="subTitle" idx="1"/>
          </p:nvPr>
        </p:nvSpPr>
        <p:spPr>
          <a:xfrm>
            <a:off x="713225" y="1597575"/>
            <a:ext cx="6122400" cy="84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2000" b="0">
                <a:latin typeface="Archivo Light"/>
                <a:ea typeface="Archivo Light"/>
                <a:cs typeface="Archivo Light"/>
                <a:sym typeface="Archivo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3" name="Google Shape;413;p17"/>
          <p:cNvSpPr/>
          <p:nvPr/>
        </p:nvSpPr>
        <p:spPr>
          <a:xfrm>
            <a:off x="-43125" y="3350373"/>
            <a:ext cx="1642248" cy="1856016"/>
          </a:xfrm>
          <a:custGeom>
            <a:avLst/>
            <a:gdLst/>
            <a:ahLst/>
            <a:cxnLst/>
            <a:rect l="l" t="t" r="r" b="b"/>
            <a:pathLst>
              <a:path w="87856" h="99292" extrusionOk="0">
                <a:moveTo>
                  <a:pt x="0" y="0"/>
                </a:moveTo>
                <a:lnTo>
                  <a:pt x="0" y="99292"/>
                </a:lnTo>
                <a:lnTo>
                  <a:pt x="87856" y="99292"/>
                </a:lnTo>
                <a:cubicBezTo>
                  <a:pt x="87352" y="82469"/>
                  <a:pt x="78559" y="65681"/>
                  <a:pt x="57884" y="63016"/>
                </a:cubicBezTo>
                <a:cubicBezTo>
                  <a:pt x="35087" y="60076"/>
                  <a:pt x="33637" y="46127"/>
                  <a:pt x="26301" y="24187"/>
                </a:cubicBezTo>
                <a:cubicBezTo>
                  <a:pt x="19496" y="3835"/>
                  <a:pt x="5705" y="490"/>
                  <a:pt x="0" y="0"/>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7"/>
          <p:cNvSpPr/>
          <p:nvPr/>
        </p:nvSpPr>
        <p:spPr>
          <a:xfrm>
            <a:off x="-43125" y="3982743"/>
            <a:ext cx="1311012" cy="1242503"/>
          </a:xfrm>
          <a:custGeom>
            <a:avLst/>
            <a:gdLst/>
            <a:ahLst/>
            <a:cxnLst/>
            <a:rect l="l" t="t" r="r" b="b"/>
            <a:pathLst>
              <a:path w="86822" h="82285" extrusionOk="0">
                <a:moveTo>
                  <a:pt x="0" y="1"/>
                </a:moveTo>
                <a:lnTo>
                  <a:pt x="0" y="82285"/>
                </a:lnTo>
                <a:lnTo>
                  <a:pt x="86479" y="82285"/>
                </a:lnTo>
                <a:cubicBezTo>
                  <a:pt x="86821" y="61310"/>
                  <a:pt x="74132" y="39571"/>
                  <a:pt x="42397" y="36242"/>
                </a:cubicBezTo>
                <a:cubicBezTo>
                  <a:pt x="13454" y="33205"/>
                  <a:pt x="7919" y="20349"/>
                  <a:pt x="0"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7"/>
          <p:cNvSpPr/>
          <p:nvPr/>
        </p:nvSpPr>
        <p:spPr>
          <a:xfrm flipH="1">
            <a:off x="7143314" y="-46962"/>
            <a:ext cx="2044468" cy="2413166"/>
          </a:xfrm>
          <a:custGeom>
            <a:avLst/>
            <a:gdLst/>
            <a:ahLst/>
            <a:cxnLst/>
            <a:rect l="l" t="t" r="r" b="b"/>
            <a:pathLst>
              <a:path w="71585" h="84502" extrusionOk="0">
                <a:moveTo>
                  <a:pt x="1" y="0"/>
                </a:moveTo>
                <a:lnTo>
                  <a:pt x="1" y="84501"/>
                </a:lnTo>
                <a:cubicBezTo>
                  <a:pt x="477" y="83955"/>
                  <a:pt x="874" y="83403"/>
                  <a:pt x="1139" y="82890"/>
                </a:cubicBezTo>
                <a:cubicBezTo>
                  <a:pt x="2672" y="79929"/>
                  <a:pt x="2697" y="76446"/>
                  <a:pt x="2700" y="73111"/>
                </a:cubicBezTo>
                <a:cubicBezTo>
                  <a:pt x="2702" y="69777"/>
                  <a:pt x="2754" y="66288"/>
                  <a:pt x="4329" y="63351"/>
                </a:cubicBezTo>
                <a:cubicBezTo>
                  <a:pt x="6516" y="59275"/>
                  <a:pt x="11131" y="57170"/>
                  <a:pt x="15568" y="55862"/>
                </a:cubicBezTo>
                <a:cubicBezTo>
                  <a:pt x="20006" y="54556"/>
                  <a:pt x="24722" y="53701"/>
                  <a:pt x="28491" y="51020"/>
                </a:cubicBezTo>
                <a:cubicBezTo>
                  <a:pt x="39032" y="43516"/>
                  <a:pt x="35754" y="27781"/>
                  <a:pt x="44955" y="19139"/>
                </a:cubicBezTo>
                <a:cubicBezTo>
                  <a:pt x="51913" y="12607"/>
                  <a:pt x="67486" y="11669"/>
                  <a:pt x="71584" y="1497"/>
                </a:cubicBezTo>
                <a:lnTo>
                  <a:pt x="1"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7"/>
          <p:cNvSpPr/>
          <p:nvPr/>
        </p:nvSpPr>
        <p:spPr>
          <a:xfrm flipH="1">
            <a:off x="7027161" y="-46943"/>
            <a:ext cx="2160621" cy="1316758"/>
          </a:xfrm>
          <a:custGeom>
            <a:avLst/>
            <a:gdLst/>
            <a:ahLst/>
            <a:cxnLst/>
            <a:rect l="l" t="t" r="r" b="b"/>
            <a:pathLst>
              <a:path w="75652" h="46109" extrusionOk="0">
                <a:moveTo>
                  <a:pt x="1" y="0"/>
                </a:moveTo>
                <a:lnTo>
                  <a:pt x="1" y="46108"/>
                </a:lnTo>
                <a:cubicBezTo>
                  <a:pt x="1086" y="45834"/>
                  <a:pt x="2128" y="45411"/>
                  <a:pt x="3098" y="44854"/>
                </a:cubicBezTo>
                <a:cubicBezTo>
                  <a:pt x="6905" y="42653"/>
                  <a:pt x="9630" y="38836"/>
                  <a:pt x="12059" y="35015"/>
                </a:cubicBezTo>
                <a:cubicBezTo>
                  <a:pt x="14488" y="31193"/>
                  <a:pt x="16806" y="27177"/>
                  <a:pt x="20156" y="24252"/>
                </a:cubicBezTo>
                <a:cubicBezTo>
                  <a:pt x="24658" y="20319"/>
                  <a:pt x="30596" y="18751"/>
                  <a:pt x="36394" y="18220"/>
                </a:cubicBezTo>
                <a:cubicBezTo>
                  <a:pt x="42194" y="17688"/>
                  <a:pt x="48043" y="18078"/>
                  <a:pt x="53840" y="17512"/>
                </a:cubicBezTo>
                <a:cubicBezTo>
                  <a:pt x="59636" y="16947"/>
                  <a:pt x="65564" y="15302"/>
                  <a:pt x="70004" y="11290"/>
                </a:cubicBezTo>
                <a:cubicBezTo>
                  <a:pt x="73124" y="8470"/>
                  <a:pt x="75316" y="4271"/>
                  <a:pt x="75652" y="0"/>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7"/>
          <p:cNvSpPr/>
          <p:nvPr/>
        </p:nvSpPr>
        <p:spPr>
          <a:xfrm flipH="1">
            <a:off x="7843434" y="-46943"/>
            <a:ext cx="1344348" cy="522117"/>
          </a:xfrm>
          <a:custGeom>
            <a:avLst/>
            <a:gdLst/>
            <a:ahLst/>
            <a:cxnLst/>
            <a:rect l="l" t="t" r="r" b="b"/>
            <a:pathLst>
              <a:path w="47071" h="18283" extrusionOk="0">
                <a:moveTo>
                  <a:pt x="1" y="0"/>
                </a:moveTo>
                <a:lnTo>
                  <a:pt x="1" y="18282"/>
                </a:lnTo>
                <a:cubicBezTo>
                  <a:pt x="2594" y="17456"/>
                  <a:pt x="5313" y="16985"/>
                  <a:pt x="8003" y="16739"/>
                </a:cubicBezTo>
                <a:cubicBezTo>
                  <a:pt x="13802" y="16206"/>
                  <a:pt x="19652" y="16597"/>
                  <a:pt x="25448" y="16031"/>
                </a:cubicBezTo>
                <a:cubicBezTo>
                  <a:pt x="31244" y="15466"/>
                  <a:pt x="37173" y="13822"/>
                  <a:pt x="41613" y="9810"/>
                </a:cubicBezTo>
                <a:cubicBezTo>
                  <a:pt x="44371" y="7317"/>
                  <a:pt x="46404" y="3746"/>
                  <a:pt x="47071" y="1"/>
                </a:cubicBezTo>
                <a:lnTo>
                  <a:pt x="1"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7"/>
          <p:cNvSpPr/>
          <p:nvPr/>
        </p:nvSpPr>
        <p:spPr>
          <a:xfrm rot="10800000">
            <a:off x="0" y="0"/>
            <a:ext cx="1971350" cy="2441575"/>
          </a:xfrm>
          <a:custGeom>
            <a:avLst/>
            <a:gdLst/>
            <a:ahLst/>
            <a:cxnLst/>
            <a:rect l="l" t="t" r="r" b="b"/>
            <a:pathLst>
              <a:path w="78854" h="97663" extrusionOk="0">
                <a:moveTo>
                  <a:pt x="78852" y="1"/>
                </a:moveTo>
                <a:cubicBezTo>
                  <a:pt x="77232" y="1795"/>
                  <a:pt x="75891" y="3839"/>
                  <a:pt x="74943" y="6096"/>
                </a:cubicBezTo>
                <a:cubicBezTo>
                  <a:pt x="71104" y="15229"/>
                  <a:pt x="72794" y="26926"/>
                  <a:pt x="65817" y="33960"/>
                </a:cubicBezTo>
                <a:cubicBezTo>
                  <a:pt x="58172" y="41667"/>
                  <a:pt x="43881" y="39548"/>
                  <a:pt x="36898" y="47861"/>
                </a:cubicBezTo>
                <a:cubicBezTo>
                  <a:pt x="30199" y="55836"/>
                  <a:pt x="34332" y="68110"/>
                  <a:pt x="31333" y="78083"/>
                </a:cubicBezTo>
                <a:cubicBezTo>
                  <a:pt x="27611" y="90469"/>
                  <a:pt x="13511" y="96851"/>
                  <a:pt x="598" y="97557"/>
                </a:cubicBezTo>
                <a:cubicBezTo>
                  <a:pt x="405" y="97568"/>
                  <a:pt x="213" y="97569"/>
                  <a:pt x="21" y="97578"/>
                </a:cubicBezTo>
                <a:cubicBezTo>
                  <a:pt x="17" y="97592"/>
                  <a:pt x="11" y="97608"/>
                  <a:pt x="7" y="97622"/>
                </a:cubicBezTo>
                <a:cubicBezTo>
                  <a:pt x="5" y="97635"/>
                  <a:pt x="3" y="97649"/>
                  <a:pt x="0" y="97662"/>
                </a:cubicBezTo>
                <a:lnTo>
                  <a:pt x="78853" y="97662"/>
                </a:lnTo>
                <a:lnTo>
                  <a:pt x="78852" y="1"/>
                </a:ln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7"/>
          <p:cNvSpPr/>
          <p:nvPr/>
        </p:nvSpPr>
        <p:spPr>
          <a:xfrm rot="10800000">
            <a:off x="0" y="0"/>
            <a:ext cx="935850" cy="1086575"/>
          </a:xfrm>
          <a:custGeom>
            <a:avLst/>
            <a:gdLst/>
            <a:ahLst/>
            <a:cxnLst/>
            <a:rect l="l" t="t" r="r" b="b"/>
            <a:pathLst>
              <a:path w="37434" h="43463" extrusionOk="0">
                <a:moveTo>
                  <a:pt x="37433" y="0"/>
                </a:moveTo>
                <a:cubicBezTo>
                  <a:pt x="36695" y="1364"/>
                  <a:pt x="35790" y="2637"/>
                  <a:pt x="34652" y="3784"/>
                </a:cubicBezTo>
                <a:cubicBezTo>
                  <a:pt x="27007" y="11492"/>
                  <a:pt x="12715" y="9372"/>
                  <a:pt x="5732" y="17686"/>
                </a:cubicBezTo>
                <a:cubicBezTo>
                  <a:pt x="0" y="24509"/>
                  <a:pt x="2196" y="34478"/>
                  <a:pt x="1072" y="43462"/>
                </a:cubicBezTo>
                <a:lnTo>
                  <a:pt x="37433" y="43462"/>
                </a:lnTo>
                <a:lnTo>
                  <a:pt x="37433" y="0"/>
                </a:ln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2_1_1_1_1_1">
    <p:spTree>
      <p:nvGrpSpPr>
        <p:cNvPr id="1" name="Shape 637"/>
        <p:cNvGrpSpPr/>
        <p:nvPr/>
      </p:nvGrpSpPr>
      <p:grpSpPr>
        <a:xfrm>
          <a:off x="0" y="0"/>
          <a:ext cx="0" cy="0"/>
          <a:chOff x="0" y="0"/>
          <a:chExt cx="0" cy="0"/>
        </a:xfrm>
      </p:grpSpPr>
      <p:sp>
        <p:nvSpPr>
          <p:cNvPr id="638" name="Google Shape;638;p31"/>
          <p:cNvSpPr/>
          <p:nvPr/>
        </p:nvSpPr>
        <p:spPr>
          <a:xfrm>
            <a:off x="1001175" y="-725375"/>
            <a:ext cx="7429601" cy="6459912"/>
          </a:xfrm>
          <a:custGeom>
            <a:avLst/>
            <a:gdLst/>
            <a:ahLst/>
            <a:cxnLst/>
            <a:rect l="l" t="t" r="r" b="b"/>
            <a:pathLst>
              <a:path w="84733" h="73676" extrusionOk="0">
                <a:moveTo>
                  <a:pt x="3905" y="27001"/>
                </a:moveTo>
                <a:cubicBezTo>
                  <a:pt x="1" y="38560"/>
                  <a:pt x="2872" y="52402"/>
                  <a:pt x="11796" y="60722"/>
                </a:cubicBezTo>
                <a:cubicBezTo>
                  <a:pt x="18317" y="66801"/>
                  <a:pt x="27230" y="69585"/>
                  <a:pt x="35986" y="71264"/>
                </a:cubicBezTo>
                <a:cubicBezTo>
                  <a:pt x="44732" y="72939"/>
                  <a:pt x="53880" y="73676"/>
                  <a:pt x="62463" y="71305"/>
                </a:cubicBezTo>
                <a:cubicBezTo>
                  <a:pt x="71048" y="68933"/>
                  <a:pt x="79019" y="63012"/>
                  <a:pt x="82023" y="54629"/>
                </a:cubicBezTo>
                <a:cubicBezTo>
                  <a:pt x="84733" y="47065"/>
                  <a:pt x="83083" y="38429"/>
                  <a:pt x="79096" y="31452"/>
                </a:cubicBezTo>
                <a:cubicBezTo>
                  <a:pt x="75110" y="24475"/>
                  <a:pt x="69007" y="18947"/>
                  <a:pt x="62559" y="14152"/>
                </a:cubicBezTo>
                <a:cubicBezTo>
                  <a:pt x="53150" y="7152"/>
                  <a:pt x="39947" y="0"/>
                  <a:pt x="27789" y="3328"/>
                </a:cubicBezTo>
                <a:cubicBezTo>
                  <a:pt x="17014" y="6277"/>
                  <a:pt x="7391" y="16672"/>
                  <a:pt x="3905" y="2700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txBox="1">
            <a:spLocks noGrp="1"/>
          </p:cNvSpPr>
          <p:nvPr>
            <p:ph type="title"/>
          </p:nvPr>
        </p:nvSpPr>
        <p:spPr>
          <a:xfrm>
            <a:off x="2823788" y="581275"/>
            <a:ext cx="3552900" cy="110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67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0" name="Google Shape;640;p31"/>
          <p:cNvSpPr txBox="1">
            <a:spLocks noGrp="1"/>
          </p:cNvSpPr>
          <p:nvPr>
            <p:ph type="subTitle" idx="1"/>
          </p:nvPr>
        </p:nvSpPr>
        <p:spPr>
          <a:xfrm>
            <a:off x="3245550" y="2089675"/>
            <a:ext cx="2652900" cy="82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atin typeface="Archivo Light"/>
                <a:ea typeface="Archivo Light"/>
                <a:cs typeface="Archivo Light"/>
                <a:sym typeface="Archivo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1" name="Google Shape;641;p31"/>
          <p:cNvSpPr txBox="1">
            <a:spLocks noGrp="1"/>
          </p:cNvSpPr>
          <p:nvPr>
            <p:ph type="subTitle" idx="2"/>
          </p:nvPr>
        </p:nvSpPr>
        <p:spPr>
          <a:xfrm>
            <a:off x="2642550" y="4230500"/>
            <a:ext cx="3858900" cy="33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100" b="0">
                <a:solidFill>
                  <a:schemeClr val="lt1"/>
                </a:solidFill>
                <a:latin typeface="Archivo Light"/>
                <a:ea typeface="Archivo Light"/>
                <a:cs typeface="Archivo Light"/>
                <a:sym typeface="Archivo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2" name="Google Shape;642;p31"/>
          <p:cNvSpPr txBox="1">
            <a:spLocks noGrp="1"/>
          </p:cNvSpPr>
          <p:nvPr>
            <p:ph type="title" idx="3"/>
          </p:nvPr>
        </p:nvSpPr>
        <p:spPr>
          <a:xfrm>
            <a:off x="2823788" y="1689475"/>
            <a:ext cx="3552900" cy="400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000">
                <a:solidFill>
                  <a:schemeClr val="accent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643" name="Google Shape;643;p31"/>
          <p:cNvSpPr txBox="1"/>
          <p:nvPr/>
        </p:nvSpPr>
        <p:spPr>
          <a:xfrm>
            <a:off x="2517900" y="3707300"/>
            <a:ext cx="4416300" cy="5232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en" sz="1100">
                <a:solidFill>
                  <a:schemeClr val="lt1"/>
                </a:solidFill>
                <a:latin typeface="Archivo Light"/>
                <a:ea typeface="Archivo Light"/>
                <a:cs typeface="Archivo Light"/>
                <a:sym typeface="Archivo Light"/>
              </a:rPr>
              <a:t>CREDITS: This presentation template was created by </a:t>
            </a:r>
            <a:r>
              <a:rPr lang="en" sz="1100" b="1">
                <a:solidFill>
                  <a:schemeClr val="lt1"/>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100">
                <a:solidFill>
                  <a:schemeClr val="lt1"/>
                </a:solidFill>
                <a:latin typeface="Archivo Light"/>
                <a:ea typeface="Archivo Light"/>
                <a:cs typeface="Archivo Light"/>
                <a:sym typeface="Archivo Light"/>
              </a:rPr>
              <a:t>, and includes icons by </a:t>
            </a:r>
            <a:r>
              <a:rPr lang="en" sz="1100" b="1">
                <a:solidFill>
                  <a:schemeClr val="lt1"/>
                </a:solidFill>
                <a:uFill>
                  <a:noFill/>
                </a:uFill>
                <a:latin typeface="Archivo"/>
                <a:ea typeface="Archivo"/>
                <a:cs typeface="Archivo"/>
                <a:sym typeface="Archivo"/>
                <a:hlinkClick r:id="rId3">
                  <a:extLst>
                    <a:ext uri="{A12FA001-AC4F-418D-AE19-62706E023703}">
                      <ahyp:hlinkClr xmlns:ahyp="http://schemas.microsoft.com/office/drawing/2018/hyperlinkcolor" val="tx"/>
                    </a:ext>
                  </a:extLst>
                </a:hlinkClick>
              </a:rPr>
              <a:t>Flaticon</a:t>
            </a:r>
            <a:r>
              <a:rPr lang="en" sz="1100">
                <a:solidFill>
                  <a:schemeClr val="lt1"/>
                </a:solidFill>
                <a:latin typeface="Archivo Light"/>
                <a:ea typeface="Archivo Light"/>
                <a:cs typeface="Archivo Light"/>
                <a:sym typeface="Archivo Light"/>
              </a:rPr>
              <a:t> and infographics &amp; images by </a:t>
            </a:r>
            <a:r>
              <a:rPr lang="en" sz="1100" b="1">
                <a:solidFill>
                  <a:schemeClr val="lt1"/>
                </a:solidFill>
                <a:uFill>
                  <a:noFill/>
                </a:uFill>
                <a:latin typeface="Archivo"/>
                <a:ea typeface="Archivo"/>
                <a:cs typeface="Archivo"/>
                <a:sym typeface="Archivo"/>
                <a:hlinkClick r:id="rId4">
                  <a:extLst>
                    <a:ext uri="{A12FA001-AC4F-418D-AE19-62706E023703}">
                      <ahyp:hlinkClr xmlns:ahyp="http://schemas.microsoft.com/office/drawing/2018/hyperlinkcolor" val="tx"/>
                    </a:ext>
                  </a:extLst>
                </a:hlinkClick>
              </a:rPr>
              <a:t>Freepik</a:t>
            </a:r>
            <a:endParaRPr sz="1100" b="1">
              <a:solidFill>
                <a:schemeClr val="lt1"/>
              </a:solidFill>
              <a:latin typeface="Archivo"/>
              <a:ea typeface="Archivo"/>
              <a:cs typeface="Archivo"/>
              <a:sym typeface="Archivo"/>
            </a:endParaRPr>
          </a:p>
        </p:txBody>
      </p:sp>
      <p:grpSp>
        <p:nvGrpSpPr>
          <p:cNvPr id="644" name="Google Shape;644;p31"/>
          <p:cNvGrpSpPr/>
          <p:nvPr/>
        </p:nvGrpSpPr>
        <p:grpSpPr>
          <a:xfrm>
            <a:off x="6256420" y="3578408"/>
            <a:ext cx="3011494" cy="1628002"/>
            <a:chOff x="3471496" y="4002724"/>
            <a:chExt cx="2179241" cy="1178175"/>
          </a:xfrm>
        </p:grpSpPr>
        <p:sp>
          <p:nvSpPr>
            <p:cNvPr id="645" name="Google Shape;645;p31"/>
            <p:cNvSpPr/>
            <p:nvPr/>
          </p:nvSpPr>
          <p:spPr>
            <a:xfrm>
              <a:off x="4792403" y="5020593"/>
              <a:ext cx="7942" cy="17064"/>
            </a:xfrm>
            <a:custGeom>
              <a:avLst/>
              <a:gdLst/>
              <a:ahLst/>
              <a:cxnLst/>
              <a:rect l="l" t="t" r="r" b="b"/>
              <a:pathLst>
                <a:path w="256" h="550" extrusionOk="0">
                  <a:moveTo>
                    <a:pt x="0" y="1"/>
                  </a:moveTo>
                  <a:lnTo>
                    <a:pt x="0" y="1"/>
                  </a:lnTo>
                  <a:cubicBezTo>
                    <a:pt x="53" y="194"/>
                    <a:pt x="105" y="380"/>
                    <a:pt x="153" y="550"/>
                  </a:cubicBezTo>
                  <a:lnTo>
                    <a:pt x="256" y="550"/>
                  </a:lnTo>
                  <a:cubicBezTo>
                    <a:pt x="253" y="543"/>
                    <a:pt x="251" y="538"/>
                    <a:pt x="250" y="534"/>
                  </a:cubicBezTo>
                  <a:cubicBezTo>
                    <a:pt x="181" y="375"/>
                    <a:pt x="99" y="198"/>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6" name="Google Shape;646;p31"/>
            <p:cNvGrpSpPr/>
            <p:nvPr/>
          </p:nvGrpSpPr>
          <p:grpSpPr>
            <a:xfrm>
              <a:off x="5131348" y="4002725"/>
              <a:ext cx="519390" cy="1178174"/>
              <a:chOff x="5599250" y="4194125"/>
              <a:chExt cx="418525" cy="949375"/>
            </a:xfrm>
          </p:grpSpPr>
          <p:sp>
            <p:nvSpPr>
              <p:cNvPr id="647" name="Google Shape;647;p31"/>
              <p:cNvSpPr/>
              <p:nvPr/>
            </p:nvSpPr>
            <p:spPr>
              <a:xfrm>
                <a:off x="5599250" y="4194125"/>
                <a:ext cx="418525" cy="949375"/>
              </a:xfrm>
              <a:custGeom>
                <a:avLst/>
                <a:gdLst/>
                <a:ahLst/>
                <a:cxnLst/>
                <a:rect l="l" t="t" r="r" b="b"/>
                <a:pathLst>
                  <a:path w="16741" h="37975" extrusionOk="0">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1"/>
              <p:cNvSpPr/>
              <p:nvPr/>
            </p:nvSpPr>
            <p:spPr>
              <a:xfrm>
                <a:off x="5709300" y="4452000"/>
                <a:ext cx="198375" cy="691500"/>
              </a:xfrm>
              <a:custGeom>
                <a:avLst/>
                <a:gdLst/>
                <a:ahLst/>
                <a:cxnLst/>
                <a:rect l="l" t="t" r="r" b="b"/>
                <a:pathLst>
                  <a:path w="7935" h="27660" extrusionOk="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 name="Google Shape;649;p31"/>
            <p:cNvGrpSpPr/>
            <p:nvPr/>
          </p:nvGrpSpPr>
          <p:grpSpPr>
            <a:xfrm>
              <a:off x="4067725" y="4002724"/>
              <a:ext cx="519358" cy="1178174"/>
              <a:chOff x="3914250" y="4165300"/>
              <a:chExt cx="418500" cy="949375"/>
            </a:xfrm>
          </p:grpSpPr>
          <p:sp>
            <p:nvSpPr>
              <p:cNvPr id="650" name="Google Shape;650;p31"/>
              <p:cNvSpPr/>
              <p:nvPr/>
            </p:nvSpPr>
            <p:spPr>
              <a:xfrm>
                <a:off x="3914250" y="4165300"/>
                <a:ext cx="418500" cy="949375"/>
              </a:xfrm>
              <a:custGeom>
                <a:avLst/>
                <a:gdLst/>
                <a:ahLst/>
                <a:cxnLst/>
                <a:rect l="l" t="t" r="r" b="b"/>
                <a:pathLst>
                  <a:path w="16740" h="37975" extrusionOk="0">
                    <a:moveTo>
                      <a:pt x="2031" y="1"/>
                    </a:moveTo>
                    <a:cubicBezTo>
                      <a:pt x="2031" y="1"/>
                      <a:pt x="0" y="3631"/>
                      <a:pt x="836" y="7107"/>
                    </a:cubicBezTo>
                    <a:cubicBezTo>
                      <a:pt x="1673" y="10583"/>
                      <a:pt x="3920" y="12214"/>
                      <a:pt x="2801" y="14481"/>
                    </a:cubicBezTo>
                    <a:cubicBezTo>
                      <a:pt x="1683" y="16748"/>
                      <a:pt x="1758" y="19346"/>
                      <a:pt x="3625" y="20834"/>
                    </a:cubicBezTo>
                    <a:cubicBezTo>
                      <a:pt x="5492" y="22322"/>
                      <a:pt x="5274" y="23905"/>
                      <a:pt x="4691" y="26272"/>
                    </a:cubicBezTo>
                    <a:cubicBezTo>
                      <a:pt x="4108" y="28637"/>
                      <a:pt x="4867" y="28925"/>
                      <a:pt x="6166" y="30492"/>
                    </a:cubicBezTo>
                    <a:cubicBezTo>
                      <a:pt x="7464" y="32061"/>
                      <a:pt x="6828" y="31907"/>
                      <a:pt x="6639" y="35341"/>
                    </a:cubicBezTo>
                    <a:cubicBezTo>
                      <a:pt x="6591" y="36230"/>
                      <a:pt x="6719" y="37144"/>
                      <a:pt x="7019" y="37975"/>
                    </a:cubicBezTo>
                    <a:lnTo>
                      <a:pt x="16639" y="37975"/>
                    </a:lnTo>
                    <a:cubicBezTo>
                      <a:pt x="16740" y="37455"/>
                      <a:pt x="16572" y="36875"/>
                      <a:pt x="15940" y="36250"/>
                    </a:cubicBezTo>
                    <a:cubicBezTo>
                      <a:pt x="13457" y="33800"/>
                      <a:pt x="12810" y="32720"/>
                      <a:pt x="13617" y="30331"/>
                    </a:cubicBezTo>
                    <a:cubicBezTo>
                      <a:pt x="14425" y="27944"/>
                      <a:pt x="15673" y="26203"/>
                      <a:pt x="13052" y="24989"/>
                    </a:cubicBezTo>
                    <a:cubicBezTo>
                      <a:pt x="10430" y="23775"/>
                      <a:pt x="11792" y="20592"/>
                      <a:pt x="12312" y="18668"/>
                    </a:cubicBezTo>
                    <a:cubicBezTo>
                      <a:pt x="12832" y="16744"/>
                      <a:pt x="10876" y="16838"/>
                      <a:pt x="9171" y="14968"/>
                    </a:cubicBezTo>
                    <a:cubicBezTo>
                      <a:pt x="7468" y="13098"/>
                      <a:pt x="9919" y="11933"/>
                      <a:pt x="8364" y="9189"/>
                    </a:cubicBezTo>
                    <a:cubicBezTo>
                      <a:pt x="6810" y="6445"/>
                      <a:pt x="2117" y="5130"/>
                      <a:pt x="2031" y="1"/>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a:off x="4024350" y="4423175"/>
                <a:ext cx="198350" cy="691500"/>
              </a:xfrm>
              <a:custGeom>
                <a:avLst/>
                <a:gdLst/>
                <a:ahLst/>
                <a:cxnLst/>
                <a:rect l="l" t="t" r="r" b="b"/>
                <a:pathLst>
                  <a:path w="7934" h="27660" extrusionOk="0">
                    <a:moveTo>
                      <a:pt x="269" y="0"/>
                    </a:moveTo>
                    <a:cubicBezTo>
                      <a:pt x="248" y="0"/>
                      <a:pt x="228" y="3"/>
                      <a:pt x="207" y="8"/>
                    </a:cubicBezTo>
                    <a:lnTo>
                      <a:pt x="203" y="11"/>
                    </a:lnTo>
                    <a:cubicBezTo>
                      <a:pt x="76" y="48"/>
                      <a:pt x="1" y="179"/>
                      <a:pt x="35" y="308"/>
                    </a:cubicBezTo>
                    <a:lnTo>
                      <a:pt x="7429" y="27660"/>
                    </a:lnTo>
                    <a:lnTo>
                      <a:pt x="7933" y="27660"/>
                    </a:lnTo>
                    <a:lnTo>
                      <a:pt x="505" y="180"/>
                    </a:lnTo>
                    <a:cubicBezTo>
                      <a:pt x="475" y="72"/>
                      <a:pt x="376" y="0"/>
                      <a:pt x="2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 name="Google Shape;652;p31"/>
            <p:cNvGrpSpPr/>
            <p:nvPr/>
          </p:nvGrpSpPr>
          <p:grpSpPr>
            <a:xfrm>
              <a:off x="3471496" y="4478818"/>
              <a:ext cx="706532" cy="702065"/>
              <a:chOff x="2957825" y="4553350"/>
              <a:chExt cx="569325" cy="565725"/>
            </a:xfrm>
          </p:grpSpPr>
          <p:sp>
            <p:nvSpPr>
              <p:cNvPr id="653" name="Google Shape;653;p31"/>
              <p:cNvSpPr/>
              <p:nvPr/>
            </p:nvSpPr>
            <p:spPr>
              <a:xfrm>
                <a:off x="2957825" y="4665700"/>
                <a:ext cx="446700" cy="453375"/>
              </a:xfrm>
              <a:custGeom>
                <a:avLst/>
                <a:gdLst/>
                <a:ahLst/>
                <a:cxnLst/>
                <a:rect l="l" t="t" r="r" b="b"/>
                <a:pathLst>
                  <a:path w="17868" h="18135" extrusionOk="0">
                    <a:moveTo>
                      <a:pt x="5366" y="1"/>
                    </a:moveTo>
                    <a:cubicBezTo>
                      <a:pt x="4921" y="1"/>
                      <a:pt x="4476" y="95"/>
                      <a:pt x="4032" y="298"/>
                    </a:cubicBezTo>
                    <a:cubicBezTo>
                      <a:pt x="0" y="2144"/>
                      <a:pt x="4705" y="9662"/>
                      <a:pt x="8522" y="14731"/>
                    </a:cubicBezTo>
                    <a:cubicBezTo>
                      <a:pt x="9215" y="15651"/>
                      <a:pt x="10215" y="16891"/>
                      <a:pt x="11239" y="18134"/>
                    </a:cubicBezTo>
                    <a:lnTo>
                      <a:pt x="17868" y="18134"/>
                    </a:lnTo>
                    <a:lnTo>
                      <a:pt x="17843" y="18077"/>
                    </a:lnTo>
                    <a:cubicBezTo>
                      <a:pt x="17583" y="17471"/>
                      <a:pt x="17264" y="16792"/>
                      <a:pt x="16879" y="16032"/>
                    </a:cubicBezTo>
                    <a:cubicBezTo>
                      <a:pt x="16879" y="16032"/>
                      <a:pt x="16223" y="14188"/>
                      <a:pt x="15129" y="11754"/>
                    </a:cubicBezTo>
                    <a:cubicBezTo>
                      <a:pt x="12996" y="7004"/>
                      <a:pt x="9201" y="1"/>
                      <a:pt x="5366"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a:off x="3146625" y="4816025"/>
                <a:ext cx="195375" cy="303050"/>
              </a:xfrm>
              <a:custGeom>
                <a:avLst/>
                <a:gdLst/>
                <a:ahLst/>
                <a:cxnLst/>
                <a:rect l="l" t="t" r="r" b="b"/>
                <a:pathLst>
                  <a:path w="7815" h="12122" extrusionOk="0">
                    <a:moveTo>
                      <a:pt x="310" y="1"/>
                    </a:moveTo>
                    <a:cubicBezTo>
                      <a:pt x="260" y="1"/>
                      <a:pt x="209" y="15"/>
                      <a:pt x="164" y="44"/>
                    </a:cubicBezTo>
                    <a:cubicBezTo>
                      <a:pt x="38" y="124"/>
                      <a:pt x="1" y="292"/>
                      <a:pt x="82" y="418"/>
                    </a:cubicBezTo>
                    <a:cubicBezTo>
                      <a:pt x="139" y="506"/>
                      <a:pt x="4494" y="7327"/>
                      <a:pt x="7190" y="12121"/>
                    </a:cubicBezTo>
                    <a:lnTo>
                      <a:pt x="7814" y="12121"/>
                    </a:lnTo>
                    <a:cubicBezTo>
                      <a:pt x="5165" y="7369"/>
                      <a:pt x="773" y="494"/>
                      <a:pt x="538" y="126"/>
                    </a:cubicBezTo>
                    <a:cubicBezTo>
                      <a:pt x="487" y="45"/>
                      <a:pt x="400" y="1"/>
                      <a:pt x="3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p:cNvSpPr/>
              <p:nvPr/>
            </p:nvSpPr>
            <p:spPr>
              <a:xfrm>
                <a:off x="3281575" y="4553350"/>
                <a:ext cx="245575" cy="565725"/>
              </a:xfrm>
              <a:custGeom>
                <a:avLst/>
                <a:gdLst/>
                <a:ahLst/>
                <a:cxnLst/>
                <a:rect l="l" t="t" r="r" b="b"/>
                <a:pathLst>
                  <a:path w="9823" h="22629" extrusionOk="0">
                    <a:moveTo>
                      <a:pt x="4444" y="1"/>
                    </a:moveTo>
                    <a:cubicBezTo>
                      <a:pt x="4440" y="1"/>
                      <a:pt x="4437" y="1"/>
                      <a:pt x="4433" y="1"/>
                    </a:cubicBezTo>
                    <a:cubicBezTo>
                      <a:pt x="0" y="12"/>
                      <a:pt x="1171" y="8803"/>
                      <a:pt x="2549" y="14997"/>
                    </a:cubicBezTo>
                    <a:cubicBezTo>
                      <a:pt x="2990" y="16978"/>
                      <a:pt x="3887" y="20258"/>
                      <a:pt x="4553" y="22628"/>
                    </a:cubicBezTo>
                    <a:lnTo>
                      <a:pt x="9623" y="22628"/>
                    </a:lnTo>
                    <a:cubicBezTo>
                      <a:pt x="9636" y="22401"/>
                      <a:pt x="9645" y="22160"/>
                      <a:pt x="9651" y="21900"/>
                    </a:cubicBezTo>
                    <a:cubicBezTo>
                      <a:pt x="9663" y="21241"/>
                      <a:pt x="9655" y="20491"/>
                      <a:pt x="9619" y="19639"/>
                    </a:cubicBezTo>
                    <a:cubicBezTo>
                      <a:pt x="9619" y="19639"/>
                      <a:pt x="9784" y="17690"/>
                      <a:pt x="9795" y="15021"/>
                    </a:cubicBezTo>
                    <a:cubicBezTo>
                      <a:pt x="9822" y="9214"/>
                      <a:pt x="9127" y="1"/>
                      <a:pt x="4444"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p:cNvSpPr/>
              <p:nvPr/>
            </p:nvSpPr>
            <p:spPr>
              <a:xfrm>
                <a:off x="3410375" y="4722425"/>
                <a:ext cx="58525" cy="396650"/>
              </a:xfrm>
              <a:custGeom>
                <a:avLst/>
                <a:gdLst/>
                <a:ahLst/>
                <a:cxnLst/>
                <a:rect l="l" t="t" r="r" b="b"/>
                <a:pathLst>
                  <a:path w="2341" h="15866" extrusionOk="0">
                    <a:moveTo>
                      <a:pt x="291" y="0"/>
                    </a:moveTo>
                    <a:cubicBezTo>
                      <a:pt x="279" y="0"/>
                      <a:pt x="266" y="1"/>
                      <a:pt x="253" y="3"/>
                    </a:cubicBezTo>
                    <a:cubicBezTo>
                      <a:pt x="104" y="24"/>
                      <a:pt x="1" y="162"/>
                      <a:pt x="22" y="309"/>
                    </a:cubicBezTo>
                    <a:cubicBezTo>
                      <a:pt x="39" y="427"/>
                      <a:pt x="1492" y="10606"/>
                      <a:pt x="1795" y="15865"/>
                    </a:cubicBezTo>
                    <a:lnTo>
                      <a:pt x="2340" y="15865"/>
                    </a:lnTo>
                    <a:cubicBezTo>
                      <a:pt x="2044" y="10638"/>
                      <a:pt x="628" y="714"/>
                      <a:pt x="559" y="233"/>
                    </a:cubicBezTo>
                    <a:cubicBezTo>
                      <a:pt x="540" y="97"/>
                      <a:pt x="424" y="0"/>
                      <a:pt x="2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p:cNvGrpSpPr/>
            <p:nvPr/>
          </p:nvGrpSpPr>
          <p:grpSpPr>
            <a:xfrm>
              <a:off x="4704470" y="4478833"/>
              <a:ext cx="706501" cy="702065"/>
              <a:chOff x="4791175" y="4530525"/>
              <a:chExt cx="569300" cy="565725"/>
            </a:xfrm>
          </p:grpSpPr>
          <p:sp>
            <p:nvSpPr>
              <p:cNvPr id="658" name="Google Shape;658;p31"/>
              <p:cNvSpPr/>
              <p:nvPr/>
            </p:nvSpPr>
            <p:spPr>
              <a:xfrm>
                <a:off x="4913775" y="4642875"/>
                <a:ext cx="446700" cy="453375"/>
              </a:xfrm>
              <a:custGeom>
                <a:avLst/>
                <a:gdLst/>
                <a:ahLst/>
                <a:cxnLst/>
                <a:rect l="l" t="t" r="r" b="b"/>
                <a:pathLst>
                  <a:path w="17868" h="18135" extrusionOk="0">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a:off x="4976325" y="4793200"/>
                <a:ext cx="195375" cy="303050"/>
              </a:xfrm>
              <a:custGeom>
                <a:avLst/>
                <a:gdLst/>
                <a:ahLst/>
                <a:cxnLst/>
                <a:rect l="l" t="t" r="r" b="b"/>
                <a:pathLst>
                  <a:path w="7815" h="12122" extrusionOk="0">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p:cNvSpPr/>
              <p:nvPr/>
            </p:nvSpPr>
            <p:spPr>
              <a:xfrm>
                <a:off x="4791175" y="4530525"/>
                <a:ext cx="245600" cy="565725"/>
              </a:xfrm>
              <a:custGeom>
                <a:avLst/>
                <a:gdLst/>
                <a:ahLst/>
                <a:cxnLst/>
                <a:rect l="l" t="t" r="r" b="b"/>
                <a:pathLst>
                  <a:path w="9824" h="22629" extrusionOk="0">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p:cNvSpPr/>
              <p:nvPr/>
            </p:nvSpPr>
            <p:spPr>
              <a:xfrm>
                <a:off x="4849450" y="4699600"/>
                <a:ext cx="58500" cy="396650"/>
              </a:xfrm>
              <a:custGeom>
                <a:avLst/>
                <a:gdLst/>
                <a:ahLst/>
                <a:cxnLst/>
                <a:rect l="l" t="t" r="r" b="b"/>
                <a:pathLst>
                  <a:path w="2340" h="15866" extrusionOk="0">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 name="Google Shape;662;p31"/>
            <p:cNvGrpSpPr/>
            <p:nvPr/>
          </p:nvGrpSpPr>
          <p:grpSpPr>
            <a:xfrm>
              <a:off x="4461512" y="4981934"/>
              <a:ext cx="200266" cy="198963"/>
              <a:chOff x="4449850" y="4905150"/>
              <a:chExt cx="161375" cy="160325"/>
            </a:xfrm>
          </p:grpSpPr>
          <p:sp>
            <p:nvSpPr>
              <p:cNvPr id="663" name="Google Shape;663;p31"/>
              <p:cNvSpPr/>
              <p:nvPr/>
            </p:nvSpPr>
            <p:spPr>
              <a:xfrm>
                <a:off x="4449850" y="4936975"/>
                <a:ext cx="124050" cy="128500"/>
              </a:xfrm>
              <a:custGeom>
                <a:avLst/>
                <a:gdLst/>
                <a:ahLst/>
                <a:cxnLst/>
                <a:rect l="l" t="t" r="r" b="b"/>
                <a:pathLst>
                  <a:path w="4962" h="5140" extrusionOk="0">
                    <a:moveTo>
                      <a:pt x="1522" y="1"/>
                    </a:moveTo>
                    <a:cubicBezTo>
                      <a:pt x="1396" y="1"/>
                      <a:pt x="1269" y="28"/>
                      <a:pt x="1144" y="85"/>
                    </a:cubicBezTo>
                    <a:cubicBezTo>
                      <a:pt x="1" y="608"/>
                      <a:pt x="1334" y="2738"/>
                      <a:pt x="2417" y="4175"/>
                    </a:cubicBezTo>
                    <a:cubicBezTo>
                      <a:pt x="2612" y="4435"/>
                      <a:pt x="2896" y="4786"/>
                      <a:pt x="3187" y="5140"/>
                    </a:cubicBezTo>
                    <a:lnTo>
                      <a:pt x="4962" y="5140"/>
                    </a:lnTo>
                    <a:cubicBezTo>
                      <a:pt x="4914" y="4970"/>
                      <a:pt x="4862" y="4784"/>
                      <a:pt x="4809" y="4591"/>
                    </a:cubicBezTo>
                    <a:cubicBezTo>
                      <a:pt x="4800" y="4576"/>
                      <a:pt x="4793" y="4559"/>
                      <a:pt x="4786" y="4544"/>
                    </a:cubicBezTo>
                    <a:cubicBezTo>
                      <a:pt x="4786" y="4544"/>
                      <a:pt x="4599" y="4021"/>
                      <a:pt x="4289" y="3331"/>
                    </a:cubicBezTo>
                    <a:cubicBezTo>
                      <a:pt x="3685" y="1986"/>
                      <a:pt x="2609" y="1"/>
                      <a:pt x="1522"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p:cNvSpPr/>
              <p:nvPr/>
            </p:nvSpPr>
            <p:spPr>
              <a:xfrm>
                <a:off x="4541625" y="4905150"/>
                <a:ext cx="69600" cy="160325"/>
              </a:xfrm>
              <a:custGeom>
                <a:avLst/>
                <a:gdLst/>
                <a:ahLst/>
                <a:cxnLst/>
                <a:rect l="l" t="t" r="r" b="b"/>
                <a:pathLst>
                  <a:path w="2784" h="6413" extrusionOk="0">
                    <a:moveTo>
                      <a:pt x="1260" y="0"/>
                    </a:moveTo>
                    <a:cubicBezTo>
                      <a:pt x="1259" y="0"/>
                      <a:pt x="1257" y="0"/>
                      <a:pt x="1256" y="0"/>
                    </a:cubicBezTo>
                    <a:cubicBezTo>
                      <a:pt x="0" y="3"/>
                      <a:pt x="332" y="2495"/>
                      <a:pt x="722" y="4250"/>
                    </a:cubicBezTo>
                    <a:cubicBezTo>
                      <a:pt x="816" y="4670"/>
                      <a:pt x="982" y="5294"/>
                      <a:pt x="1138" y="5865"/>
                    </a:cubicBezTo>
                    <a:cubicBezTo>
                      <a:pt x="1237" y="6061"/>
                      <a:pt x="1319" y="6238"/>
                      <a:pt x="1388" y="6397"/>
                    </a:cubicBezTo>
                    <a:cubicBezTo>
                      <a:pt x="1389" y="6401"/>
                      <a:pt x="1391" y="6408"/>
                      <a:pt x="1394" y="6413"/>
                    </a:cubicBezTo>
                    <a:lnTo>
                      <a:pt x="2727" y="6413"/>
                    </a:lnTo>
                    <a:cubicBezTo>
                      <a:pt x="2731" y="6349"/>
                      <a:pt x="2733" y="6280"/>
                      <a:pt x="2735" y="6207"/>
                    </a:cubicBezTo>
                    <a:cubicBezTo>
                      <a:pt x="2738" y="6020"/>
                      <a:pt x="2736" y="5807"/>
                      <a:pt x="2726" y="5565"/>
                    </a:cubicBezTo>
                    <a:cubicBezTo>
                      <a:pt x="2726" y="5565"/>
                      <a:pt x="2773" y="5013"/>
                      <a:pt x="2777" y="4256"/>
                    </a:cubicBezTo>
                    <a:cubicBezTo>
                      <a:pt x="2784" y="2611"/>
                      <a:pt x="2587" y="0"/>
                      <a:pt x="1260" y="0"/>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5" name="Google Shape;665;p31"/>
          <p:cNvGrpSpPr/>
          <p:nvPr/>
        </p:nvGrpSpPr>
        <p:grpSpPr>
          <a:xfrm rot="10800000">
            <a:off x="-5" y="8"/>
            <a:ext cx="3011494" cy="1628002"/>
            <a:chOff x="3471496" y="4002724"/>
            <a:chExt cx="2179241" cy="1178175"/>
          </a:xfrm>
        </p:grpSpPr>
        <p:sp>
          <p:nvSpPr>
            <p:cNvPr id="666" name="Google Shape;666;p31"/>
            <p:cNvSpPr/>
            <p:nvPr/>
          </p:nvSpPr>
          <p:spPr>
            <a:xfrm>
              <a:off x="4792403" y="5020593"/>
              <a:ext cx="7942" cy="17064"/>
            </a:xfrm>
            <a:custGeom>
              <a:avLst/>
              <a:gdLst/>
              <a:ahLst/>
              <a:cxnLst/>
              <a:rect l="l" t="t" r="r" b="b"/>
              <a:pathLst>
                <a:path w="256" h="550" extrusionOk="0">
                  <a:moveTo>
                    <a:pt x="0" y="1"/>
                  </a:moveTo>
                  <a:lnTo>
                    <a:pt x="0" y="1"/>
                  </a:lnTo>
                  <a:cubicBezTo>
                    <a:pt x="53" y="194"/>
                    <a:pt x="105" y="380"/>
                    <a:pt x="153" y="550"/>
                  </a:cubicBezTo>
                  <a:lnTo>
                    <a:pt x="256" y="550"/>
                  </a:lnTo>
                  <a:cubicBezTo>
                    <a:pt x="253" y="543"/>
                    <a:pt x="251" y="538"/>
                    <a:pt x="250" y="534"/>
                  </a:cubicBezTo>
                  <a:cubicBezTo>
                    <a:pt x="181" y="375"/>
                    <a:pt x="99" y="198"/>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7" name="Google Shape;667;p31"/>
            <p:cNvGrpSpPr/>
            <p:nvPr/>
          </p:nvGrpSpPr>
          <p:grpSpPr>
            <a:xfrm>
              <a:off x="5131348" y="4002725"/>
              <a:ext cx="519390" cy="1178174"/>
              <a:chOff x="5599250" y="4194125"/>
              <a:chExt cx="418525" cy="949375"/>
            </a:xfrm>
          </p:grpSpPr>
          <p:sp>
            <p:nvSpPr>
              <p:cNvPr id="668" name="Google Shape;668;p31"/>
              <p:cNvSpPr/>
              <p:nvPr/>
            </p:nvSpPr>
            <p:spPr>
              <a:xfrm>
                <a:off x="5599250" y="4194125"/>
                <a:ext cx="418525" cy="949375"/>
              </a:xfrm>
              <a:custGeom>
                <a:avLst/>
                <a:gdLst/>
                <a:ahLst/>
                <a:cxnLst/>
                <a:rect l="l" t="t" r="r" b="b"/>
                <a:pathLst>
                  <a:path w="16741" h="37975" extrusionOk="0">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1"/>
              <p:cNvSpPr/>
              <p:nvPr/>
            </p:nvSpPr>
            <p:spPr>
              <a:xfrm>
                <a:off x="5709300" y="4452000"/>
                <a:ext cx="198375" cy="691500"/>
              </a:xfrm>
              <a:custGeom>
                <a:avLst/>
                <a:gdLst/>
                <a:ahLst/>
                <a:cxnLst/>
                <a:rect l="l" t="t" r="r" b="b"/>
                <a:pathLst>
                  <a:path w="7935" h="27660" extrusionOk="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1"/>
            <p:cNvGrpSpPr/>
            <p:nvPr/>
          </p:nvGrpSpPr>
          <p:grpSpPr>
            <a:xfrm>
              <a:off x="4067725" y="4002724"/>
              <a:ext cx="519358" cy="1178174"/>
              <a:chOff x="3914250" y="4165300"/>
              <a:chExt cx="418500" cy="949375"/>
            </a:xfrm>
          </p:grpSpPr>
          <p:sp>
            <p:nvSpPr>
              <p:cNvPr id="671" name="Google Shape;671;p31"/>
              <p:cNvSpPr/>
              <p:nvPr/>
            </p:nvSpPr>
            <p:spPr>
              <a:xfrm>
                <a:off x="3914250" y="4165300"/>
                <a:ext cx="418500" cy="949375"/>
              </a:xfrm>
              <a:custGeom>
                <a:avLst/>
                <a:gdLst/>
                <a:ahLst/>
                <a:cxnLst/>
                <a:rect l="l" t="t" r="r" b="b"/>
                <a:pathLst>
                  <a:path w="16740" h="37975" extrusionOk="0">
                    <a:moveTo>
                      <a:pt x="2031" y="1"/>
                    </a:moveTo>
                    <a:cubicBezTo>
                      <a:pt x="2031" y="1"/>
                      <a:pt x="0" y="3631"/>
                      <a:pt x="836" y="7107"/>
                    </a:cubicBezTo>
                    <a:cubicBezTo>
                      <a:pt x="1673" y="10583"/>
                      <a:pt x="3920" y="12214"/>
                      <a:pt x="2801" y="14481"/>
                    </a:cubicBezTo>
                    <a:cubicBezTo>
                      <a:pt x="1683" y="16748"/>
                      <a:pt x="1758" y="19346"/>
                      <a:pt x="3625" y="20834"/>
                    </a:cubicBezTo>
                    <a:cubicBezTo>
                      <a:pt x="5492" y="22322"/>
                      <a:pt x="5274" y="23905"/>
                      <a:pt x="4691" y="26272"/>
                    </a:cubicBezTo>
                    <a:cubicBezTo>
                      <a:pt x="4108" y="28637"/>
                      <a:pt x="4867" y="28925"/>
                      <a:pt x="6166" y="30492"/>
                    </a:cubicBezTo>
                    <a:cubicBezTo>
                      <a:pt x="7464" y="32061"/>
                      <a:pt x="6828" y="31907"/>
                      <a:pt x="6639" y="35341"/>
                    </a:cubicBezTo>
                    <a:cubicBezTo>
                      <a:pt x="6591" y="36230"/>
                      <a:pt x="6719" y="37144"/>
                      <a:pt x="7019" y="37975"/>
                    </a:cubicBezTo>
                    <a:lnTo>
                      <a:pt x="16639" y="37975"/>
                    </a:lnTo>
                    <a:cubicBezTo>
                      <a:pt x="16740" y="37455"/>
                      <a:pt x="16572" y="36875"/>
                      <a:pt x="15940" y="36250"/>
                    </a:cubicBezTo>
                    <a:cubicBezTo>
                      <a:pt x="13457" y="33800"/>
                      <a:pt x="12810" y="32720"/>
                      <a:pt x="13617" y="30331"/>
                    </a:cubicBezTo>
                    <a:cubicBezTo>
                      <a:pt x="14425" y="27944"/>
                      <a:pt x="15673" y="26203"/>
                      <a:pt x="13052" y="24989"/>
                    </a:cubicBezTo>
                    <a:cubicBezTo>
                      <a:pt x="10430" y="23775"/>
                      <a:pt x="11792" y="20592"/>
                      <a:pt x="12312" y="18668"/>
                    </a:cubicBezTo>
                    <a:cubicBezTo>
                      <a:pt x="12832" y="16744"/>
                      <a:pt x="10876" y="16838"/>
                      <a:pt x="9171" y="14968"/>
                    </a:cubicBezTo>
                    <a:cubicBezTo>
                      <a:pt x="7468" y="13098"/>
                      <a:pt x="9919" y="11933"/>
                      <a:pt x="8364" y="9189"/>
                    </a:cubicBezTo>
                    <a:cubicBezTo>
                      <a:pt x="6810" y="6445"/>
                      <a:pt x="2117" y="5130"/>
                      <a:pt x="2031" y="1"/>
                    </a:cubicBezTo>
                    <a:close/>
                  </a:path>
                </a:pathLst>
              </a:custGeom>
              <a:gradFill>
                <a:gsLst>
                  <a:gs pos="0">
                    <a:schemeClr val="accent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p:cNvSpPr/>
              <p:nvPr/>
            </p:nvSpPr>
            <p:spPr>
              <a:xfrm>
                <a:off x="4024350" y="4423175"/>
                <a:ext cx="198350" cy="691500"/>
              </a:xfrm>
              <a:custGeom>
                <a:avLst/>
                <a:gdLst/>
                <a:ahLst/>
                <a:cxnLst/>
                <a:rect l="l" t="t" r="r" b="b"/>
                <a:pathLst>
                  <a:path w="7934" h="27660" extrusionOk="0">
                    <a:moveTo>
                      <a:pt x="269" y="0"/>
                    </a:moveTo>
                    <a:cubicBezTo>
                      <a:pt x="248" y="0"/>
                      <a:pt x="228" y="3"/>
                      <a:pt x="207" y="8"/>
                    </a:cubicBezTo>
                    <a:lnTo>
                      <a:pt x="203" y="11"/>
                    </a:lnTo>
                    <a:cubicBezTo>
                      <a:pt x="76" y="48"/>
                      <a:pt x="1" y="179"/>
                      <a:pt x="35" y="308"/>
                    </a:cubicBezTo>
                    <a:lnTo>
                      <a:pt x="7429" y="27660"/>
                    </a:lnTo>
                    <a:lnTo>
                      <a:pt x="7933" y="27660"/>
                    </a:lnTo>
                    <a:lnTo>
                      <a:pt x="505" y="180"/>
                    </a:lnTo>
                    <a:cubicBezTo>
                      <a:pt x="475" y="72"/>
                      <a:pt x="376" y="0"/>
                      <a:pt x="2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31"/>
            <p:cNvGrpSpPr/>
            <p:nvPr/>
          </p:nvGrpSpPr>
          <p:grpSpPr>
            <a:xfrm>
              <a:off x="3471496" y="4478818"/>
              <a:ext cx="706532" cy="702065"/>
              <a:chOff x="2957825" y="4553350"/>
              <a:chExt cx="569325" cy="565725"/>
            </a:xfrm>
          </p:grpSpPr>
          <p:sp>
            <p:nvSpPr>
              <p:cNvPr id="674" name="Google Shape;674;p31"/>
              <p:cNvSpPr/>
              <p:nvPr/>
            </p:nvSpPr>
            <p:spPr>
              <a:xfrm>
                <a:off x="2957825" y="4665700"/>
                <a:ext cx="446700" cy="453375"/>
              </a:xfrm>
              <a:custGeom>
                <a:avLst/>
                <a:gdLst/>
                <a:ahLst/>
                <a:cxnLst/>
                <a:rect l="l" t="t" r="r" b="b"/>
                <a:pathLst>
                  <a:path w="17868" h="18135" extrusionOk="0">
                    <a:moveTo>
                      <a:pt x="5366" y="1"/>
                    </a:moveTo>
                    <a:cubicBezTo>
                      <a:pt x="4921" y="1"/>
                      <a:pt x="4476" y="95"/>
                      <a:pt x="4032" y="298"/>
                    </a:cubicBezTo>
                    <a:cubicBezTo>
                      <a:pt x="0" y="2144"/>
                      <a:pt x="4705" y="9662"/>
                      <a:pt x="8522" y="14731"/>
                    </a:cubicBezTo>
                    <a:cubicBezTo>
                      <a:pt x="9215" y="15651"/>
                      <a:pt x="10215" y="16891"/>
                      <a:pt x="11239" y="18134"/>
                    </a:cubicBezTo>
                    <a:lnTo>
                      <a:pt x="17868" y="18134"/>
                    </a:lnTo>
                    <a:lnTo>
                      <a:pt x="17843" y="18077"/>
                    </a:lnTo>
                    <a:cubicBezTo>
                      <a:pt x="17583" y="17471"/>
                      <a:pt x="17264" y="16792"/>
                      <a:pt x="16879" y="16032"/>
                    </a:cubicBezTo>
                    <a:cubicBezTo>
                      <a:pt x="16879" y="16032"/>
                      <a:pt x="16223" y="14188"/>
                      <a:pt x="15129" y="11754"/>
                    </a:cubicBezTo>
                    <a:cubicBezTo>
                      <a:pt x="12996" y="7004"/>
                      <a:pt x="9201" y="1"/>
                      <a:pt x="5366"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1"/>
              <p:cNvSpPr/>
              <p:nvPr/>
            </p:nvSpPr>
            <p:spPr>
              <a:xfrm>
                <a:off x="3146625" y="4816025"/>
                <a:ext cx="195375" cy="303050"/>
              </a:xfrm>
              <a:custGeom>
                <a:avLst/>
                <a:gdLst/>
                <a:ahLst/>
                <a:cxnLst/>
                <a:rect l="l" t="t" r="r" b="b"/>
                <a:pathLst>
                  <a:path w="7815" h="12122" extrusionOk="0">
                    <a:moveTo>
                      <a:pt x="310" y="1"/>
                    </a:moveTo>
                    <a:cubicBezTo>
                      <a:pt x="260" y="1"/>
                      <a:pt x="209" y="15"/>
                      <a:pt x="164" y="44"/>
                    </a:cubicBezTo>
                    <a:cubicBezTo>
                      <a:pt x="38" y="124"/>
                      <a:pt x="1" y="292"/>
                      <a:pt x="82" y="418"/>
                    </a:cubicBezTo>
                    <a:cubicBezTo>
                      <a:pt x="139" y="506"/>
                      <a:pt x="4494" y="7327"/>
                      <a:pt x="7190" y="12121"/>
                    </a:cubicBezTo>
                    <a:lnTo>
                      <a:pt x="7814" y="12121"/>
                    </a:lnTo>
                    <a:cubicBezTo>
                      <a:pt x="5165" y="7369"/>
                      <a:pt x="773" y="494"/>
                      <a:pt x="538" y="126"/>
                    </a:cubicBezTo>
                    <a:cubicBezTo>
                      <a:pt x="487" y="45"/>
                      <a:pt x="400" y="1"/>
                      <a:pt x="3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1"/>
              <p:cNvSpPr/>
              <p:nvPr/>
            </p:nvSpPr>
            <p:spPr>
              <a:xfrm>
                <a:off x="3281575" y="4553350"/>
                <a:ext cx="245575" cy="565725"/>
              </a:xfrm>
              <a:custGeom>
                <a:avLst/>
                <a:gdLst/>
                <a:ahLst/>
                <a:cxnLst/>
                <a:rect l="l" t="t" r="r" b="b"/>
                <a:pathLst>
                  <a:path w="9823" h="22629" extrusionOk="0">
                    <a:moveTo>
                      <a:pt x="4444" y="1"/>
                    </a:moveTo>
                    <a:cubicBezTo>
                      <a:pt x="4440" y="1"/>
                      <a:pt x="4437" y="1"/>
                      <a:pt x="4433" y="1"/>
                    </a:cubicBezTo>
                    <a:cubicBezTo>
                      <a:pt x="0" y="12"/>
                      <a:pt x="1171" y="8803"/>
                      <a:pt x="2549" y="14997"/>
                    </a:cubicBezTo>
                    <a:cubicBezTo>
                      <a:pt x="2990" y="16978"/>
                      <a:pt x="3887" y="20258"/>
                      <a:pt x="4553" y="22628"/>
                    </a:cubicBezTo>
                    <a:lnTo>
                      <a:pt x="9623" y="22628"/>
                    </a:lnTo>
                    <a:cubicBezTo>
                      <a:pt x="9636" y="22401"/>
                      <a:pt x="9645" y="22160"/>
                      <a:pt x="9651" y="21900"/>
                    </a:cubicBezTo>
                    <a:cubicBezTo>
                      <a:pt x="9663" y="21241"/>
                      <a:pt x="9655" y="20491"/>
                      <a:pt x="9619" y="19639"/>
                    </a:cubicBezTo>
                    <a:cubicBezTo>
                      <a:pt x="9619" y="19639"/>
                      <a:pt x="9784" y="17690"/>
                      <a:pt x="9795" y="15021"/>
                    </a:cubicBezTo>
                    <a:cubicBezTo>
                      <a:pt x="9822" y="9214"/>
                      <a:pt x="9127" y="1"/>
                      <a:pt x="4444"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1"/>
              <p:cNvSpPr/>
              <p:nvPr/>
            </p:nvSpPr>
            <p:spPr>
              <a:xfrm>
                <a:off x="3410375" y="4722425"/>
                <a:ext cx="58525" cy="396650"/>
              </a:xfrm>
              <a:custGeom>
                <a:avLst/>
                <a:gdLst/>
                <a:ahLst/>
                <a:cxnLst/>
                <a:rect l="l" t="t" r="r" b="b"/>
                <a:pathLst>
                  <a:path w="2341" h="15866" extrusionOk="0">
                    <a:moveTo>
                      <a:pt x="291" y="0"/>
                    </a:moveTo>
                    <a:cubicBezTo>
                      <a:pt x="279" y="0"/>
                      <a:pt x="266" y="1"/>
                      <a:pt x="253" y="3"/>
                    </a:cubicBezTo>
                    <a:cubicBezTo>
                      <a:pt x="104" y="24"/>
                      <a:pt x="1" y="162"/>
                      <a:pt x="22" y="309"/>
                    </a:cubicBezTo>
                    <a:cubicBezTo>
                      <a:pt x="39" y="427"/>
                      <a:pt x="1492" y="10606"/>
                      <a:pt x="1795" y="15865"/>
                    </a:cubicBezTo>
                    <a:lnTo>
                      <a:pt x="2340" y="15865"/>
                    </a:lnTo>
                    <a:cubicBezTo>
                      <a:pt x="2044" y="10638"/>
                      <a:pt x="628" y="714"/>
                      <a:pt x="559" y="233"/>
                    </a:cubicBezTo>
                    <a:cubicBezTo>
                      <a:pt x="540" y="97"/>
                      <a:pt x="424" y="0"/>
                      <a:pt x="2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8" name="Google Shape;678;p31"/>
            <p:cNvGrpSpPr/>
            <p:nvPr/>
          </p:nvGrpSpPr>
          <p:grpSpPr>
            <a:xfrm>
              <a:off x="4704470" y="4478833"/>
              <a:ext cx="706501" cy="702065"/>
              <a:chOff x="4791175" y="4530525"/>
              <a:chExt cx="569300" cy="565725"/>
            </a:xfrm>
          </p:grpSpPr>
          <p:sp>
            <p:nvSpPr>
              <p:cNvPr id="679" name="Google Shape;679;p31"/>
              <p:cNvSpPr/>
              <p:nvPr/>
            </p:nvSpPr>
            <p:spPr>
              <a:xfrm>
                <a:off x="4913775" y="4642875"/>
                <a:ext cx="446700" cy="453375"/>
              </a:xfrm>
              <a:custGeom>
                <a:avLst/>
                <a:gdLst/>
                <a:ahLst/>
                <a:cxnLst/>
                <a:rect l="l" t="t" r="r" b="b"/>
                <a:pathLst>
                  <a:path w="17868" h="18135" extrusionOk="0">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1"/>
              <p:cNvSpPr/>
              <p:nvPr/>
            </p:nvSpPr>
            <p:spPr>
              <a:xfrm>
                <a:off x="4976325" y="4793200"/>
                <a:ext cx="195375" cy="303050"/>
              </a:xfrm>
              <a:custGeom>
                <a:avLst/>
                <a:gdLst/>
                <a:ahLst/>
                <a:cxnLst/>
                <a:rect l="l" t="t" r="r" b="b"/>
                <a:pathLst>
                  <a:path w="7815" h="12122" extrusionOk="0">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1"/>
              <p:cNvSpPr/>
              <p:nvPr/>
            </p:nvSpPr>
            <p:spPr>
              <a:xfrm>
                <a:off x="4791175" y="4530525"/>
                <a:ext cx="245600" cy="565725"/>
              </a:xfrm>
              <a:custGeom>
                <a:avLst/>
                <a:gdLst/>
                <a:ahLst/>
                <a:cxnLst/>
                <a:rect l="l" t="t" r="r" b="b"/>
                <a:pathLst>
                  <a:path w="9824" h="22629" extrusionOk="0">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1"/>
              <p:cNvSpPr/>
              <p:nvPr/>
            </p:nvSpPr>
            <p:spPr>
              <a:xfrm>
                <a:off x="4849450" y="4699600"/>
                <a:ext cx="58500" cy="396650"/>
              </a:xfrm>
              <a:custGeom>
                <a:avLst/>
                <a:gdLst/>
                <a:ahLst/>
                <a:cxnLst/>
                <a:rect l="l" t="t" r="r" b="b"/>
                <a:pathLst>
                  <a:path w="2340" h="15866" extrusionOk="0">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31"/>
            <p:cNvGrpSpPr/>
            <p:nvPr/>
          </p:nvGrpSpPr>
          <p:grpSpPr>
            <a:xfrm>
              <a:off x="4461512" y="4981934"/>
              <a:ext cx="200266" cy="198963"/>
              <a:chOff x="4449850" y="4905150"/>
              <a:chExt cx="161375" cy="160325"/>
            </a:xfrm>
          </p:grpSpPr>
          <p:sp>
            <p:nvSpPr>
              <p:cNvPr id="684" name="Google Shape;684;p31"/>
              <p:cNvSpPr/>
              <p:nvPr/>
            </p:nvSpPr>
            <p:spPr>
              <a:xfrm>
                <a:off x="4449850" y="4936975"/>
                <a:ext cx="124050" cy="128500"/>
              </a:xfrm>
              <a:custGeom>
                <a:avLst/>
                <a:gdLst/>
                <a:ahLst/>
                <a:cxnLst/>
                <a:rect l="l" t="t" r="r" b="b"/>
                <a:pathLst>
                  <a:path w="4962" h="5140" extrusionOk="0">
                    <a:moveTo>
                      <a:pt x="1522" y="1"/>
                    </a:moveTo>
                    <a:cubicBezTo>
                      <a:pt x="1396" y="1"/>
                      <a:pt x="1269" y="28"/>
                      <a:pt x="1144" y="85"/>
                    </a:cubicBezTo>
                    <a:cubicBezTo>
                      <a:pt x="1" y="608"/>
                      <a:pt x="1334" y="2738"/>
                      <a:pt x="2417" y="4175"/>
                    </a:cubicBezTo>
                    <a:cubicBezTo>
                      <a:pt x="2612" y="4435"/>
                      <a:pt x="2896" y="4786"/>
                      <a:pt x="3187" y="5140"/>
                    </a:cubicBezTo>
                    <a:lnTo>
                      <a:pt x="4962" y="5140"/>
                    </a:lnTo>
                    <a:cubicBezTo>
                      <a:pt x="4914" y="4970"/>
                      <a:pt x="4862" y="4784"/>
                      <a:pt x="4809" y="4591"/>
                    </a:cubicBezTo>
                    <a:cubicBezTo>
                      <a:pt x="4800" y="4576"/>
                      <a:pt x="4793" y="4559"/>
                      <a:pt x="4786" y="4544"/>
                    </a:cubicBezTo>
                    <a:cubicBezTo>
                      <a:pt x="4786" y="4544"/>
                      <a:pt x="4599" y="4021"/>
                      <a:pt x="4289" y="3331"/>
                    </a:cubicBezTo>
                    <a:cubicBezTo>
                      <a:pt x="3685" y="1986"/>
                      <a:pt x="2609" y="1"/>
                      <a:pt x="1522" y="1"/>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1"/>
              <p:cNvSpPr/>
              <p:nvPr/>
            </p:nvSpPr>
            <p:spPr>
              <a:xfrm>
                <a:off x="4541625" y="4905150"/>
                <a:ext cx="69600" cy="160325"/>
              </a:xfrm>
              <a:custGeom>
                <a:avLst/>
                <a:gdLst/>
                <a:ahLst/>
                <a:cxnLst/>
                <a:rect l="l" t="t" r="r" b="b"/>
                <a:pathLst>
                  <a:path w="2784" h="6413" extrusionOk="0">
                    <a:moveTo>
                      <a:pt x="1260" y="0"/>
                    </a:moveTo>
                    <a:cubicBezTo>
                      <a:pt x="1259" y="0"/>
                      <a:pt x="1257" y="0"/>
                      <a:pt x="1256" y="0"/>
                    </a:cubicBezTo>
                    <a:cubicBezTo>
                      <a:pt x="0" y="3"/>
                      <a:pt x="332" y="2495"/>
                      <a:pt x="722" y="4250"/>
                    </a:cubicBezTo>
                    <a:cubicBezTo>
                      <a:pt x="816" y="4670"/>
                      <a:pt x="982" y="5294"/>
                      <a:pt x="1138" y="5865"/>
                    </a:cubicBezTo>
                    <a:cubicBezTo>
                      <a:pt x="1237" y="6061"/>
                      <a:pt x="1319" y="6238"/>
                      <a:pt x="1388" y="6397"/>
                    </a:cubicBezTo>
                    <a:cubicBezTo>
                      <a:pt x="1389" y="6401"/>
                      <a:pt x="1391" y="6408"/>
                      <a:pt x="1394" y="6413"/>
                    </a:cubicBezTo>
                    <a:lnTo>
                      <a:pt x="2727" y="6413"/>
                    </a:lnTo>
                    <a:cubicBezTo>
                      <a:pt x="2731" y="6349"/>
                      <a:pt x="2733" y="6280"/>
                      <a:pt x="2735" y="6207"/>
                    </a:cubicBezTo>
                    <a:cubicBezTo>
                      <a:pt x="2738" y="6020"/>
                      <a:pt x="2736" y="5807"/>
                      <a:pt x="2726" y="5565"/>
                    </a:cubicBezTo>
                    <a:cubicBezTo>
                      <a:pt x="2726" y="5565"/>
                      <a:pt x="2773" y="5013"/>
                      <a:pt x="2777" y="4256"/>
                    </a:cubicBezTo>
                    <a:cubicBezTo>
                      <a:pt x="2784" y="2611"/>
                      <a:pt x="2587" y="0"/>
                      <a:pt x="1260" y="0"/>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2_1_1_1_1_1_1">
    <p:spTree>
      <p:nvGrpSpPr>
        <p:cNvPr id="1" name="Shape 686"/>
        <p:cNvGrpSpPr/>
        <p:nvPr/>
      </p:nvGrpSpPr>
      <p:grpSpPr>
        <a:xfrm>
          <a:off x="0" y="0"/>
          <a:ext cx="0" cy="0"/>
          <a:chOff x="0" y="0"/>
          <a:chExt cx="0" cy="0"/>
        </a:xfrm>
      </p:grpSpPr>
      <p:sp>
        <p:nvSpPr>
          <p:cNvPr id="687" name="Google Shape;687;p32"/>
          <p:cNvSpPr/>
          <p:nvPr/>
        </p:nvSpPr>
        <p:spPr>
          <a:xfrm flipH="1">
            <a:off x="-521869" y="-704675"/>
            <a:ext cx="6303544" cy="6552854"/>
          </a:xfrm>
          <a:custGeom>
            <a:avLst/>
            <a:gdLst/>
            <a:ahLst/>
            <a:cxnLst/>
            <a:rect l="l" t="t" r="r" b="b"/>
            <a:pathLst>
              <a:path w="102915" h="106981" extrusionOk="0">
                <a:moveTo>
                  <a:pt x="48176" y="23563"/>
                </a:moveTo>
                <a:cubicBezTo>
                  <a:pt x="40629" y="30982"/>
                  <a:pt x="27211" y="27127"/>
                  <a:pt x="18351" y="32915"/>
                </a:cubicBezTo>
                <a:cubicBezTo>
                  <a:pt x="12190" y="36939"/>
                  <a:pt x="9654" y="44822"/>
                  <a:pt x="9452" y="52177"/>
                </a:cubicBezTo>
                <a:cubicBezTo>
                  <a:pt x="9250" y="59534"/>
                  <a:pt x="10925" y="66819"/>
                  <a:pt x="11136" y="74174"/>
                </a:cubicBezTo>
                <a:cubicBezTo>
                  <a:pt x="11346" y="81530"/>
                  <a:pt x="9782" y="89484"/>
                  <a:pt x="4380" y="94482"/>
                </a:cubicBezTo>
                <a:cubicBezTo>
                  <a:pt x="2853" y="95893"/>
                  <a:pt x="954" y="97197"/>
                  <a:pt x="505" y="99228"/>
                </a:cubicBezTo>
                <a:cubicBezTo>
                  <a:pt x="0" y="101505"/>
                  <a:pt x="1660" y="103817"/>
                  <a:pt x="3754" y="104845"/>
                </a:cubicBezTo>
                <a:cubicBezTo>
                  <a:pt x="5847" y="105875"/>
                  <a:pt x="8269" y="105926"/>
                  <a:pt x="10602" y="105955"/>
                </a:cubicBezTo>
                <a:lnTo>
                  <a:pt x="84849" y="106922"/>
                </a:lnTo>
                <a:cubicBezTo>
                  <a:pt x="89336" y="106980"/>
                  <a:pt x="94217" y="106911"/>
                  <a:pt x="97734" y="104123"/>
                </a:cubicBezTo>
                <a:cubicBezTo>
                  <a:pt x="102359" y="100458"/>
                  <a:pt x="102760" y="93706"/>
                  <a:pt x="102772" y="87805"/>
                </a:cubicBezTo>
                <a:cubicBezTo>
                  <a:pt x="102816" y="65067"/>
                  <a:pt x="102861" y="42329"/>
                  <a:pt x="102907" y="19591"/>
                </a:cubicBezTo>
                <a:cubicBezTo>
                  <a:pt x="102914" y="15283"/>
                  <a:pt x="102717" y="10461"/>
                  <a:pt x="99606" y="7482"/>
                </a:cubicBezTo>
                <a:cubicBezTo>
                  <a:pt x="97065" y="5048"/>
                  <a:pt x="93287" y="4561"/>
                  <a:pt x="89785" y="4227"/>
                </a:cubicBezTo>
                <a:cubicBezTo>
                  <a:pt x="76794" y="2986"/>
                  <a:pt x="61374" y="0"/>
                  <a:pt x="48448" y="1826"/>
                </a:cubicBezTo>
                <a:cubicBezTo>
                  <a:pt x="51562" y="8814"/>
                  <a:pt x="54737" y="17113"/>
                  <a:pt x="48176" y="23563"/>
                </a:cubicBezTo>
                <a:close/>
              </a:path>
            </a:pathLst>
          </a:custGeom>
          <a:gradFill>
            <a:gsLst>
              <a:gs pos="0">
                <a:schemeClr val="accent4"/>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2_1_1_1_1_1_1_1">
    <p:spTree>
      <p:nvGrpSpPr>
        <p:cNvPr id="1" name="Shape 688"/>
        <p:cNvGrpSpPr/>
        <p:nvPr/>
      </p:nvGrpSpPr>
      <p:grpSpPr>
        <a:xfrm>
          <a:off x="0" y="0"/>
          <a:ext cx="0" cy="0"/>
          <a:chOff x="0" y="0"/>
          <a:chExt cx="0" cy="0"/>
        </a:xfrm>
      </p:grpSpPr>
      <p:sp>
        <p:nvSpPr>
          <p:cNvPr id="689" name="Google Shape;689;p33"/>
          <p:cNvSpPr/>
          <p:nvPr/>
        </p:nvSpPr>
        <p:spPr>
          <a:xfrm>
            <a:off x="3535900" y="-1930100"/>
            <a:ext cx="8427544" cy="7327815"/>
          </a:xfrm>
          <a:custGeom>
            <a:avLst/>
            <a:gdLst/>
            <a:ahLst/>
            <a:cxnLst/>
            <a:rect l="l" t="t" r="r" b="b"/>
            <a:pathLst>
              <a:path w="84733" h="73676" extrusionOk="0">
                <a:moveTo>
                  <a:pt x="3905" y="27001"/>
                </a:moveTo>
                <a:cubicBezTo>
                  <a:pt x="1" y="38560"/>
                  <a:pt x="2872" y="52402"/>
                  <a:pt x="11796" y="60722"/>
                </a:cubicBezTo>
                <a:cubicBezTo>
                  <a:pt x="18317" y="66801"/>
                  <a:pt x="27230" y="69585"/>
                  <a:pt x="35986" y="71264"/>
                </a:cubicBezTo>
                <a:cubicBezTo>
                  <a:pt x="44732" y="72939"/>
                  <a:pt x="53880" y="73676"/>
                  <a:pt x="62463" y="71305"/>
                </a:cubicBezTo>
                <a:cubicBezTo>
                  <a:pt x="71048" y="68933"/>
                  <a:pt x="79019" y="63012"/>
                  <a:pt x="82023" y="54629"/>
                </a:cubicBezTo>
                <a:cubicBezTo>
                  <a:pt x="84733" y="47065"/>
                  <a:pt x="83083" y="38429"/>
                  <a:pt x="79096" y="31452"/>
                </a:cubicBezTo>
                <a:cubicBezTo>
                  <a:pt x="75110" y="24475"/>
                  <a:pt x="69007" y="18947"/>
                  <a:pt x="62559" y="14152"/>
                </a:cubicBezTo>
                <a:cubicBezTo>
                  <a:pt x="53150" y="7152"/>
                  <a:pt x="39947" y="0"/>
                  <a:pt x="27789" y="3328"/>
                </a:cubicBezTo>
                <a:cubicBezTo>
                  <a:pt x="17014" y="6277"/>
                  <a:pt x="7391" y="16672"/>
                  <a:pt x="3905" y="2700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100000">
              <a:schemeClr val="lt2"/>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1pPr>
            <a:lvl2pPr lvl="1">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2pPr>
            <a:lvl3pPr lvl="2">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3pPr>
            <a:lvl4pPr lvl="3">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4pPr>
            <a:lvl5pPr lvl="4">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5pPr>
            <a:lvl6pPr lvl="5">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6pPr>
            <a:lvl7pPr lvl="6">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7pPr>
            <a:lvl8pPr lvl="7">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8pPr>
            <a:lvl9pPr lvl="8">
              <a:spcBef>
                <a:spcPts val="0"/>
              </a:spcBef>
              <a:spcAft>
                <a:spcPts val="0"/>
              </a:spcAft>
              <a:buClr>
                <a:schemeClr val="accent1"/>
              </a:buClr>
              <a:buSzPts val="2800"/>
              <a:buFont typeface="Archivo"/>
              <a:buNone/>
              <a:defRPr sz="2800" b="1">
                <a:solidFill>
                  <a:schemeClr val="accent1"/>
                </a:solidFill>
                <a:latin typeface="Archivo"/>
                <a:ea typeface="Archivo"/>
                <a:cs typeface="Archivo"/>
                <a:sym typeface="Archivo"/>
              </a:defRPr>
            </a:lvl9pPr>
          </a:lstStyle>
          <a:p>
            <a:endParaRPr/>
          </a:p>
        </p:txBody>
      </p:sp>
      <p:sp>
        <p:nvSpPr>
          <p:cNvPr id="7" name="Google Shape;7;p1"/>
          <p:cNvSpPr txBox="1">
            <a:spLocks noGrp="1"/>
          </p:cNvSpPr>
          <p:nvPr>
            <p:ph type="body" idx="1"/>
          </p:nvPr>
        </p:nvSpPr>
        <p:spPr>
          <a:xfrm>
            <a:off x="713225" y="1685875"/>
            <a:ext cx="7717500" cy="27147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Archivo"/>
              <a:buChar char="●"/>
              <a:defRPr sz="1800" b="1">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2pPr>
            <a:lvl3pPr marL="1371600" lvl="2"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3pPr>
            <a:lvl4pPr marL="1828800" lvl="3"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4pPr>
            <a:lvl5pPr marL="2286000" lvl="4"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5pPr>
            <a:lvl6pPr marL="2743200" lvl="5"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6pPr>
            <a:lvl7pPr marL="3200400" lvl="6"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7pPr>
            <a:lvl8pPr marL="3657600" lvl="7"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8pPr>
            <a:lvl9pPr marL="4114800" lvl="8" indent="-317500">
              <a:lnSpc>
                <a:spcPct val="115000"/>
              </a:lnSpc>
              <a:spcBef>
                <a:spcPts val="0"/>
              </a:spcBef>
              <a:spcAft>
                <a:spcPts val="0"/>
              </a:spcAft>
              <a:buClr>
                <a:schemeClr val="dk1"/>
              </a:buClr>
              <a:buSzPts val="1400"/>
              <a:buFont typeface="Archivo Light"/>
              <a:buChar char="■"/>
              <a:defRPr>
                <a:solidFill>
                  <a:schemeClr val="dk1"/>
                </a:solidFill>
                <a:latin typeface="Archivo Light"/>
                <a:ea typeface="Archivo Light"/>
                <a:cs typeface="Archivo Light"/>
                <a:sym typeface="Archiv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85" r:id="rId4"/>
    <p:sldLayoutId id="2147483659" r:id="rId5"/>
    <p:sldLayoutId id="2147483663" r:id="rId6"/>
    <p:sldLayoutId id="2147483677" r:id="rId7"/>
    <p:sldLayoutId id="2147483678" r:id="rId8"/>
    <p:sldLayoutId id="214748367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hyperlink" Target="https://hochuathuydien.evn.com.vn/PageHoChuaThuyDienEmbedEVN.aspx"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open-meteo.com/en/docs/historical-weather-api"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6.xml"/><Relationship Id="rId5" Type="http://schemas.openxmlformats.org/officeDocument/2006/relationships/image" Target="../media/image45.png"/><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hyperlink" Target="https://luatvietnam.vn/tai-nguyen/quyet-dinh-740-qd-ttg-2019-van-hanh-lien-ho-chua-tren-luu-vuc-song-hong-174744-d1.html" TargetMode="External"/><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4.xml"/><Relationship Id="rId1" Type="http://schemas.openxmlformats.org/officeDocument/2006/relationships/slideLayout" Target="../slideLayouts/slideLayout6.xml"/><Relationship Id="rId5" Type="http://schemas.openxmlformats.org/officeDocument/2006/relationships/image" Target="../media/image54.png"/><Relationship Id="rId4" Type="http://schemas.openxmlformats.org/officeDocument/2006/relationships/image" Target="../media/image53.png"/></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9.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37"/>
          <p:cNvSpPr/>
          <p:nvPr/>
        </p:nvSpPr>
        <p:spPr>
          <a:xfrm>
            <a:off x="2779025" y="3081375"/>
            <a:ext cx="3990900" cy="523800"/>
          </a:xfrm>
          <a:prstGeom prst="roundRect">
            <a:avLst>
              <a:gd name="adj" fmla="val 50000"/>
            </a:avLst>
          </a:pr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7"/>
          <p:cNvSpPr txBox="1">
            <a:spLocks noGrp="1"/>
          </p:cNvSpPr>
          <p:nvPr>
            <p:ph type="ctrTitle"/>
          </p:nvPr>
        </p:nvSpPr>
        <p:spPr>
          <a:xfrm>
            <a:off x="1469346" y="1181100"/>
            <a:ext cx="6508858" cy="1652700"/>
          </a:xfrm>
          <a:prstGeom prst="rect">
            <a:avLst/>
          </a:prstGeom>
        </p:spPr>
        <p:txBody>
          <a:bodyPr spcFirstLastPara="1" wrap="square" lIns="91425" tIns="91425" rIns="91425" bIns="91425" anchor="t" anchorCtr="0">
            <a:noAutofit/>
          </a:bodyPr>
          <a:lstStyle/>
          <a:p>
            <a:pPr lvl="0"/>
            <a:r>
              <a:rPr lang="en-US" sz="4000"/>
              <a:t>Forecasting Water Levels in Hydropower Reservoirs</a:t>
            </a:r>
            <a:endParaRPr sz="4000"/>
          </a:p>
        </p:txBody>
      </p:sp>
      <p:sp>
        <p:nvSpPr>
          <p:cNvPr id="702" name="Google Shape;702;p37"/>
          <p:cNvSpPr txBox="1">
            <a:spLocks noGrp="1"/>
          </p:cNvSpPr>
          <p:nvPr>
            <p:ph type="subTitle" idx="1"/>
          </p:nvPr>
        </p:nvSpPr>
        <p:spPr>
          <a:xfrm>
            <a:off x="2845025" y="3126825"/>
            <a:ext cx="3858900" cy="43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CS336 – Data Mining and Application</a:t>
            </a:r>
            <a:endParaRPr/>
          </a:p>
        </p:txBody>
      </p:sp>
      <p:sp>
        <p:nvSpPr>
          <p:cNvPr id="2" name="Google Shape;701;p37">
            <a:extLst>
              <a:ext uri="{FF2B5EF4-FFF2-40B4-BE49-F238E27FC236}">
                <a16:creationId xmlns:a16="http://schemas.microsoft.com/office/drawing/2014/main" id="{BF1C76EF-1D25-247B-9E53-B409CE5DDAC8}"/>
              </a:ext>
            </a:extLst>
          </p:cNvPr>
          <p:cNvSpPr txBox="1">
            <a:spLocks/>
          </p:cNvSpPr>
          <p:nvPr/>
        </p:nvSpPr>
        <p:spPr>
          <a:xfrm>
            <a:off x="4209315" y="3703954"/>
            <a:ext cx="1028920" cy="4232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5200"/>
              <a:buFont typeface="Archivo"/>
              <a:buNone/>
              <a:defRPr sz="5000" b="1" i="0" u="none" strike="noStrike" cap="none">
                <a:solidFill>
                  <a:schemeClr val="accent1"/>
                </a:solidFill>
                <a:latin typeface="Archivo"/>
                <a:ea typeface="Archivo"/>
                <a:cs typeface="Archivo"/>
                <a:sym typeface="Archivo"/>
              </a:defRPr>
            </a:lvl1pPr>
            <a:lvl2pPr marR="0" lvl="1"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2pPr>
            <a:lvl3pPr marR="0" lvl="2"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3pPr>
            <a:lvl4pPr marR="0" lvl="3"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4pPr>
            <a:lvl5pPr marR="0" lvl="4"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5pPr>
            <a:lvl6pPr marR="0" lvl="5"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6pPr>
            <a:lvl7pPr marR="0" lvl="6"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7pPr>
            <a:lvl8pPr marR="0" lvl="7"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8pPr>
            <a:lvl9pPr marR="0" lvl="8" algn="ctr" rtl="0">
              <a:lnSpc>
                <a:spcPct val="100000"/>
              </a:lnSpc>
              <a:spcBef>
                <a:spcPts val="0"/>
              </a:spcBef>
              <a:spcAft>
                <a:spcPts val="0"/>
              </a:spcAft>
              <a:buClr>
                <a:schemeClr val="accent1"/>
              </a:buClr>
              <a:buSzPts val="5200"/>
              <a:buFont typeface="Archivo"/>
              <a:buNone/>
              <a:defRPr sz="5200" b="1" i="0" u="none" strike="noStrike" cap="none">
                <a:solidFill>
                  <a:schemeClr val="accent1"/>
                </a:solidFill>
                <a:latin typeface="Archivo"/>
                <a:ea typeface="Archivo"/>
                <a:cs typeface="Archivo"/>
                <a:sym typeface="Archivo"/>
              </a:defRPr>
            </a:lvl9pPr>
          </a:lstStyle>
          <a:p>
            <a:r>
              <a:rPr lang="en-US" sz="1200"/>
              <a:t>Group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5B24869F-8D3C-FBC8-1591-0866A014B6CE}"/>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53F13D2B-73BE-4798-8BC3-218794FD6F10}"/>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vi-VN" err="1">
                <a:solidFill>
                  <a:schemeClr val="dk1"/>
                </a:solidFill>
              </a:rPr>
              <a:t>Task</a:t>
            </a:r>
            <a:r>
              <a:rPr lang="vi-VN">
                <a:solidFill>
                  <a:schemeClr val="dk1"/>
                </a:solidFill>
              </a:rPr>
              <a:t> </a:t>
            </a:r>
            <a:r>
              <a:rPr lang="vi-VN" err="1"/>
              <a:t>Assignment</a:t>
            </a:r>
            <a:r>
              <a:rPr lang="vi-VN"/>
              <a:t> </a:t>
            </a:r>
            <a:r>
              <a:rPr lang="vi-VN" err="1"/>
              <a:t>Table</a:t>
            </a:r>
            <a:endParaRPr/>
          </a:p>
        </p:txBody>
      </p:sp>
      <p:graphicFrame>
        <p:nvGraphicFramePr>
          <p:cNvPr id="708" name="Google Shape;708;p38">
            <a:extLst>
              <a:ext uri="{FF2B5EF4-FFF2-40B4-BE49-F238E27FC236}">
                <a16:creationId xmlns:a16="http://schemas.microsoft.com/office/drawing/2014/main" id="{D0722B43-C7C5-0957-1C48-24FC8CFDAA77}"/>
              </a:ext>
            </a:extLst>
          </p:cNvPr>
          <p:cNvGraphicFramePr/>
          <p:nvPr>
            <p:extLst>
              <p:ext uri="{D42A27DB-BD31-4B8C-83A1-F6EECF244321}">
                <p14:modId xmlns:p14="http://schemas.microsoft.com/office/powerpoint/2010/main" val="693233629"/>
              </p:ext>
            </p:extLst>
          </p:nvPr>
        </p:nvGraphicFramePr>
        <p:xfrm>
          <a:off x="713225" y="1359085"/>
          <a:ext cx="7704000" cy="2727850"/>
        </p:xfrm>
        <a:graphic>
          <a:graphicData uri="http://schemas.openxmlformats.org/drawingml/2006/table">
            <a:tbl>
              <a:tblPr>
                <a:noFill/>
                <a:tableStyleId>{D6CBFD61-9CC1-4848-B8E2-E103B36D63B7}</a:tableStyleId>
              </a:tblPr>
              <a:tblGrid>
                <a:gridCol w="1578302">
                  <a:extLst>
                    <a:ext uri="{9D8B030D-6E8A-4147-A177-3AD203B41FA5}">
                      <a16:colId xmlns:a16="http://schemas.microsoft.com/office/drawing/2014/main" val="20000"/>
                    </a:ext>
                  </a:extLst>
                </a:gridCol>
                <a:gridCol w="5105449">
                  <a:extLst>
                    <a:ext uri="{9D8B030D-6E8A-4147-A177-3AD203B41FA5}">
                      <a16:colId xmlns:a16="http://schemas.microsoft.com/office/drawing/2014/main" val="20001"/>
                    </a:ext>
                  </a:extLst>
                </a:gridCol>
                <a:gridCol w="1020249">
                  <a:extLst>
                    <a:ext uri="{9D8B030D-6E8A-4147-A177-3AD203B41FA5}">
                      <a16:colId xmlns:a16="http://schemas.microsoft.com/office/drawing/2014/main" val="3812697800"/>
                    </a:ext>
                  </a:extLst>
                </a:gridCol>
              </a:tblGrid>
              <a:tr h="350500">
                <a:tc>
                  <a:txBody>
                    <a:bodyPr/>
                    <a:lstStyle/>
                    <a:p>
                      <a:pPr marL="0" lvl="0" indent="0" algn="ctr" rtl="0">
                        <a:spcBef>
                          <a:spcPts val="0"/>
                        </a:spcBef>
                        <a:spcAft>
                          <a:spcPts val="0"/>
                        </a:spcAft>
                        <a:buNone/>
                      </a:pPr>
                      <a:r>
                        <a:rPr lang="en-US" sz="1100" b="1">
                          <a:solidFill>
                            <a:schemeClr val="accent1"/>
                          </a:solidFill>
                          <a:latin typeface="Archivo"/>
                          <a:ea typeface="Archivo"/>
                          <a:cs typeface="Archivo"/>
                          <a:sym typeface="Archivo"/>
                        </a:rPr>
                        <a:t>Student ID – Name</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b="1">
                          <a:solidFill>
                            <a:schemeClr val="accent1"/>
                          </a:solidFill>
                          <a:latin typeface="Archivo"/>
                          <a:ea typeface="Archivo"/>
                          <a:cs typeface="Archivo"/>
                          <a:sym typeface="Archivo"/>
                        </a:rPr>
                        <a:t>Task</a:t>
                      </a:r>
                    </a:p>
                  </a:txBody>
                  <a:tcPr marL="91425" marR="91425" marT="91425" marB="91425">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b="1">
                          <a:solidFill>
                            <a:schemeClr val="accent1"/>
                          </a:solidFill>
                          <a:latin typeface="Archivo"/>
                          <a:ea typeface="Archivo"/>
                          <a:cs typeface="Archivo"/>
                          <a:sym typeface="Archivo"/>
                        </a:rPr>
                        <a:t>Contribution</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568622551"/>
                  </a:ext>
                </a:extLst>
              </a:tr>
              <a:tr h="350500">
                <a:tc>
                  <a:txBody>
                    <a:bodyPr/>
                    <a:lstStyle/>
                    <a:p>
                      <a:pPr marL="0" lvl="0" indent="0" algn="just" rtl="0">
                        <a:spcBef>
                          <a:spcPts val="0"/>
                        </a:spcBef>
                        <a:spcAft>
                          <a:spcPts val="0"/>
                        </a:spcAft>
                        <a:buNone/>
                      </a:pPr>
                      <a:r>
                        <a:rPr lang="en-US" sz="1100" b="1">
                          <a:solidFill>
                            <a:schemeClr val="accent1"/>
                          </a:solidFill>
                          <a:latin typeface="Archivo"/>
                          <a:ea typeface="Archivo"/>
                          <a:cs typeface="Archivo"/>
                          <a:sym typeface="Archivo"/>
                        </a:rPr>
                        <a:t>23521440 – Huynh Nhat Thanh</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just" rtl="0">
                        <a:spcBef>
                          <a:spcPts val="0"/>
                        </a:spcBef>
                        <a:spcAft>
                          <a:spcPts val="1600"/>
                        </a:spcAft>
                        <a:buNone/>
                      </a:pPr>
                      <a:r>
                        <a:rPr lang="en-US" sz="1000">
                          <a:solidFill>
                            <a:schemeClr val="dk1"/>
                          </a:solidFill>
                          <a:latin typeface="Archivo Light" panose="020B0604020202020204" charset="0"/>
                          <a:ea typeface="Archivo Light"/>
                          <a:cs typeface="Archivo Light" panose="020B0604020202020204" charset="0"/>
                          <a:sym typeface="Archivo Light"/>
                        </a:rPr>
                        <a:t>Collected hydropower data sources. Performed EDA, preprocessing, and feature engineering on both datasets (hydropower and weather). Prepared presentation slides</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ctr" rtl="0">
                        <a:spcBef>
                          <a:spcPts val="0"/>
                        </a:spcBef>
                        <a:spcAft>
                          <a:spcPts val="1600"/>
                        </a:spcAft>
                        <a:buNone/>
                      </a:pPr>
                      <a:r>
                        <a:rPr lang="en-US" sz="1000">
                          <a:solidFill>
                            <a:schemeClr val="dk1"/>
                          </a:solidFill>
                          <a:latin typeface="Archivo Light"/>
                          <a:ea typeface="Archivo Light"/>
                          <a:cs typeface="Archivo Light"/>
                          <a:sym typeface="Archivo Light"/>
                        </a:rPr>
                        <a:t>30%</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just" rtl="0">
                        <a:spcBef>
                          <a:spcPts val="0"/>
                        </a:spcBef>
                        <a:spcAft>
                          <a:spcPts val="0"/>
                        </a:spcAft>
                        <a:buNone/>
                      </a:pPr>
                      <a:r>
                        <a:rPr lang="en-US" sz="1100" b="1">
                          <a:solidFill>
                            <a:schemeClr val="accent1"/>
                          </a:solidFill>
                          <a:latin typeface="Archivo"/>
                          <a:ea typeface="Archivo"/>
                          <a:cs typeface="Archivo"/>
                          <a:sym typeface="Archivo"/>
                        </a:rPr>
                        <a:t>23521441 – Le Duc Thanh</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just"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panose="020B0604020202020204" charset="0"/>
                          <a:ea typeface="Archivo Light"/>
                          <a:cs typeface="Archivo Light" panose="020B0604020202020204" charset="0"/>
                          <a:sym typeface="Archivo Light"/>
                        </a:rPr>
                        <a:t>Crawled hydropower data. Conducted EDA, preprocessing, and feature engineering for hydropower data. Evaluated three models: CNN+LSTM, XGBoost, and Decision Tree. Developed the web demo with </a:t>
                      </a:r>
                      <a:r>
                        <a:rPr lang="en-US" sz="1000">
                          <a:latin typeface="Archivo Light" panose="020B0604020202020204" charset="0"/>
                          <a:cs typeface="Archivo Light" panose="020B0604020202020204" charset="0"/>
                        </a:rPr>
                        <a:t>calculating the predicted results on</a:t>
                      </a:r>
                      <a:r>
                        <a:rPr lang="en-US" sz="1000">
                          <a:solidFill>
                            <a:schemeClr val="dk1"/>
                          </a:solidFill>
                          <a:latin typeface="Archivo Light" panose="020B0604020202020204" charset="0"/>
                          <a:ea typeface="Archivo Light"/>
                          <a:cs typeface="Archivo Light" panose="020B0604020202020204" charset="0"/>
                          <a:sym typeface="Archivo Light"/>
                        </a:rPr>
                        <a:t> those three models and EDA. Prepared presentation slides</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30%</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just" rtl="0">
                        <a:spcBef>
                          <a:spcPts val="0"/>
                        </a:spcBef>
                        <a:spcAft>
                          <a:spcPts val="0"/>
                        </a:spcAft>
                        <a:buNone/>
                      </a:pPr>
                      <a:r>
                        <a:rPr lang="nn-NO" sz="1100" b="1">
                          <a:solidFill>
                            <a:schemeClr val="accent1"/>
                          </a:solidFill>
                          <a:latin typeface="Archivo"/>
                          <a:ea typeface="Archivo"/>
                          <a:cs typeface="Archivo"/>
                          <a:sym typeface="Archivo"/>
                        </a:rPr>
                        <a:t>23521443 – Le Ngoc Thanh</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tc>
                  <a:txBody>
                    <a:bodyPr/>
                    <a:lstStyle/>
                    <a:p>
                      <a:pPr algn="just">
                        <a:buNone/>
                      </a:pPr>
                      <a:r>
                        <a:rPr lang="en-US" sz="1000">
                          <a:latin typeface="Archivo Light" panose="020B0604020202020204" charset="0"/>
                          <a:cs typeface="Archivo Light" panose="020B0604020202020204" charset="0"/>
                        </a:rPr>
                        <a:t>Collected and crawled weather data. Performed preprocessing for weather data. Evaluated the CNN+LSTM model. Prepared presentation slides</a:t>
                      </a:r>
                      <a:endParaRPr lang="vi-VN" sz="1000">
                        <a:latin typeface="Archivo Light" panose="020B0604020202020204" charset="0"/>
                        <a:cs typeface="Archivo Light" panose="020B0604020202020204"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tc>
                  <a:txBody>
                    <a:bodyPr/>
                    <a:lstStyle/>
                    <a:p>
                      <a:pPr algn="ctr">
                        <a:buNone/>
                      </a:pPr>
                      <a:r>
                        <a:rPr lang="en-US" sz="1000">
                          <a:solidFill>
                            <a:schemeClr val="dk1"/>
                          </a:solidFill>
                          <a:latin typeface="Archivo Light"/>
                          <a:ea typeface="Archivo Light"/>
                          <a:cs typeface="Archivo Light"/>
                          <a:sym typeface="Archivo Light"/>
                        </a:rPr>
                        <a:t>25%</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extLst>
                  <a:ext uri="{0D108BD9-81ED-4DB2-BD59-A6C34878D82A}">
                    <a16:rowId xmlns:a16="http://schemas.microsoft.com/office/drawing/2014/main" val="10004"/>
                  </a:ext>
                </a:extLst>
              </a:tr>
              <a:tr h="350500">
                <a:tc>
                  <a:txBody>
                    <a:bodyPr/>
                    <a:lstStyle/>
                    <a:p>
                      <a:pPr marL="0" lvl="0" indent="0" algn="just" rtl="0">
                        <a:spcBef>
                          <a:spcPts val="0"/>
                        </a:spcBef>
                        <a:spcAft>
                          <a:spcPts val="0"/>
                        </a:spcAft>
                        <a:buNone/>
                      </a:pPr>
                      <a:r>
                        <a:rPr lang="en-US" sz="1100" b="1">
                          <a:solidFill>
                            <a:schemeClr val="accent1"/>
                          </a:solidFill>
                          <a:latin typeface="Archivo"/>
                          <a:ea typeface="Archivo"/>
                          <a:cs typeface="Archivo"/>
                          <a:sym typeface="Archivo"/>
                        </a:rPr>
                        <a:t>23521454 – Nguyen Tien Thanh</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lgn="just">
                        <a:buNone/>
                      </a:pPr>
                      <a:r>
                        <a:rPr lang="en-US" sz="1000">
                          <a:latin typeface="Archivo Light" panose="020B0604020202020204" charset="0"/>
                          <a:cs typeface="Archivo Light" panose="020B0604020202020204" charset="0"/>
                        </a:rPr>
                        <a:t>Collected and crawled weather data. Evaluated the </a:t>
                      </a:r>
                      <a:r>
                        <a:rPr lang="en-US" sz="1000" err="1">
                          <a:latin typeface="Archivo Light" panose="020B0604020202020204" charset="0"/>
                          <a:cs typeface="Archivo Light" panose="020B0604020202020204" charset="0"/>
                        </a:rPr>
                        <a:t>XGBoost</a:t>
                      </a:r>
                      <a:r>
                        <a:rPr lang="en-US" sz="1000">
                          <a:latin typeface="Archivo Light" panose="020B0604020202020204" charset="0"/>
                          <a:cs typeface="Archivo Light" panose="020B0604020202020204" charset="0"/>
                        </a:rPr>
                        <a:t> model. Developed the web demo with calculating the predicted results on </a:t>
                      </a:r>
                      <a:r>
                        <a:rPr lang="en-US" sz="1000" err="1">
                          <a:latin typeface="Archivo Light" panose="020B0604020202020204" charset="0"/>
                          <a:cs typeface="Archivo Light" panose="020B0604020202020204" charset="0"/>
                        </a:rPr>
                        <a:t>XGBoost</a:t>
                      </a:r>
                      <a:r>
                        <a:rPr lang="en-US" sz="1000">
                          <a:latin typeface="Archivo Light" panose="020B0604020202020204" charset="0"/>
                          <a:cs typeface="Archivo Light" panose="020B0604020202020204" charset="0"/>
                        </a:rPr>
                        <a:t> model. Prepared presentation slides</a:t>
                      </a: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lgn="ctr">
                        <a:buNone/>
                      </a:pPr>
                      <a:r>
                        <a:rPr lang="en-US" sz="1000"/>
                        <a:t>15%</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bl>
          </a:graphicData>
        </a:graphic>
      </p:graphicFrame>
    </p:spTree>
    <p:extLst>
      <p:ext uri="{BB962C8B-B14F-4D97-AF65-F5344CB8AC3E}">
        <p14:creationId xmlns:p14="http://schemas.microsoft.com/office/powerpoint/2010/main" val="3102918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39"/>
          <p:cNvSpPr/>
          <p:nvPr/>
        </p:nvSpPr>
        <p:spPr>
          <a:xfrm>
            <a:off x="4840125" y="862181"/>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9"/>
          <p:cNvSpPr/>
          <p:nvPr/>
        </p:nvSpPr>
        <p:spPr>
          <a:xfrm>
            <a:off x="864038" y="3255500"/>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9"/>
          <p:cNvSpPr/>
          <p:nvPr/>
        </p:nvSpPr>
        <p:spPr>
          <a:xfrm>
            <a:off x="864038" y="2061400"/>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9"/>
          <p:cNvSpPr/>
          <p:nvPr/>
        </p:nvSpPr>
        <p:spPr>
          <a:xfrm>
            <a:off x="864038" y="867300"/>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9"/>
          <p:cNvSpPr txBox="1">
            <a:spLocks noGrp="1"/>
          </p:cNvSpPr>
          <p:nvPr>
            <p:ph type="title" idx="3"/>
          </p:nvPr>
        </p:nvSpPr>
        <p:spPr>
          <a:xfrm>
            <a:off x="864038" y="1017750"/>
            <a:ext cx="951300" cy="65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723" name="Google Shape;723;p39"/>
          <p:cNvSpPr txBox="1">
            <a:spLocks noGrp="1"/>
          </p:cNvSpPr>
          <p:nvPr>
            <p:ph type="title" idx="4"/>
          </p:nvPr>
        </p:nvSpPr>
        <p:spPr>
          <a:xfrm>
            <a:off x="864263" y="2211850"/>
            <a:ext cx="951300" cy="65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724" name="Google Shape;724;p39"/>
          <p:cNvSpPr txBox="1">
            <a:spLocks noGrp="1"/>
          </p:cNvSpPr>
          <p:nvPr>
            <p:ph type="title" idx="5"/>
          </p:nvPr>
        </p:nvSpPr>
        <p:spPr>
          <a:xfrm>
            <a:off x="1952850" y="862181"/>
            <a:ext cx="2058600" cy="72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
        <p:nvSpPr>
          <p:cNvPr id="725" name="Google Shape;725;p39"/>
          <p:cNvSpPr txBox="1">
            <a:spLocks noGrp="1"/>
          </p:cNvSpPr>
          <p:nvPr>
            <p:ph type="title" idx="6"/>
          </p:nvPr>
        </p:nvSpPr>
        <p:spPr>
          <a:xfrm>
            <a:off x="1952850" y="2031546"/>
            <a:ext cx="2058600" cy="72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EDA</a:t>
            </a:r>
            <a:endParaRPr/>
          </a:p>
        </p:txBody>
      </p:sp>
      <p:sp>
        <p:nvSpPr>
          <p:cNvPr id="728" name="Google Shape;728;p39"/>
          <p:cNvSpPr txBox="1">
            <a:spLocks noGrp="1"/>
          </p:cNvSpPr>
          <p:nvPr>
            <p:ph type="title" idx="9"/>
          </p:nvPr>
        </p:nvSpPr>
        <p:spPr>
          <a:xfrm>
            <a:off x="864038" y="3465975"/>
            <a:ext cx="951300" cy="65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729" name="Google Shape;729;p39"/>
          <p:cNvSpPr txBox="1">
            <a:spLocks noGrp="1"/>
          </p:cNvSpPr>
          <p:nvPr>
            <p:ph type="title" idx="13"/>
          </p:nvPr>
        </p:nvSpPr>
        <p:spPr>
          <a:xfrm>
            <a:off x="4840125" y="1012631"/>
            <a:ext cx="951300" cy="65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sp>
        <p:nvSpPr>
          <p:cNvPr id="730" name="Google Shape;730;p39"/>
          <p:cNvSpPr txBox="1">
            <a:spLocks noGrp="1"/>
          </p:cNvSpPr>
          <p:nvPr>
            <p:ph type="title" idx="14"/>
          </p:nvPr>
        </p:nvSpPr>
        <p:spPr>
          <a:xfrm>
            <a:off x="1952850" y="3329009"/>
            <a:ext cx="2058600" cy="72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Preprocessing</a:t>
            </a:r>
            <a:endParaRPr/>
          </a:p>
        </p:txBody>
      </p:sp>
      <p:sp>
        <p:nvSpPr>
          <p:cNvPr id="731" name="Google Shape;731;p39"/>
          <p:cNvSpPr txBox="1">
            <a:spLocks noGrp="1"/>
          </p:cNvSpPr>
          <p:nvPr>
            <p:ph type="title" idx="15"/>
          </p:nvPr>
        </p:nvSpPr>
        <p:spPr>
          <a:xfrm>
            <a:off x="6006712" y="946350"/>
            <a:ext cx="2058600" cy="72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Engineering</a:t>
            </a:r>
            <a:endParaRPr/>
          </a:p>
        </p:txBody>
      </p:sp>
      <p:sp>
        <p:nvSpPr>
          <p:cNvPr id="732" name="Google Shape;732;p39"/>
          <p:cNvSpPr txBox="1">
            <a:spLocks noGrp="1"/>
          </p:cNvSpPr>
          <p:nvPr>
            <p:ph type="title"/>
          </p:nvPr>
        </p:nvSpPr>
        <p:spPr>
          <a:xfrm>
            <a:off x="713250" y="21198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Table</a:t>
            </a:r>
            <a:r>
              <a:rPr lang="en">
                <a:solidFill>
                  <a:schemeClr val="accent1"/>
                </a:solidFill>
              </a:rPr>
              <a:t> </a:t>
            </a:r>
            <a:r>
              <a:rPr lang="en"/>
              <a:t>of contents</a:t>
            </a:r>
            <a:endParaRPr/>
          </a:p>
        </p:txBody>
      </p:sp>
      <p:sp>
        <p:nvSpPr>
          <p:cNvPr id="11" name="Google Shape;719;p39">
            <a:extLst>
              <a:ext uri="{FF2B5EF4-FFF2-40B4-BE49-F238E27FC236}">
                <a16:creationId xmlns:a16="http://schemas.microsoft.com/office/drawing/2014/main" id="{59DA6A3C-4095-A51C-BB43-41D4012B0363}"/>
              </a:ext>
            </a:extLst>
          </p:cNvPr>
          <p:cNvSpPr/>
          <p:nvPr/>
        </p:nvSpPr>
        <p:spPr>
          <a:xfrm>
            <a:off x="4840125" y="2031546"/>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22;p39">
            <a:extLst>
              <a:ext uri="{FF2B5EF4-FFF2-40B4-BE49-F238E27FC236}">
                <a16:creationId xmlns:a16="http://schemas.microsoft.com/office/drawing/2014/main" id="{45B39845-A97A-352F-15A4-E453C2251360}"/>
              </a:ext>
            </a:extLst>
          </p:cNvPr>
          <p:cNvSpPr txBox="1">
            <a:spLocks/>
          </p:cNvSpPr>
          <p:nvPr/>
        </p:nvSpPr>
        <p:spPr>
          <a:xfrm>
            <a:off x="4840125" y="2205528"/>
            <a:ext cx="951300" cy="65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800"/>
              <a:buFont typeface="Archivo"/>
              <a:buNone/>
              <a:defRPr sz="3500" b="1" i="0" u="none" strike="noStrike" cap="none">
                <a:solidFill>
                  <a:schemeClr val="lt1"/>
                </a:solidFill>
                <a:latin typeface="Archivo"/>
                <a:ea typeface="Archivo"/>
                <a:cs typeface="Archivo"/>
                <a:sym typeface="Archivo"/>
              </a:defRPr>
            </a:lvl1pPr>
            <a:lvl2pPr marR="0" lvl="1"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2pPr>
            <a:lvl3pPr marR="0" lvl="2"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3pPr>
            <a:lvl4pPr marR="0" lvl="3"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4pPr>
            <a:lvl5pPr marR="0" lvl="4"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5pPr>
            <a:lvl6pPr marR="0" lvl="5"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6pPr>
            <a:lvl7pPr marR="0" lvl="6"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7pPr>
            <a:lvl8pPr marR="0" lvl="7"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8pPr>
            <a:lvl9pPr marR="0" lvl="8"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9pPr>
          </a:lstStyle>
          <a:p>
            <a:r>
              <a:rPr lang="en"/>
              <a:t>05</a:t>
            </a:r>
          </a:p>
        </p:txBody>
      </p:sp>
      <p:sp>
        <p:nvSpPr>
          <p:cNvPr id="13" name="Google Shape;724;p39">
            <a:extLst>
              <a:ext uri="{FF2B5EF4-FFF2-40B4-BE49-F238E27FC236}">
                <a16:creationId xmlns:a16="http://schemas.microsoft.com/office/drawing/2014/main" id="{12452BCA-EE8F-EF26-6B97-770644DADC13}"/>
              </a:ext>
            </a:extLst>
          </p:cNvPr>
          <p:cNvSpPr txBox="1">
            <a:spLocks/>
          </p:cNvSpPr>
          <p:nvPr/>
        </p:nvSpPr>
        <p:spPr>
          <a:xfrm>
            <a:off x="6006712" y="2031546"/>
            <a:ext cx="2058600" cy="721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1pPr>
            <a:lvl2pPr marR="0" lvl="1"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2pPr>
            <a:lvl3pPr marR="0" lvl="2"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3pPr>
            <a:lvl4pPr marR="0" lvl="3"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4pPr>
            <a:lvl5pPr marR="0" lvl="4"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5pPr>
            <a:lvl6pPr marR="0" lvl="5"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6pPr>
            <a:lvl7pPr marR="0" lvl="6"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7pPr>
            <a:lvl8pPr marR="0" lvl="7"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8pPr>
            <a:lvl9pPr marR="0" lvl="8"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9pPr>
          </a:lstStyle>
          <a:p>
            <a:r>
              <a:rPr lang="en-US"/>
              <a:t>Modeling</a:t>
            </a:r>
          </a:p>
        </p:txBody>
      </p:sp>
      <p:sp>
        <p:nvSpPr>
          <p:cNvPr id="14" name="Google Shape;718;p39">
            <a:extLst>
              <a:ext uri="{FF2B5EF4-FFF2-40B4-BE49-F238E27FC236}">
                <a16:creationId xmlns:a16="http://schemas.microsoft.com/office/drawing/2014/main" id="{1CB9CBF1-69CC-3BA9-247B-4924EE58E66E}"/>
              </a:ext>
            </a:extLst>
          </p:cNvPr>
          <p:cNvSpPr/>
          <p:nvPr/>
        </p:nvSpPr>
        <p:spPr>
          <a:xfrm>
            <a:off x="4840125" y="3330019"/>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23;p39">
            <a:extLst>
              <a:ext uri="{FF2B5EF4-FFF2-40B4-BE49-F238E27FC236}">
                <a16:creationId xmlns:a16="http://schemas.microsoft.com/office/drawing/2014/main" id="{BB9AF5AF-AFBB-75F8-9BB8-03E8EE0EC644}"/>
              </a:ext>
            </a:extLst>
          </p:cNvPr>
          <p:cNvSpPr txBox="1">
            <a:spLocks/>
          </p:cNvSpPr>
          <p:nvPr/>
        </p:nvSpPr>
        <p:spPr>
          <a:xfrm>
            <a:off x="4840125" y="3480469"/>
            <a:ext cx="951300" cy="65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800"/>
              <a:buFont typeface="Archivo"/>
              <a:buNone/>
              <a:defRPr sz="3500" b="1" i="0" u="none" strike="noStrike" cap="none">
                <a:solidFill>
                  <a:schemeClr val="lt1"/>
                </a:solidFill>
                <a:latin typeface="Archivo"/>
                <a:ea typeface="Archivo"/>
                <a:cs typeface="Archivo"/>
                <a:sym typeface="Archivo"/>
              </a:defRPr>
            </a:lvl1pPr>
            <a:lvl2pPr marR="0" lvl="1"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2pPr>
            <a:lvl3pPr marR="0" lvl="2"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3pPr>
            <a:lvl4pPr marR="0" lvl="3"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4pPr>
            <a:lvl5pPr marR="0" lvl="4"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5pPr>
            <a:lvl6pPr marR="0" lvl="5"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6pPr>
            <a:lvl7pPr marR="0" lvl="6"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7pPr>
            <a:lvl8pPr marR="0" lvl="7"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8pPr>
            <a:lvl9pPr marR="0" lvl="8" algn="ctr" rtl="0">
              <a:lnSpc>
                <a:spcPct val="100000"/>
              </a:lnSpc>
              <a:spcBef>
                <a:spcPts val="0"/>
              </a:spcBef>
              <a:spcAft>
                <a:spcPts val="0"/>
              </a:spcAft>
              <a:buClr>
                <a:schemeClr val="accent2"/>
              </a:buClr>
              <a:buSzPts val="2800"/>
              <a:buFont typeface="Archivo"/>
              <a:buNone/>
              <a:defRPr sz="2800" b="1" i="0" u="none" strike="noStrike" cap="none">
                <a:solidFill>
                  <a:schemeClr val="accent2"/>
                </a:solidFill>
                <a:latin typeface="Archivo"/>
                <a:ea typeface="Archivo"/>
                <a:cs typeface="Archivo"/>
                <a:sym typeface="Archivo"/>
              </a:defRPr>
            </a:lvl9pPr>
          </a:lstStyle>
          <a:p>
            <a:r>
              <a:rPr lang="en"/>
              <a:t>06</a:t>
            </a:r>
          </a:p>
        </p:txBody>
      </p:sp>
      <p:sp>
        <p:nvSpPr>
          <p:cNvPr id="16" name="Google Shape;725;p39">
            <a:extLst>
              <a:ext uri="{FF2B5EF4-FFF2-40B4-BE49-F238E27FC236}">
                <a16:creationId xmlns:a16="http://schemas.microsoft.com/office/drawing/2014/main" id="{68A16F61-83B1-9F2B-164D-4DE06D3CCA86}"/>
              </a:ext>
            </a:extLst>
          </p:cNvPr>
          <p:cNvSpPr txBox="1">
            <a:spLocks/>
          </p:cNvSpPr>
          <p:nvPr/>
        </p:nvSpPr>
        <p:spPr>
          <a:xfrm>
            <a:off x="6006712" y="3330019"/>
            <a:ext cx="2058600" cy="721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1pPr>
            <a:lvl2pPr marR="0" lvl="1"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2pPr>
            <a:lvl3pPr marR="0" lvl="2"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3pPr>
            <a:lvl4pPr marR="0" lvl="3"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4pPr>
            <a:lvl5pPr marR="0" lvl="4"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5pPr>
            <a:lvl6pPr marR="0" lvl="5"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6pPr>
            <a:lvl7pPr marR="0" lvl="6"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7pPr>
            <a:lvl8pPr marR="0" lvl="7"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8pPr>
            <a:lvl9pPr marR="0" lvl="8" algn="ctr" rtl="0">
              <a:lnSpc>
                <a:spcPct val="100000"/>
              </a:lnSpc>
              <a:spcBef>
                <a:spcPts val="0"/>
              </a:spcBef>
              <a:spcAft>
                <a:spcPts val="0"/>
              </a:spcAft>
              <a:buClr>
                <a:schemeClr val="accent1"/>
              </a:buClr>
              <a:buSzPts val="1800"/>
              <a:buFont typeface="Archivo"/>
              <a:buNone/>
              <a:defRPr sz="1800" b="1" i="0" u="none" strike="noStrike" cap="none">
                <a:solidFill>
                  <a:schemeClr val="accent1"/>
                </a:solidFill>
                <a:latin typeface="Archivo"/>
                <a:ea typeface="Archivo"/>
                <a:cs typeface="Archivo"/>
                <a:sym typeface="Archivo"/>
              </a:defRPr>
            </a:lvl9pPr>
          </a:lstStyle>
          <a:p>
            <a:r>
              <a:rPr lang="en-US"/>
              <a:t>DEMO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4">
          <a:extLst>
            <a:ext uri="{FF2B5EF4-FFF2-40B4-BE49-F238E27FC236}">
              <a16:creationId xmlns:a16="http://schemas.microsoft.com/office/drawing/2014/main" id="{627DF3E1-0DC0-35B1-1D1C-D1D5D756F19A}"/>
            </a:ext>
          </a:extLst>
        </p:cNvPr>
        <p:cNvGrpSpPr/>
        <p:nvPr/>
      </p:nvGrpSpPr>
      <p:grpSpPr>
        <a:xfrm>
          <a:off x="0" y="0"/>
          <a:ext cx="0" cy="0"/>
          <a:chOff x="0" y="0"/>
          <a:chExt cx="0" cy="0"/>
        </a:xfrm>
      </p:grpSpPr>
      <p:sp>
        <p:nvSpPr>
          <p:cNvPr id="6" name="Google Shape;797;p41">
            <a:extLst>
              <a:ext uri="{FF2B5EF4-FFF2-40B4-BE49-F238E27FC236}">
                <a16:creationId xmlns:a16="http://schemas.microsoft.com/office/drawing/2014/main" id="{B9EA9FDB-9D5F-58A8-9667-6037DB33E6B2}"/>
              </a:ext>
            </a:extLst>
          </p:cNvPr>
          <p:cNvSpPr/>
          <p:nvPr/>
        </p:nvSpPr>
        <p:spPr>
          <a:xfrm>
            <a:off x="4096350" y="1463163"/>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98;p41">
            <a:extLst>
              <a:ext uri="{FF2B5EF4-FFF2-40B4-BE49-F238E27FC236}">
                <a16:creationId xmlns:a16="http://schemas.microsoft.com/office/drawing/2014/main" id="{A6321935-48D5-3F75-82AA-0F8EA867199F}"/>
              </a:ext>
            </a:extLst>
          </p:cNvPr>
          <p:cNvSpPr txBox="1">
            <a:spLocks noGrp="1"/>
          </p:cNvSpPr>
          <p:nvPr>
            <p:ph type="title"/>
          </p:nvPr>
        </p:nvSpPr>
        <p:spPr>
          <a:xfrm>
            <a:off x="2543250" y="2537925"/>
            <a:ext cx="4057500" cy="578400"/>
          </a:xfrm>
          <a:prstGeom prst="rect">
            <a:avLst/>
          </a:prstGeom>
        </p:spPr>
        <p:txBody>
          <a:bodyPr spcFirstLastPara="1" wrap="square" lIns="91425" tIns="91425" rIns="91425" bIns="91425" anchor="t" anchorCtr="0">
            <a:noAutofit/>
          </a:bodyPr>
          <a:lstStyle/>
          <a:p>
            <a:pPr lvl="0">
              <a:buClr>
                <a:schemeClr val="dk1"/>
              </a:buClr>
              <a:buSzPts val="1100"/>
            </a:pPr>
            <a:r>
              <a:rPr lang="en-US" sz="3200"/>
              <a:t>Introduction</a:t>
            </a:r>
          </a:p>
        </p:txBody>
      </p:sp>
      <p:sp>
        <p:nvSpPr>
          <p:cNvPr id="8" name="Google Shape;800;p41">
            <a:extLst>
              <a:ext uri="{FF2B5EF4-FFF2-40B4-BE49-F238E27FC236}">
                <a16:creationId xmlns:a16="http://schemas.microsoft.com/office/drawing/2014/main" id="{0733E44D-D267-A047-E530-C475A653D728}"/>
              </a:ext>
            </a:extLst>
          </p:cNvPr>
          <p:cNvSpPr txBox="1">
            <a:spLocks/>
          </p:cNvSpPr>
          <p:nvPr/>
        </p:nvSpPr>
        <p:spPr>
          <a:xfrm>
            <a:off x="4017450" y="1613613"/>
            <a:ext cx="1109100" cy="650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500">
                <a:solidFill>
                  <a:schemeClr val="bg1"/>
                </a:solidFill>
                <a:latin typeface="Archivo" panose="020B0604020202020204" charset="0"/>
                <a:cs typeface="Archivo" panose="020B0604020202020204" charset="0"/>
              </a:rPr>
              <a:t>01</a:t>
            </a:r>
          </a:p>
        </p:txBody>
      </p:sp>
    </p:spTree>
    <p:extLst>
      <p:ext uri="{BB962C8B-B14F-4D97-AF65-F5344CB8AC3E}">
        <p14:creationId xmlns:p14="http://schemas.microsoft.com/office/powerpoint/2010/main" val="2390502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10" name="Tiêu đề 1">
            <a:extLst>
              <a:ext uri="{FF2B5EF4-FFF2-40B4-BE49-F238E27FC236}">
                <a16:creationId xmlns:a16="http://schemas.microsoft.com/office/drawing/2014/main" id="{3E794DFE-CB9D-BDAA-F015-E980E03F6C2F}"/>
              </a:ext>
            </a:extLst>
          </p:cNvPr>
          <p:cNvSpPr>
            <a:spLocks noGrp="1"/>
          </p:cNvSpPr>
          <p:nvPr>
            <p:ph type="title"/>
          </p:nvPr>
        </p:nvSpPr>
        <p:spPr>
          <a:xfrm>
            <a:off x="713225" y="445025"/>
            <a:ext cx="7717500" cy="572700"/>
          </a:xfrm>
        </p:spPr>
        <p:txBody>
          <a:bodyPr/>
          <a:lstStyle/>
          <a:p>
            <a:pPr algn="ctr"/>
            <a:r>
              <a:rPr lang="en-US" sz="4000"/>
              <a:t>Introduction</a:t>
            </a:r>
          </a:p>
        </p:txBody>
      </p:sp>
      <p:sp>
        <p:nvSpPr>
          <p:cNvPr id="11" name="Chỗ dành sẵn cho Nội dung 13">
            <a:extLst>
              <a:ext uri="{FF2B5EF4-FFF2-40B4-BE49-F238E27FC236}">
                <a16:creationId xmlns:a16="http://schemas.microsoft.com/office/drawing/2014/main" id="{9E65ECF6-5E0A-CE40-39B5-DE12A408E6DC}"/>
              </a:ext>
            </a:extLst>
          </p:cNvPr>
          <p:cNvSpPr txBox="1">
            <a:spLocks/>
          </p:cNvSpPr>
          <p:nvPr/>
        </p:nvSpPr>
        <p:spPr>
          <a:xfrm>
            <a:off x="457200" y="1493387"/>
            <a:ext cx="8229600" cy="168178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r>
              <a:rPr lang="en-US"/>
              <a:t>	</a:t>
            </a:r>
            <a:r>
              <a:rPr lang="en-US" b="1">
                <a:solidFill>
                  <a:schemeClr val="accent1"/>
                </a:solidFill>
              </a:rPr>
              <a:t>Forecasting hydropower reservoir water levels </a:t>
            </a:r>
            <a:r>
              <a:rPr lang="en-US"/>
              <a:t>is vital for efficient power generation, dam safety, and sustainable water management. </a:t>
            </a:r>
          </a:p>
          <a:p>
            <a:pPr algn="just">
              <a:buFont typeface="Arial" panose="020B0604020202020204" pitchFamily="34" charset="0"/>
              <a:buChar char="•"/>
            </a:pPr>
            <a:r>
              <a:rPr lang="en-US"/>
              <a:t>	It helps operators plan electricity production, prevent flooding, and ensure reliable energy supply.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3CBF5479-F254-B773-29A6-1EC58C867868}"/>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021E54BB-B749-FB24-5A32-4F3D09AF4119}"/>
              </a:ext>
            </a:extLst>
          </p:cNvPr>
          <p:cNvSpPr>
            <a:spLocks noGrp="1"/>
          </p:cNvSpPr>
          <p:nvPr>
            <p:ph type="title"/>
          </p:nvPr>
        </p:nvSpPr>
        <p:spPr>
          <a:xfrm>
            <a:off x="713225" y="445025"/>
            <a:ext cx="7717500" cy="572700"/>
          </a:xfrm>
        </p:spPr>
        <p:txBody>
          <a:bodyPr/>
          <a:lstStyle/>
          <a:p>
            <a:pPr algn="ctr"/>
            <a:r>
              <a:rPr lang="en-US" sz="4000"/>
              <a:t>Introduction</a:t>
            </a:r>
          </a:p>
        </p:txBody>
      </p:sp>
      <p:sp>
        <p:nvSpPr>
          <p:cNvPr id="11" name="Chỗ dành sẵn cho Nội dung 13">
            <a:extLst>
              <a:ext uri="{FF2B5EF4-FFF2-40B4-BE49-F238E27FC236}">
                <a16:creationId xmlns:a16="http://schemas.microsoft.com/office/drawing/2014/main" id="{FC76A130-738F-914E-04ED-3A71DF001335}"/>
              </a:ext>
            </a:extLst>
          </p:cNvPr>
          <p:cNvSpPr txBox="1">
            <a:spLocks/>
          </p:cNvSpPr>
          <p:nvPr/>
        </p:nvSpPr>
        <p:spPr>
          <a:xfrm>
            <a:off x="457200" y="1493387"/>
            <a:ext cx="8229600" cy="191511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r>
              <a:rPr lang="en-US"/>
              <a:t>	</a:t>
            </a:r>
            <a:r>
              <a:rPr lang="en-US" b="1">
                <a:solidFill>
                  <a:schemeClr val="accent1"/>
                </a:solidFill>
              </a:rPr>
              <a:t>The Hoa Binh Hydropower Plant</a:t>
            </a:r>
            <a:r>
              <a:rPr lang="en-US"/>
              <a:t>, located on the Da River in northern Vietnam, is one of the country’s largest and most important hydroelectric facilities. Built with support from the former Soviet Union and completed in 1994, it has a total capacity of 1,920 MW. The reservoir plays a crucial role in electricity generation, flood control, and water regulation for the Red River Delta.</a:t>
            </a:r>
          </a:p>
        </p:txBody>
      </p:sp>
    </p:spTree>
    <p:extLst>
      <p:ext uri="{BB962C8B-B14F-4D97-AF65-F5344CB8AC3E}">
        <p14:creationId xmlns:p14="http://schemas.microsoft.com/office/powerpoint/2010/main" val="1043478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BD9220F-1FB0-9692-EFE5-ED4EC9D19FD5}"/>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3748CD3E-2347-7791-FD86-AC080450E5C2}"/>
              </a:ext>
            </a:extLst>
          </p:cNvPr>
          <p:cNvSpPr>
            <a:spLocks noGrp="1"/>
          </p:cNvSpPr>
          <p:nvPr>
            <p:ph type="title"/>
          </p:nvPr>
        </p:nvSpPr>
        <p:spPr>
          <a:xfrm>
            <a:off x="713225" y="445025"/>
            <a:ext cx="7717500" cy="572700"/>
          </a:xfrm>
        </p:spPr>
        <p:txBody>
          <a:bodyPr/>
          <a:lstStyle/>
          <a:p>
            <a:pPr algn="ctr"/>
            <a:r>
              <a:rPr lang="en-US" sz="4000"/>
              <a:t>Introduction</a:t>
            </a:r>
          </a:p>
        </p:txBody>
      </p:sp>
      <p:sp>
        <p:nvSpPr>
          <p:cNvPr id="11" name="Chỗ dành sẵn cho Nội dung 13">
            <a:extLst>
              <a:ext uri="{FF2B5EF4-FFF2-40B4-BE49-F238E27FC236}">
                <a16:creationId xmlns:a16="http://schemas.microsoft.com/office/drawing/2014/main" id="{14BD41F5-2A02-4CA8-E675-CDF984004DD2}"/>
              </a:ext>
            </a:extLst>
          </p:cNvPr>
          <p:cNvSpPr txBox="1">
            <a:spLocks/>
          </p:cNvSpPr>
          <p:nvPr/>
        </p:nvSpPr>
        <p:spPr>
          <a:xfrm>
            <a:off x="4434887" y="1949381"/>
            <a:ext cx="4284972" cy="91318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2" name="Picture 4" descr="undefined">
            <a:extLst>
              <a:ext uri="{FF2B5EF4-FFF2-40B4-BE49-F238E27FC236}">
                <a16:creationId xmlns:a16="http://schemas.microsoft.com/office/drawing/2014/main" id="{F07FF3DF-8D6C-1210-6DCA-A88C0AD01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438" y="1413380"/>
            <a:ext cx="4407678" cy="222679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m hãy tìm và chỉ hai nhà máy thuỷ điện Hoà Bình và Sơn La trên hình 1 bài  3.">
            <a:extLst>
              <a:ext uri="{FF2B5EF4-FFF2-40B4-BE49-F238E27FC236}">
                <a16:creationId xmlns:a16="http://schemas.microsoft.com/office/drawing/2014/main" id="{F16BA2FD-2059-73B0-F04B-FE942DFEB9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2795" y="1413380"/>
            <a:ext cx="2926080" cy="2226796"/>
          </a:xfrm>
          <a:prstGeom prst="rect">
            <a:avLst/>
          </a:prstGeom>
          <a:noFill/>
          <a:extLst>
            <a:ext uri="{909E8E84-426E-40DD-AFC4-6F175D3DCCD1}">
              <a14:hiddenFill xmlns:a14="http://schemas.microsoft.com/office/drawing/2010/main">
                <a:solidFill>
                  <a:srgbClr val="FFFFFF"/>
                </a:solidFill>
              </a14:hiddenFill>
            </a:ext>
          </a:extLst>
        </p:spPr>
      </p:pic>
      <p:sp>
        <p:nvSpPr>
          <p:cNvPr id="3" name="Hình chữ nhật 2">
            <a:extLst>
              <a:ext uri="{FF2B5EF4-FFF2-40B4-BE49-F238E27FC236}">
                <a16:creationId xmlns:a16="http://schemas.microsoft.com/office/drawing/2014/main" id="{11D492C5-B7CE-28E5-DBCF-15D24F264175}"/>
              </a:ext>
            </a:extLst>
          </p:cNvPr>
          <p:cNvSpPr/>
          <p:nvPr/>
        </p:nvSpPr>
        <p:spPr>
          <a:xfrm>
            <a:off x="6776021" y="2571750"/>
            <a:ext cx="403597" cy="247124"/>
          </a:xfrm>
          <a:prstGeom prst="rect">
            <a:avLst/>
          </a:prstGeom>
          <a:noFill/>
          <a:ln>
            <a:solidFill>
              <a:srgbClr val="FF000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5" name="Google Shape;724;p39">
            <a:extLst>
              <a:ext uri="{FF2B5EF4-FFF2-40B4-BE49-F238E27FC236}">
                <a16:creationId xmlns:a16="http://schemas.microsoft.com/office/drawing/2014/main" id="{A4A66FB0-5B73-675D-B53F-F18EF72EDD68}"/>
              </a:ext>
            </a:extLst>
          </p:cNvPr>
          <p:cNvSpPr txBox="1">
            <a:spLocks/>
          </p:cNvSpPr>
          <p:nvPr/>
        </p:nvSpPr>
        <p:spPr>
          <a:xfrm>
            <a:off x="772871" y="3674931"/>
            <a:ext cx="4407678" cy="721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i="1">
                <a:solidFill>
                  <a:schemeClr val="tx1"/>
                </a:solidFill>
                <a:latin typeface="Archivo" panose="020B0604020202020204" charset="0"/>
                <a:cs typeface="Archivo" panose="020B0604020202020204" charset="0"/>
              </a:rPr>
              <a:t>Image of Hoa Binh Hydropower Dam</a:t>
            </a:r>
            <a:endParaRPr lang="vi-VN" i="1">
              <a:solidFill>
                <a:schemeClr val="tx1"/>
              </a:solidFill>
              <a:latin typeface="Archivo" panose="020B0604020202020204" charset="0"/>
              <a:cs typeface="Archivo" panose="020B0604020202020204" charset="0"/>
            </a:endParaRPr>
          </a:p>
        </p:txBody>
      </p:sp>
      <p:sp>
        <p:nvSpPr>
          <p:cNvPr id="8" name="Google Shape;724;p39">
            <a:extLst>
              <a:ext uri="{FF2B5EF4-FFF2-40B4-BE49-F238E27FC236}">
                <a16:creationId xmlns:a16="http://schemas.microsoft.com/office/drawing/2014/main" id="{656B1511-26CF-D5B7-1D80-57FEF8B9C827}"/>
              </a:ext>
            </a:extLst>
          </p:cNvPr>
          <p:cNvSpPr txBox="1">
            <a:spLocks/>
          </p:cNvSpPr>
          <p:nvPr/>
        </p:nvSpPr>
        <p:spPr>
          <a:xfrm>
            <a:off x="5439106" y="3673273"/>
            <a:ext cx="2926080" cy="721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i="1">
                <a:solidFill>
                  <a:schemeClr val="tx1"/>
                </a:solidFill>
                <a:latin typeface="Archivo" panose="020B0604020202020204" charset="0"/>
                <a:cs typeface="Archivo" panose="020B0604020202020204" charset="0"/>
              </a:rPr>
              <a:t>Geographical Location</a:t>
            </a:r>
            <a:endParaRPr lang="vi-VN" i="1">
              <a:solidFill>
                <a:schemeClr val="tx1"/>
              </a:solidFill>
              <a:latin typeface="Archivo" panose="020B0604020202020204" charset="0"/>
              <a:cs typeface="Archivo" panose="020B0604020202020204" charset="0"/>
            </a:endParaRPr>
          </a:p>
        </p:txBody>
      </p:sp>
    </p:spTree>
    <p:extLst>
      <p:ext uri="{BB962C8B-B14F-4D97-AF65-F5344CB8AC3E}">
        <p14:creationId xmlns:p14="http://schemas.microsoft.com/office/powerpoint/2010/main" val="1470814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167CE661-A5F3-8EFC-F7A6-A44BA4F3176E}"/>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D4DDA710-CE6E-04AA-E0AE-91CE40291F64}"/>
              </a:ext>
            </a:extLst>
          </p:cNvPr>
          <p:cNvSpPr>
            <a:spLocks noGrp="1"/>
          </p:cNvSpPr>
          <p:nvPr>
            <p:ph type="title"/>
          </p:nvPr>
        </p:nvSpPr>
        <p:spPr>
          <a:xfrm>
            <a:off x="713225" y="445025"/>
            <a:ext cx="7717500" cy="572700"/>
          </a:xfrm>
        </p:spPr>
        <p:txBody>
          <a:bodyPr/>
          <a:lstStyle/>
          <a:p>
            <a:pPr algn="ctr"/>
            <a:r>
              <a:rPr lang="en-US" sz="4000"/>
              <a:t>Introduction</a:t>
            </a:r>
          </a:p>
        </p:txBody>
      </p:sp>
      <p:sp>
        <p:nvSpPr>
          <p:cNvPr id="11" name="Chỗ dành sẵn cho Nội dung 13">
            <a:extLst>
              <a:ext uri="{FF2B5EF4-FFF2-40B4-BE49-F238E27FC236}">
                <a16:creationId xmlns:a16="http://schemas.microsoft.com/office/drawing/2014/main" id="{3C43C68C-EA7E-640D-DDBE-74E42FCBED14}"/>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r>
              <a:rPr lang="en-US"/>
              <a:t>	</a:t>
            </a:r>
            <a:r>
              <a:rPr lang="en-US" b="1">
                <a:solidFill>
                  <a:schemeClr val="accent1"/>
                </a:solidFill>
              </a:rPr>
              <a:t>The water level data of the Hoa Binh Hydropower Dam:</a:t>
            </a:r>
            <a:r>
              <a:rPr lang="en-US"/>
              <a:t> were collected from the official website of Vietnam Electricity (EVN) </a:t>
            </a:r>
            <a:r>
              <a:rPr lang="en-US">
                <a:hlinkClick r:id="rId3"/>
              </a:rPr>
              <a:t>https://hochuathuydien.evn.com.vn/PageHoChuaThuyDienEmbedEVN.aspx</a:t>
            </a:r>
            <a:r>
              <a:rPr lang="en-US"/>
              <a:t> </a:t>
            </a:r>
          </a:p>
        </p:txBody>
      </p:sp>
      <p:pic>
        <p:nvPicPr>
          <p:cNvPr id="4098" name="Picture 2" descr="Tập đoàn Điện lực Việt Nam – Wikipedia tiếng Việt">
            <a:extLst>
              <a:ext uri="{FF2B5EF4-FFF2-40B4-BE49-F238E27FC236}">
                <a16:creationId xmlns:a16="http://schemas.microsoft.com/office/drawing/2014/main" id="{BE715C22-B35A-DD3E-1389-0B9F73B91A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1895" y="2802945"/>
            <a:ext cx="1280160" cy="185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919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B188749D-EAF7-3C85-BA0F-7A7A71339700}"/>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F91FE05A-D02D-1CC0-DBE1-69BCA51E96C2}"/>
              </a:ext>
            </a:extLst>
          </p:cNvPr>
          <p:cNvSpPr>
            <a:spLocks noGrp="1"/>
          </p:cNvSpPr>
          <p:nvPr>
            <p:ph type="title"/>
          </p:nvPr>
        </p:nvSpPr>
        <p:spPr>
          <a:xfrm>
            <a:off x="713225" y="445025"/>
            <a:ext cx="7717500" cy="572700"/>
          </a:xfrm>
        </p:spPr>
        <p:txBody>
          <a:bodyPr/>
          <a:lstStyle/>
          <a:p>
            <a:pPr algn="ctr"/>
            <a:r>
              <a:rPr lang="en-US" sz="4000"/>
              <a:t>Introduction</a:t>
            </a:r>
          </a:p>
        </p:txBody>
      </p:sp>
      <p:sp>
        <p:nvSpPr>
          <p:cNvPr id="11" name="Chỗ dành sẵn cho Nội dung 13">
            <a:extLst>
              <a:ext uri="{FF2B5EF4-FFF2-40B4-BE49-F238E27FC236}">
                <a16:creationId xmlns:a16="http://schemas.microsoft.com/office/drawing/2014/main" id="{D0DC3650-8EEF-5200-89F5-DC0845A8389C}"/>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r>
              <a:rPr lang="en-US"/>
              <a:t>	</a:t>
            </a:r>
            <a:r>
              <a:rPr lang="en-US" b="1">
                <a:solidFill>
                  <a:schemeClr val="accent1"/>
                </a:solidFill>
              </a:rPr>
              <a:t>The weather data:</a:t>
            </a:r>
            <a:r>
              <a:rPr lang="en-US"/>
              <a:t> were obtained from the </a:t>
            </a:r>
            <a:r>
              <a:rPr lang="en-US">
                <a:solidFill>
                  <a:schemeClr val="tx1"/>
                </a:solidFill>
              </a:rPr>
              <a:t>Open-</a:t>
            </a:r>
            <a:r>
              <a:rPr lang="en-US" err="1">
                <a:solidFill>
                  <a:schemeClr val="tx1"/>
                </a:solidFill>
              </a:rPr>
              <a:t>Meteo</a:t>
            </a:r>
            <a:r>
              <a:rPr lang="en-US" b="1"/>
              <a:t> </a:t>
            </a:r>
            <a:r>
              <a:rPr lang="en-US"/>
              <a:t>include variables such as temperature, precipitation, humidity, and wind speed, which are used to support hydropower reservoir forecasting  </a:t>
            </a:r>
            <a:r>
              <a:rPr lang="vi-VN">
                <a:hlinkClick r:id="rId3"/>
              </a:rPr>
              <a:t>https://open-meteo.com/en/docs/historical-weather-api</a:t>
            </a:r>
            <a:endParaRPr lang="en-US"/>
          </a:p>
        </p:txBody>
      </p:sp>
      <p:pic>
        <p:nvPicPr>
          <p:cNvPr id="3" name="Hình ảnh 2">
            <a:extLst>
              <a:ext uri="{FF2B5EF4-FFF2-40B4-BE49-F238E27FC236}">
                <a16:creationId xmlns:a16="http://schemas.microsoft.com/office/drawing/2014/main" id="{6346934D-2642-E24F-17F1-91D9EC3A0123}"/>
              </a:ext>
            </a:extLst>
          </p:cNvPr>
          <p:cNvPicPr>
            <a:picLocks noChangeAspect="1"/>
          </p:cNvPicPr>
          <p:nvPr/>
        </p:nvPicPr>
        <p:blipFill>
          <a:blip r:embed="rId4"/>
          <a:stretch>
            <a:fillRect/>
          </a:stretch>
        </p:blipFill>
        <p:spPr>
          <a:xfrm>
            <a:off x="1497699" y="2878783"/>
            <a:ext cx="6148552" cy="1598624"/>
          </a:xfrm>
          <a:prstGeom prst="rect">
            <a:avLst/>
          </a:prstGeom>
        </p:spPr>
      </p:pic>
    </p:spTree>
    <p:extLst>
      <p:ext uri="{BB962C8B-B14F-4D97-AF65-F5344CB8AC3E}">
        <p14:creationId xmlns:p14="http://schemas.microsoft.com/office/powerpoint/2010/main" val="1351461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F8DF57D0-8D4B-EFBA-4E06-69176BF90B91}"/>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3E2BB79F-8DCF-0F06-B3E8-DCDBFF4461D0}"/>
              </a:ext>
            </a:extLst>
          </p:cNvPr>
          <p:cNvSpPr>
            <a:spLocks noGrp="1"/>
          </p:cNvSpPr>
          <p:nvPr>
            <p:ph type="title"/>
          </p:nvPr>
        </p:nvSpPr>
        <p:spPr>
          <a:xfrm>
            <a:off x="713225" y="445025"/>
            <a:ext cx="7717500" cy="572700"/>
          </a:xfrm>
        </p:spPr>
        <p:txBody>
          <a:bodyPr/>
          <a:lstStyle/>
          <a:p>
            <a:pPr algn="ctr"/>
            <a:r>
              <a:rPr lang="en-US" sz="4000"/>
              <a:t>Introduction</a:t>
            </a:r>
          </a:p>
        </p:txBody>
      </p:sp>
      <p:sp>
        <p:nvSpPr>
          <p:cNvPr id="11" name="Chỗ dành sẵn cho Nội dung 13">
            <a:extLst>
              <a:ext uri="{FF2B5EF4-FFF2-40B4-BE49-F238E27FC236}">
                <a16:creationId xmlns:a16="http://schemas.microsoft.com/office/drawing/2014/main" id="{33AF5F41-A1F1-B36B-1760-B44F17F45155}"/>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r>
              <a:rPr lang="en-US"/>
              <a:t>	</a:t>
            </a:r>
            <a:r>
              <a:rPr lang="en-US" b="1">
                <a:solidFill>
                  <a:schemeClr val="accent1"/>
                </a:solidFill>
              </a:rPr>
              <a:t>Input:</a:t>
            </a:r>
            <a:r>
              <a:rPr lang="en-US"/>
              <a:t> </a:t>
            </a:r>
            <a:r>
              <a:rPr lang="en-US" b="1"/>
              <a:t>Target time</a:t>
            </a:r>
            <a:r>
              <a:rPr lang="en-US"/>
              <a:t> to be predicted and </a:t>
            </a:r>
            <a:r>
              <a:rPr lang="en-US" b="1"/>
              <a:t>Upstream water level, inflow to the reservoir, and weather data</a:t>
            </a:r>
            <a:r>
              <a:rPr lang="en-US"/>
              <a:t> from the previous 28 days</a:t>
            </a:r>
          </a:p>
          <a:p>
            <a:pPr algn="just">
              <a:buFont typeface="Arial" panose="020B0604020202020204" pitchFamily="34" charset="0"/>
              <a:buChar char="•"/>
            </a:pPr>
            <a:r>
              <a:rPr lang="en-US" b="1">
                <a:solidFill>
                  <a:schemeClr val="accent1"/>
                </a:solidFill>
              </a:rPr>
              <a:t>        </a:t>
            </a:r>
            <a:r>
              <a:rPr lang="vi-VN" b="1" err="1">
                <a:solidFill>
                  <a:schemeClr val="accent1"/>
                </a:solidFill>
              </a:rPr>
              <a:t>Output</a:t>
            </a:r>
            <a:r>
              <a:rPr lang="en-US" b="1">
                <a:solidFill>
                  <a:schemeClr val="accent1"/>
                </a:solidFill>
              </a:rPr>
              <a:t>: </a:t>
            </a:r>
            <a:r>
              <a:rPr lang="en-US"/>
              <a:t>Predicted water level at the target time</a:t>
            </a:r>
            <a:endParaRPr lang="en-US" b="1">
              <a:solidFill>
                <a:schemeClr val="accent1"/>
              </a:solidFill>
            </a:endParaRPr>
          </a:p>
        </p:txBody>
      </p:sp>
      <p:sp>
        <p:nvSpPr>
          <p:cNvPr id="5" name="Hình Bầu dục 4">
            <a:extLst>
              <a:ext uri="{FF2B5EF4-FFF2-40B4-BE49-F238E27FC236}">
                <a16:creationId xmlns:a16="http://schemas.microsoft.com/office/drawing/2014/main" id="{387D0C18-8CE3-ADE3-B241-565F6861FC71}"/>
              </a:ext>
            </a:extLst>
          </p:cNvPr>
          <p:cNvSpPr/>
          <p:nvPr/>
        </p:nvSpPr>
        <p:spPr>
          <a:xfrm>
            <a:off x="1274955" y="3870289"/>
            <a:ext cx="2007220" cy="1192364"/>
          </a:xfrm>
          <a:prstGeom prst="ellipse">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a:solidFill>
                  <a:schemeClr val="bg1"/>
                </a:solidFill>
                <a:latin typeface="Archivo" panose="020B0604020202020204" charset="0"/>
                <a:cs typeface="Archivo" panose="020B0604020202020204" charset="0"/>
              </a:rPr>
              <a:t>Dam and weather data from the previous 28 days</a:t>
            </a:r>
          </a:p>
        </p:txBody>
      </p:sp>
      <p:sp>
        <p:nvSpPr>
          <p:cNvPr id="8" name="Hình Bầu dục 7">
            <a:extLst>
              <a:ext uri="{FF2B5EF4-FFF2-40B4-BE49-F238E27FC236}">
                <a16:creationId xmlns:a16="http://schemas.microsoft.com/office/drawing/2014/main" id="{1ED87497-5582-9C73-389F-93214DE9C47D}"/>
              </a:ext>
            </a:extLst>
          </p:cNvPr>
          <p:cNvSpPr/>
          <p:nvPr/>
        </p:nvSpPr>
        <p:spPr>
          <a:xfrm>
            <a:off x="1274955" y="2566413"/>
            <a:ext cx="2007220" cy="1192364"/>
          </a:xfrm>
          <a:prstGeom prst="ellipse">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a:solidFill>
                  <a:schemeClr val="bg1"/>
                </a:solidFill>
                <a:latin typeface="Archivo" panose="020B0604020202020204" charset="0"/>
                <a:cs typeface="Archivo" panose="020B0604020202020204" charset="0"/>
              </a:rPr>
              <a:t>Target time</a:t>
            </a:r>
          </a:p>
        </p:txBody>
      </p:sp>
      <p:sp>
        <p:nvSpPr>
          <p:cNvPr id="9" name="Hình chữ nhật 8">
            <a:extLst>
              <a:ext uri="{FF2B5EF4-FFF2-40B4-BE49-F238E27FC236}">
                <a16:creationId xmlns:a16="http://schemas.microsoft.com/office/drawing/2014/main" id="{09D46995-B78F-3B38-D13E-3415596D2BBC}"/>
              </a:ext>
            </a:extLst>
          </p:cNvPr>
          <p:cNvSpPr/>
          <p:nvPr/>
        </p:nvSpPr>
        <p:spPr>
          <a:xfrm>
            <a:off x="3910361" y="3277099"/>
            <a:ext cx="1382751" cy="9633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a:solidFill>
                  <a:schemeClr val="accent1"/>
                </a:solidFill>
                <a:latin typeface="Archivo" panose="020B0604020202020204" charset="0"/>
                <a:cs typeface="Archivo" panose="020B0604020202020204" charset="0"/>
              </a:rPr>
              <a:t>Model</a:t>
            </a:r>
          </a:p>
        </p:txBody>
      </p:sp>
      <p:sp>
        <p:nvSpPr>
          <p:cNvPr id="12" name="Hình Bầu dục 11">
            <a:extLst>
              <a:ext uri="{FF2B5EF4-FFF2-40B4-BE49-F238E27FC236}">
                <a16:creationId xmlns:a16="http://schemas.microsoft.com/office/drawing/2014/main" id="{9FD9E1B3-AF19-3F74-527A-C088861ACE19}"/>
              </a:ext>
            </a:extLst>
          </p:cNvPr>
          <p:cNvSpPr/>
          <p:nvPr/>
        </p:nvSpPr>
        <p:spPr>
          <a:xfrm>
            <a:off x="5984488" y="3162595"/>
            <a:ext cx="2007220" cy="1192364"/>
          </a:xfrm>
          <a:prstGeom prst="ellipse">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a:solidFill>
                  <a:schemeClr val="bg1"/>
                </a:solidFill>
                <a:latin typeface="Archivo" panose="020B0604020202020204" charset="0"/>
                <a:cs typeface="Archivo" panose="020B0604020202020204" charset="0"/>
              </a:rPr>
              <a:t>Predicted water level at the target time</a:t>
            </a:r>
          </a:p>
        </p:txBody>
      </p:sp>
      <p:cxnSp>
        <p:nvCxnSpPr>
          <p:cNvPr id="14" name="Đường kết nối Mũi tên Thẳng 13">
            <a:extLst>
              <a:ext uri="{FF2B5EF4-FFF2-40B4-BE49-F238E27FC236}">
                <a16:creationId xmlns:a16="http://schemas.microsoft.com/office/drawing/2014/main" id="{A2E34CF5-F5D9-50DC-F222-2E780E28E2EB}"/>
              </a:ext>
            </a:extLst>
          </p:cNvPr>
          <p:cNvCxnSpPr>
            <a:stCxn id="8" idx="6"/>
            <a:endCxn id="9" idx="1"/>
          </p:cNvCxnSpPr>
          <p:nvPr/>
        </p:nvCxnSpPr>
        <p:spPr>
          <a:xfrm>
            <a:off x="3282175" y="3162595"/>
            <a:ext cx="628186" cy="596182"/>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Đường kết nối Mũi tên Thẳng 16">
            <a:extLst>
              <a:ext uri="{FF2B5EF4-FFF2-40B4-BE49-F238E27FC236}">
                <a16:creationId xmlns:a16="http://schemas.microsoft.com/office/drawing/2014/main" id="{C8803287-BA27-DB7C-1335-11D8E4505133}"/>
              </a:ext>
            </a:extLst>
          </p:cNvPr>
          <p:cNvCxnSpPr>
            <a:stCxn id="5" idx="6"/>
            <a:endCxn id="9" idx="1"/>
          </p:cNvCxnSpPr>
          <p:nvPr/>
        </p:nvCxnSpPr>
        <p:spPr>
          <a:xfrm flipV="1">
            <a:off x="3282175" y="3758777"/>
            <a:ext cx="628186" cy="707694"/>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 name="Đường kết nối Mũi tên Thẳng 18">
            <a:extLst>
              <a:ext uri="{FF2B5EF4-FFF2-40B4-BE49-F238E27FC236}">
                <a16:creationId xmlns:a16="http://schemas.microsoft.com/office/drawing/2014/main" id="{160C61FB-61D0-BE8E-EBD8-4EE69A7EC814}"/>
              </a:ext>
            </a:extLst>
          </p:cNvPr>
          <p:cNvCxnSpPr>
            <a:stCxn id="9" idx="3"/>
            <a:endCxn id="12" idx="2"/>
          </p:cNvCxnSpPr>
          <p:nvPr/>
        </p:nvCxnSpPr>
        <p:spPr>
          <a:xfrm>
            <a:off x="5293112" y="3758777"/>
            <a:ext cx="691376" cy="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6943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4">
          <a:extLst>
            <a:ext uri="{FF2B5EF4-FFF2-40B4-BE49-F238E27FC236}">
              <a16:creationId xmlns:a16="http://schemas.microsoft.com/office/drawing/2014/main" id="{0347B7C5-053F-3B42-6351-EC271618F479}"/>
            </a:ext>
          </a:extLst>
        </p:cNvPr>
        <p:cNvGrpSpPr/>
        <p:nvPr/>
      </p:nvGrpSpPr>
      <p:grpSpPr>
        <a:xfrm>
          <a:off x="0" y="0"/>
          <a:ext cx="0" cy="0"/>
          <a:chOff x="0" y="0"/>
          <a:chExt cx="0" cy="0"/>
        </a:xfrm>
      </p:grpSpPr>
      <p:sp>
        <p:nvSpPr>
          <p:cNvPr id="6" name="Google Shape;797;p41">
            <a:extLst>
              <a:ext uri="{FF2B5EF4-FFF2-40B4-BE49-F238E27FC236}">
                <a16:creationId xmlns:a16="http://schemas.microsoft.com/office/drawing/2014/main" id="{E4ACDE5C-C3AD-4418-B11B-AA2424811BD3}"/>
              </a:ext>
            </a:extLst>
          </p:cNvPr>
          <p:cNvSpPr/>
          <p:nvPr/>
        </p:nvSpPr>
        <p:spPr>
          <a:xfrm>
            <a:off x="4096350" y="1463163"/>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98;p41">
            <a:extLst>
              <a:ext uri="{FF2B5EF4-FFF2-40B4-BE49-F238E27FC236}">
                <a16:creationId xmlns:a16="http://schemas.microsoft.com/office/drawing/2014/main" id="{7B67D867-678C-F566-82F0-2C028ACAAF5E}"/>
              </a:ext>
            </a:extLst>
          </p:cNvPr>
          <p:cNvSpPr txBox="1">
            <a:spLocks noGrp="1"/>
          </p:cNvSpPr>
          <p:nvPr>
            <p:ph type="title"/>
          </p:nvPr>
        </p:nvSpPr>
        <p:spPr>
          <a:xfrm>
            <a:off x="2543250" y="2537925"/>
            <a:ext cx="4057500" cy="578400"/>
          </a:xfrm>
          <a:prstGeom prst="rect">
            <a:avLst/>
          </a:prstGeom>
        </p:spPr>
        <p:txBody>
          <a:bodyPr spcFirstLastPara="1" wrap="square" lIns="91425" tIns="91425" rIns="91425" bIns="91425" anchor="t" anchorCtr="0">
            <a:noAutofit/>
          </a:bodyPr>
          <a:lstStyle/>
          <a:p>
            <a:pPr lvl="0">
              <a:buClr>
                <a:schemeClr val="dk1"/>
              </a:buClr>
              <a:buSzPts val="1100"/>
            </a:pPr>
            <a:r>
              <a:rPr lang="en" sz="3200"/>
              <a:t>EDA</a:t>
            </a:r>
            <a:endParaRPr sz="3200"/>
          </a:p>
        </p:txBody>
      </p:sp>
      <p:sp>
        <p:nvSpPr>
          <p:cNvPr id="8" name="Google Shape;800;p41">
            <a:extLst>
              <a:ext uri="{FF2B5EF4-FFF2-40B4-BE49-F238E27FC236}">
                <a16:creationId xmlns:a16="http://schemas.microsoft.com/office/drawing/2014/main" id="{E79B931A-BEA8-0A52-4744-108FA4CD741F}"/>
              </a:ext>
            </a:extLst>
          </p:cNvPr>
          <p:cNvSpPr txBox="1">
            <a:spLocks/>
          </p:cNvSpPr>
          <p:nvPr/>
        </p:nvSpPr>
        <p:spPr>
          <a:xfrm>
            <a:off x="4017450" y="1613613"/>
            <a:ext cx="1109100" cy="650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500">
                <a:solidFill>
                  <a:schemeClr val="bg1"/>
                </a:solidFill>
                <a:latin typeface="Archivo" panose="020B0604020202020204" charset="0"/>
                <a:cs typeface="Archivo" panose="020B0604020202020204" charset="0"/>
              </a:rPr>
              <a:t>02</a:t>
            </a:r>
          </a:p>
        </p:txBody>
      </p:sp>
    </p:spTree>
    <p:extLst>
      <p:ext uri="{BB962C8B-B14F-4D97-AF65-F5344CB8AC3E}">
        <p14:creationId xmlns:p14="http://schemas.microsoft.com/office/powerpoint/2010/main" val="267135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F8490845-B7DC-6193-B561-A64A41C97D33}"/>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D1C19EFF-8EE5-5B7A-1735-363D62C7B730}"/>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weather data</a:t>
            </a:r>
            <a:endParaRPr/>
          </a:p>
        </p:txBody>
      </p:sp>
      <p:graphicFrame>
        <p:nvGraphicFramePr>
          <p:cNvPr id="708" name="Google Shape;708;p38">
            <a:extLst>
              <a:ext uri="{FF2B5EF4-FFF2-40B4-BE49-F238E27FC236}">
                <a16:creationId xmlns:a16="http://schemas.microsoft.com/office/drawing/2014/main" id="{D4C6490B-2C17-A9FA-C449-FDB13243DD3F}"/>
              </a:ext>
            </a:extLst>
          </p:cNvPr>
          <p:cNvGraphicFramePr/>
          <p:nvPr>
            <p:extLst>
              <p:ext uri="{D42A27DB-BD31-4B8C-83A1-F6EECF244321}">
                <p14:modId xmlns:p14="http://schemas.microsoft.com/office/powerpoint/2010/main" val="592055866"/>
              </p:ext>
            </p:extLst>
          </p:nvPr>
        </p:nvGraphicFramePr>
        <p:xfrm>
          <a:off x="720000" y="176722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100" b="1">
                          <a:solidFill>
                            <a:schemeClr val="accent1"/>
                          </a:solidFill>
                          <a:uFill>
                            <a:noFill/>
                          </a:uFill>
                          <a:latin typeface="Archivo"/>
                          <a:ea typeface="Archivo"/>
                          <a:cs typeface="Archivo"/>
                          <a:sym typeface="Archivo"/>
                        </a:rPr>
                        <a:t>Time</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Date and time, representing the timestamp of each recorded observation.</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vi-VN" sz="1100" b="1" err="1">
                          <a:solidFill>
                            <a:schemeClr val="accent1"/>
                          </a:solidFill>
                          <a:uFill>
                            <a:noFill/>
                          </a:uFill>
                          <a:latin typeface="Archivo"/>
                          <a:ea typeface="Archivo"/>
                          <a:cs typeface="Archivo"/>
                          <a:sym typeface="Archivo"/>
                        </a:rPr>
                        <a:t>precipitation</a:t>
                      </a:r>
                      <a:r>
                        <a:rPr lang="vi-VN" sz="1100" b="1">
                          <a:solidFill>
                            <a:schemeClr val="accent1"/>
                          </a:solidFill>
                          <a:uFill>
                            <a:noFill/>
                          </a:uFill>
                          <a:latin typeface="Archivo"/>
                          <a:ea typeface="Archivo"/>
                          <a:cs typeface="Archivo"/>
                          <a:sym typeface="Archivo"/>
                        </a:rPr>
                        <a:t>_(</a:t>
                      </a:r>
                      <a:r>
                        <a:rPr lang="vi-VN" sz="1100" b="1" err="1">
                          <a:solidFill>
                            <a:schemeClr val="accent1"/>
                          </a:solidFill>
                          <a:uFill>
                            <a:noFill/>
                          </a:uFill>
                          <a:latin typeface="Archivo"/>
                          <a:ea typeface="Archivo"/>
                          <a:cs typeface="Archivo"/>
                          <a:sym typeface="Archivo"/>
                        </a:rPr>
                        <a:t>mm</a:t>
                      </a:r>
                      <a:r>
                        <a:rPr lang="vi-VN" sz="1100" b="1">
                          <a:solidFill>
                            <a:schemeClr val="accent1"/>
                          </a:solidFill>
                          <a:uFill>
                            <a:noFill/>
                          </a:uFill>
                          <a:latin typeface="Archivo"/>
                          <a:ea typeface="Archivo"/>
                          <a:cs typeface="Archivo"/>
                          <a:sym typeface="Archivo"/>
                        </a:rPr>
                        <a:t>)</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rtl="0">
                        <a:lnSpc>
                          <a:spcPct val="100000"/>
                        </a:lnSpc>
                        <a:spcBef>
                          <a:spcPts val="0"/>
                        </a:spcBef>
                        <a:spcAft>
                          <a:spcPts val="1600"/>
                        </a:spcAft>
                        <a:buNone/>
                      </a:pPr>
                      <a:r>
                        <a:rPr lang="en-US" sz="1000"/>
                        <a:t>Total amount of rainfall measured in millimeters during each hour.</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vi-VN" sz="1100" b="1">
                          <a:solidFill>
                            <a:schemeClr val="accent1"/>
                          </a:solidFill>
                          <a:uFill>
                            <a:noFill/>
                          </a:uFill>
                          <a:latin typeface="Archivo"/>
                          <a:ea typeface="Archivo"/>
                          <a:cs typeface="Archivo"/>
                          <a:sym typeface="Archivo"/>
                        </a:rPr>
                        <a:t>temperature_2m_(°C)</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Air temperature measured at 2 meters above the ground (°C).</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vi-VN" sz="1100" b="1">
                          <a:solidFill>
                            <a:schemeClr val="accent1"/>
                          </a:solidFill>
                          <a:uFill>
                            <a:noFill/>
                          </a:uFill>
                          <a:latin typeface="Archivo"/>
                          <a:ea typeface="Archivo"/>
                          <a:cs typeface="Archivo"/>
                          <a:sym typeface="Archivo"/>
                        </a:rPr>
                        <a:t>relative_humidity_2m_(%)</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Relative humidity (%) at 2 meters above the ground.</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vi-VN" sz="1100" b="1" err="1">
                          <a:solidFill>
                            <a:schemeClr val="accent1"/>
                          </a:solidFill>
                          <a:uFill>
                            <a:noFill/>
                          </a:uFill>
                          <a:latin typeface="Archivo"/>
                          <a:ea typeface="Archivo"/>
                          <a:cs typeface="Archivo"/>
                          <a:sym typeface="Archivo"/>
                        </a:rPr>
                        <a:t>cloud_cover</a:t>
                      </a:r>
                      <a:r>
                        <a:rPr lang="vi-VN" sz="1100" b="1">
                          <a:solidFill>
                            <a:schemeClr val="accent1"/>
                          </a:solidFill>
                          <a:uFill>
                            <a:noFill/>
                          </a:uFill>
                          <a:latin typeface="Archivo"/>
                          <a:ea typeface="Archivo"/>
                          <a:cs typeface="Archivo"/>
                          <a:sym typeface="Archivo"/>
                        </a:rPr>
                        <a:t>_(%)</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Percentage of the sky covered by clouds (%).</a:t>
                      </a:r>
                      <a:endParaRPr lang="vi-VN" sz="100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64712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6D9BE9A9-DC58-9AEC-7FCA-CADF48188B16}"/>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54A11AC1-2FF0-56AA-2551-DBB1DB163EF0}"/>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7F587293-12CE-56FA-353D-8777C4B2E3E1}"/>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4" name="Hình ảnh 3" descr="Ảnh có chứa văn bản, hàng, Sơ đồ, ảnh chụp màn hình&#10;&#10;Nội dung do AI tạo ra có thể không chính xác.">
            <a:extLst>
              <a:ext uri="{FF2B5EF4-FFF2-40B4-BE49-F238E27FC236}">
                <a16:creationId xmlns:a16="http://schemas.microsoft.com/office/drawing/2014/main" id="{A728A6C4-D4AB-2536-648A-43DF890732DB}"/>
              </a:ext>
            </a:extLst>
          </p:cNvPr>
          <p:cNvPicPr>
            <a:picLocks noChangeAspect="1"/>
          </p:cNvPicPr>
          <p:nvPr/>
        </p:nvPicPr>
        <p:blipFill>
          <a:blip r:embed="rId3"/>
          <a:stretch>
            <a:fillRect/>
          </a:stretch>
        </p:blipFill>
        <p:spPr>
          <a:xfrm>
            <a:off x="1172954" y="1182275"/>
            <a:ext cx="6798092" cy="2778950"/>
          </a:xfrm>
          <a:prstGeom prst="rect">
            <a:avLst/>
          </a:prstGeom>
        </p:spPr>
      </p:pic>
    </p:spTree>
    <p:extLst>
      <p:ext uri="{BB962C8B-B14F-4D97-AF65-F5344CB8AC3E}">
        <p14:creationId xmlns:p14="http://schemas.microsoft.com/office/powerpoint/2010/main" val="3616697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14D48461-E5B4-BB7C-A677-1B4990EAB5C2}"/>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762ABA27-33CC-F872-1488-B7AD8730CC86}"/>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5895366D-48E5-B6F1-E67D-573B4EB3001B}"/>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4" name="Hình ảnh 3" descr="Ảnh có chứa văn bản, hàng, Sơ đồ, ảnh chụp màn hình&#10;&#10;Nội dung do AI tạo ra có thể không chính xác.">
            <a:extLst>
              <a:ext uri="{FF2B5EF4-FFF2-40B4-BE49-F238E27FC236}">
                <a16:creationId xmlns:a16="http://schemas.microsoft.com/office/drawing/2014/main" id="{300F0E2B-128B-DBEB-8574-DC79FA250C0A}"/>
              </a:ext>
            </a:extLst>
          </p:cNvPr>
          <p:cNvPicPr>
            <a:picLocks noChangeAspect="1"/>
          </p:cNvPicPr>
          <p:nvPr/>
        </p:nvPicPr>
        <p:blipFill>
          <a:blip r:embed="rId3"/>
          <a:stretch>
            <a:fillRect/>
          </a:stretch>
        </p:blipFill>
        <p:spPr>
          <a:xfrm>
            <a:off x="1172954" y="1182275"/>
            <a:ext cx="6798092" cy="2778950"/>
          </a:xfrm>
          <a:prstGeom prst="rect">
            <a:avLst/>
          </a:prstGeom>
        </p:spPr>
      </p:pic>
      <p:sp>
        <p:nvSpPr>
          <p:cNvPr id="2" name="Hình chữ nhật 1">
            <a:extLst>
              <a:ext uri="{FF2B5EF4-FFF2-40B4-BE49-F238E27FC236}">
                <a16:creationId xmlns:a16="http://schemas.microsoft.com/office/drawing/2014/main" id="{93113F6A-0C09-2DF7-6DCA-FDD486893553}"/>
              </a:ext>
            </a:extLst>
          </p:cNvPr>
          <p:cNvSpPr/>
          <p:nvPr/>
        </p:nvSpPr>
        <p:spPr>
          <a:xfrm>
            <a:off x="2106273" y="2724282"/>
            <a:ext cx="983769"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 name="Hình chữ nhật 4">
            <a:extLst>
              <a:ext uri="{FF2B5EF4-FFF2-40B4-BE49-F238E27FC236}">
                <a16:creationId xmlns:a16="http://schemas.microsoft.com/office/drawing/2014/main" id="{362CB69B-337A-8914-7D47-E47B7F64B884}"/>
              </a:ext>
            </a:extLst>
          </p:cNvPr>
          <p:cNvSpPr/>
          <p:nvPr/>
        </p:nvSpPr>
        <p:spPr>
          <a:xfrm>
            <a:off x="3832071" y="2724281"/>
            <a:ext cx="983769"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 name="Hình chữ nhật 5">
            <a:extLst>
              <a:ext uri="{FF2B5EF4-FFF2-40B4-BE49-F238E27FC236}">
                <a16:creationId xmlns:a16="http://schemas.microsoft.com/office/drawing/2014/main" id="{F481613C-B886-217A-349D-958B98524A92}"/>
              </a:ext>
            </a:extLst>
          </p:cNvPr>
          <p:cNvSpPr/>
          <p:nvPr/>
        </p:nvSpPr>
        <p:spPr>
          <a:xfrm>
            <a:off x="5219437" y="2727434"/>
            <a:ext cx="983769"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Hình chữ nhật 6">
            <a:extLst>
              <a:ext uri="{FF2B5EF4-FFF2-40B4-BE49-F238E27FC236}">
                <a16:creationId xmlns:a16="http://schemas.microsoft.com/office/drawing/2014/main" id="{6D901439-2698-4CFA-3B5B-08DCADF71995}"/>
              </a:ext>
            </a:extLst>
          </p:cNvPr>
          <p:cNvSpPr/>
          <p:nvPr/>
        </p:nvSpPr>
        <p:spPr>
          <a:xfrm>
            <a:off x="6811754" y="2766323"/>
            <a:ext cx="983769"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0443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C57C5F7A-1ED3-AF4E-A6FE-81A3DEAD1EAD}"/>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515F8F15-1213-D633-D972-6C265F22A5C3}"/>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60124AF0-37D7-49B1-73AA-B5D91161527C}"/>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hàng, Sơ đồ, ảnh chụp màn hình&#10;&#10;Nội dung do AI tạo ra có thể không chính xác.">
            <a:extLst>
              <a:ext uri="{FF2B5EF4-FFF2-40B4-BE49-F238E27FC236}">
                <a16:creationId xmlns:a16="http://schemas.microsoft.com/office/drawing/2014/main" id="{E29F8CC7-04DC-C1A0-45C2-C7F252068854}"/>
              </a:ext>
            </a:extLst>
          </p:cNvPr>
          <p:cNvPicPr>
            <a:picLocks noChangeAspect="1"/>
          </p:cNvPicPr>
          <p:nvPr/>
        </p:nvPicPr>
        <p:blipFill>
          <a:blip r:embed="rId3"/>
          <a:stretch>
            <a:fillRect/>
          </a:stretch>
        </p:blipFill>
        <p:spPr>
          <a:xfrm>
            <a:off x="1200150" y="1193393"/>
            <a:ext cx="6743700" cy="2756714"/>
          </a:xfrm>
          <a:prstGeom prst="rect">
            <a:avLst/>
          </a:prstGeom>
        </p:spPr>
      </p:pic>
    </p:spTree>
    <p:extLst>
      <p:ext uri="{BB962C8B-B14F-4D97-AF65-F5344CB8AC3E}">
        <p14:creationId xmlns:p14="http://schemas.microsoft.com/office/powerpoint/2010/main" val="1385555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4E929566-8599-6672-A6A9-B3374DF0980C}"/>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12B52083-6A53-08E4-327B-34212AC7A1A1}"/>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1A383CA9-8B36-015E-A7AC-813172FAC7D1}"/>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Sơ đồ, hàng, biểu đồ&#10;&#10;Nội dung do AI tạo ra có thể không chính xác.">
            <a:extLst>
              <a:ext uri="{FF2B5EF4-FFF2-40B4-BE49-F238E27FC236}">
                <a16:creationId xmlns:a16="http://schemas.microsoft.com/office/drawing/2014/main" id="{7E8C3930-CEBF-8938-48C8-29FAF46E9AA6}"/>
              </a:ext>
            </a:extLst>
          </p:cNvPr>
          <p:cNvPicPr>
            <a:picLocks noChangeAspect="1"/>
          </p:cNvPicPr>
          <p:nvPr/>
        </p:nvPicPr>
        <p:blipFill>
          <a:blip r:embed="rId3"/>
          <a:stretch>
            <a:fillRect/>
          </a:stretch>
        </p:blipFill>
        <p:spPr>
          <a:xfrm>
            <a:off x="1018452" y="1119118"/>
            <a:ext cx="7107096" cy="2905264"/>
          </a:xfrm>
          <a:prstGeom prst="rect">
            <a:avLst/>
          </a:prstGeom>
        </p:spPr>
      </p:pic>
    </p:spTree>
    <p:extLst>
      <p:ext uri="{BB962C8B-B14F-4D97-AF65-F5344CB8AC3E}">
        <p14:creationId xmlns:p14="http://schemas.microsoft.com/office/powerpoint/2010/main" val="4085748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4D4B60C-CF8D-8867-E6BC-D4587A28CD8B}"/>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3DB717E0-56F3-014B-7C07-97955F4EFA5D}"/>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AFFE8751-7402-CAD6-4D5B-4FF25CB2A288}"/>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Sơ đồ, hàng, biểu đồ&#10;&#10;Nội dung do AI tạo ra có thể không chính xác.">
            <a:extLst>
              <a:ext uri="{FF2B5EF4-FFF2-40B4-BE49-F238E27FC236}">
                <a16:creationId xmlns:a16="http://schemas.microsoft.com/office/drawing/2014/main" id="{21BE5238-85C5-8715-C767-891ED9B366E2}"/>
              </a:ext>
            </a:extLst>
          </p:cNvPr>
          <p:cNvPicPr>
            <a:picLocks noChangeAspect="1"/>
          </p:cNvPicPr>
          <p:nvPr/>
        </p:nvPicPr>
        <p:blipFill>
          <a:blip r:embed="rId3"/>
          <a:stretch>
            <a:fillRect/>
          </a:stretch>
        </p:blipFill>
        <p:spPr>
          <a:xfrm>
            <a:off x="1018452" y="1119118"/>
            <a:ext cx="7107096" cy="2905264"/>
          </a:xfrm>
          <a:prstGeom prst="rect">
            <a:avLst/>
          </a:prstGeom>
        </p:spPr>
      </p:pic>
      <p:sp>
        <p:nvSpPr>
          <p:cNvPr id="5" name="Hình chữ nhật 4">
            <a:extLst>
              <a:ext uri="{FF2B5EF4-FFF2-40B4-BE49-F238E27FC236}">
                <a16:creationId xmlns:a16="http://schemas.microsoft.com/office/drawing/2014/main" id="{C7B5E7BC-3A83-5261-F580-8EAAF8B2922C}"/>
              </a:ext>
            </a:extLst>
          </p:cNvPr>
          <p:cNvSpPr/>
          <p:nvPr/>
        </p:nvSpPr>
        <p:spPr>
          <a:xfrm>
            <a:off x="1601777" y="2642301"/>
            <a:ext cx="677917"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 name="Hình chữ nhật 5">
            <a:extLst>
              <a:ext uri="{FF2B5EF4-FFF2-40B4-BE49-F238E27FC236}">
                <a16:creationId xmlns:a16="http://schemas.microsoft.com/office/drawing/2014/main" id="{8D4D15C1-5602-521D-6C22-BAFAECAB3D6B}"/>
              </a:ext>
            </a:extLst>
          </p:cNvPr>
          <p:cNvSpPr/>
          <p:nvPr/>
        </p:nvSpPr>
        <p:spPr>
          <a:xfrm>
            <a:off x="2990193" y="2626535"/>
            <a:ext cx="677917"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Hình chữ nhật 6">
            <a:extLst>
              <a:ext uri="{FF2B5EF4-FFF2-40B4-BE49-F238E27FC236}">
                <a16:creationId xmlns:a16="http://schemas.microsoft.com/office/drawing/2014/main" id="{963B400E-91E8-EF6F-DBBC-9B3BF81C4CEF}"/>
              </a:ext>
            </a:extLst>
          </p:cNvPr>
          <p:cNvSpPr/>
          <p:nvPr/>
        </p:nvSpPr>
        <p:spPr>
          <a:xfrm>
            <a:off x="4620348" y="2589191"/>
            <a:ext cx="677917"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Hình chữ nhật 7">
            <a:extLst>
              <a:ext uri="{FF2B5EF4-FFF2-40B4-BE49-F238E27FC236}">
                <a16:creationId xmlns:a16="http://schemas.microsoft.com/office/drawing/2014/main" id="{0858BFC3-D6D6-193C-6EB6-D3B091EBA5B5}"/>
              </a:ext>
            </a:extLst>
          </p:cNvPr>
          <p:cNvSpPr/>
          <p:nvPr/>
        </p:nvSpPr>
        <p:spPr>
          <a:xfrm>
            <a:off x="6372948" y="2626534"/>
            <a:ext cx="677917" cy="775663"/>
          </a:xfrm>
          <a:prstGeom prst="rect">
            <a:avLst/>
          </a:prstGeom>
          <a:noFill/>
          <a:ln>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6292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6C40BAF-57FF-F47E-A9E6-6FD5C9610A3B}"/>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4EBCEF57-B7D8-F3D2-FF05-A1B5214669E6}"/>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AB9522CD-4920-60CB-C8D5-8421E73EEFC6}"/>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4" name="Hình ảnh 3" descr="Ảnh có chứa văn bản, Sơ đồ, hàng, ảnh chụp màn hình&#10;&#10;Nội dung do AI tạo ra có thể không chính xác.">
            <a:extLst>
              <a:ext uri="{FF2B5EF4-FFF2-40B4-BE49-F238E27FC236}">
                <a16:creationId xmlns:a16="http://schemas.microsoft.com/office/drawing/2014/main" id="{34585929-34A0-1806-3E84-D374D0DF9339}"/>
              </a:ext>
            </a:extLst>
          </p:cNvPr>
          <p:cNvPicPr>
            <a:picLocks noChangeAspect="1"/>
          </p:cNvPicPr>
          <p:nvPr/>
        </p:nvPicPr>
        <p:blipFill>
          <a:blip r:embed="rId3"/>
          <a:stretch>
            <a:fillRect/>
          </a:stretch>
        </p:blipFill>
        <p:spPr>
          <a:xfrm>
            <a:off x="1163495" y="1178409"/>
            <a:ext cx="6817010" cy="2786682"/>
          </a:xfrm>
          <a:prstGeom prst="rect">
            <a:avLst/>
          </a:prstGeom>
        </p:spPr>
      </p:pic>
    </p:spTree>
    <p:extLst>
      <p:ext uri="{BB962C8B-B14F-4D97-AF65-F5344CB8AC3E}">
        <p14:creationId xmlns:p14="http://schemas.microsoft.com/office/powerpoint/2010/main" val="1911617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71313A0D-49D8-01CB-FAE7-0B08B508E54A}"/>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06353E33-2C14-BD1A-84E0-B33A1CA895C7}"/>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9FA05EBE-3B4A-5266-1164-36E08AE40054}"/>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4" name="Hình ảnh 3" descr="Ảnh có chứa văn bản, ảnh chụp màn hình, Sơ đồ, Phông chữ&#10;&#10;Nội dung do AI tạo ra có thể không chính xác.">
            <a:extLst>
              <a:ext uri="{FF2B5EF4-FFF2-40B4-BE49-F238E27FC236}">
                <a16:creationId xmlns:a16="http://schemas.microsoft.com/office/drawing/2014/main" id="{E8B0A584-54C1-9F87-9AA8-47D81BBF0585}"/>
              </a:ext>
            </a:extLst>
          </p:cNvPr>
          <p:cNvPicPr>
            <a:picLocks noChangeAspect="1"/>
          </p:cNvPicPr>
          <p:nvPr/>
        </p:nvPicPr>
        <p:blipFill>
          <a:blip r:embed="rId3"/>
          <a:stretch>
            <a:fillRect/>
          </a:stretch>
        </p:blipFill>
        <p:spPr>
          <a:xfrm>
            <a:off x="999534" y="1111384"/>
            <a:ext cx="7144932" cy="2920732"/>
          </a:xfrm>
          <a:prstGeom prst="rect">
            <a:avLst/>
          </a:prstGeom>
        </p:spPr>
      </p:pic>
    </p:spTree>
    <p:extLst>
      <p:ext uri="{BB962C8B-B14F-4D97-AF65-F5344CB8AC3E}">
        <p14:creationId xmlns:p14="http://schemas.microsoft.com/office/powerpoint/2010/main" val="3052162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4E2F8ECC-912E-9156-A759-127BDB7953F2}"/>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BC45B288-6198-B668-0A90-F5601A24520A}"/>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71D13A9B-E19D-A8B1-6CBB-4D15CF42FC49}"/>
              </a:ext>
            </a:extLst>
          </p:cNvPr>
          <p:cNvSpPr txBox="1">
            <a:spLocks/>
          </p:cNvSpPr>
          <p:nvPr/>
        </p:nvSpPr>
        <p:spPr>
          <a:xfrm>
            <a:off x="305851" y="1433478"/>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ảnh chụp màn hình, Sơ đồ, hàng&#10;&#10;Nội dung do AI tạo ra có thể không chính xác.">
            <a:extLst>
              <a:ext uri="{FF2B5EF4-FFF2-40B4-BE49-F238E27FC236}">
                <a16:creationId xmlns:a16="http://schemas.microsoft.com/office/drawing/2014/main" id="{1626ED81-923C-723A-4EB9-1935AF4D2BCB}"/>
              </a:ext>
            </a:extLst>
          </p:cNvPr>
          <p:cNvPicPr>
            <a:picLocks noChangeAspect="1"/>
          </p:cNvPicPr>
          <p:nvPr/>
        </p:nvPicPr>
        <p:blipFill>
          <a:blip r:embed="rId3"/>
          <a:stretch>
            <a:fillRect/>
          </a:stretch>
        </p:blipFill>
        <p:spPr>
          <a:xfrm>
            <a:off x="1198179" y="1192587"/>
            <a:ext cx="6747642" cy="2758326"/>
          </a:xfrm>
          <a:prstGeom prst="rect">
            <a:avLst/>
          </a:prstGeom>
        </p:spPr>
      </p:pic>
    </p:spTree>
    <p:extLst>
      <p:ext uri="{BB962C8B-B14F-4D97-AF65-F5344CB8AC3E}">
        <p14:creationId xmlns:p14="http://schemas.microsoft.com/office/powerpoint/2010/main" val="3011902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6BE9F305-BB2A-A88B-E55B-404EFA2C3F74}"/>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1858FF81-F4C4-0DA5-B147-6BF63D88F8BA}"/>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9B1BB3BB-B050-9A71-9F50-DFC4D5698180}"/>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4" name="Hình ảnh 3" descr="Ảnh có chứa văn bản, ảnh chụp màn hình, Sơ đồ, Phông chữ&#10;&#10;Nội dung do AI tạo ra có thể không chính xác.">
            <a:extLst>
              <a:ext uri="{FF2B5EF4-FFF2-40B4-BE49-F238E27FC236}">
                <a16:creationId xmlns:a16="http://schemas.microsoft.com/office/drawing/2014/main" id="{2D389777-CE5B-4D41-E8F4-162829D78B11}"/>
              </a:ext>
            </a:extLst>
          </p:cNvPr>
          <p:cNvPicPr>
            <a:picLocks noChangeAspect="1"/>
          </p:cNvPicPr>
          <p:nvPr/>
        </p:nvPicPr>
        <p:blipFill>
          <a:blip r:embed="rId3"/>
          <a:stretch>
            <a:fillRect/>
          </a:stretch>
        </p:blipFill>
        <p:spPr>
          <a:xfrm>
            <a:off x="1068902" y="1139741"/>
            <a:ext cx="7006196" cy="2864018"/>
          </a:xfrm>
          <a:prstGeom prst="rect">
            <a:avLst/>
          </a:prstGeom>
        </p:spPr>
      </p:pic>
    </p:spTree>
    <p:extLst>
      <p:ext uri="{BB962C8B-B14F-4D97-AF65-F5344CB8AC3E}">
        <p14:creationId xmlns:p14="http://schemas.microsoft.com/office/powerpoint/2010/main" val="2385560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F36FEB6F-A57B-D4E9-0E7D-AC20ABCACDE9}"/>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C8419C7C-4B28-C085-1A40-C291FBF9CB8D}"/>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97634AC6-A338-5299-2752-78C28F547813}"/>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ảnh chụp màn hình, Sơ đồ, hàng&#10;&#10;Nội dung do AI tạo ra có thể không chính xác.">
            <a:extLst>
              <a:ext uri="{FF2B5EF4-FFF2-40B4-BE49-F238E27FC236}">
                <a16:creationId xmlns:a16="http://schemas.microsoft.com/office/drawing/2014/main" id="{416B756B-AD8F-BC02-1F72-463F8F310AD6}"/>
              </a:ext>
            </a:extLst>
          </p:cNvPr>
          <p:cNvPicPr>
            <a:picLocks noChangeAspect="1"/>
          </p:cNvPicPr>
          <p:nvPr/>
        </p:nvPicPr>
        <p:blipFill>
          <a:blip r:embed="rId3"/>
          <a:stretch>
            <a:fillRect/>
          </a:stretch>
        </p:blipFill>
        <p:spPr>
          <a:xfrm>
            <a:off x="1381059" y="1267346"/>
            <a:ext cx="6381882" cy="2608808"/>
          </a:xfrm>
          <a:prstGeom prst="rect">
            <a:avLst/>
          </a:prstGeom>
        </p:spPr>
      </p:pic>
    </p:spTree>
    <p:extLst>
      <p:ext uri="{BB962C8B-B14F-4D97-AF65-F5344CB8AC3E}">
        <p14:creationId xmlns:p14="http://schemas.microsoft.com/office/powerpoint/2010/main" val="435196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FF701764-B4BB-2DA1-66E5-2B8CCB71FE0E}"/>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853BE8E7-0B9F-7290-49EB-1B155190D379}"/>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Hoa Binh’s Dam data</a:t>
            </a:r>
            <a:endParaRPr/>
          </a:p>
        </p:txBody>
      </p:sp>
      <p:graphicFrame>
        <p:nvGraphicFramePr>
          <p:cNvPr id="708" name="Google Shape;708;p38">
            <a:extLst>
              <a:ext uri="{FF2B5EF4-FFF2-40B4-BE49-F238E27FC236}">
                <a16:creationId xmlns:a16="http://schemas.microsoft.com/office/drawing/2014/main" id="{2ED3688B-4CBE-6CE2-550C-2D97CC7009AE}"/>
              </a:ext>
            </a:extLst>
          </p:cNvPr>
          <p:cNvGraphicFramePr/>
          <p:nvPr>
            <p:extLst>
              <p:ext uri="{D42A27DB-BD31-4B8C-83A1-F6EECF244321}">
                <p14:modId xmlns:p14="http://schemas.microsoft.com/office/powerpoint/2010/main" val="4023354468"/>
              </p:ext>
            </p:extLst>
          </p:nvPr>
        </p:nvGraphicFramePr>
        <p:xfrm>
          <a:off x="726725" y="1143495"/>
          <a:ext cx="7704000" cy="35050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muc_nuoc_dang_binh_thuong_m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Upper limit during normal operation</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muc_nuoc_chet_m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Lowest exploitable level of the reservoir</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Total water released through all outlets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so_cua_xa_sau</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Releases water from the bottom of the dam</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92413299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so_cua_xa_mat</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Releases water from the surface of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85265170"/>
                  </a:ext>
                </a:extLst>
              </a:tr>
            </a:tbl>
          </a:graphicData>
        </a:graphic>
      </p:graphicFrame>
    </p:spTree>
    <p:extLst>
      <p:ext uri="{BB962C8B-B14F-4D97-AF65-F5344CB8AC3E}">
        <p14:creationId xmlns:p14="http://schemas.microsoft.com/office/powerpoint/2010/main" val="1582853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925E204F-98C6-4744-3FED-DADF140BB183}"/>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A5433F4E-8428-0854-DD10-42F3219198E3}"/>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EE7EA54D-28A4-FFF0-D23E-3B735B66529F}"/>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A179B67D-F9B5-8EFF-A992-54073B095DA6}"/>
              </a:ext>
            </a:extLst>
          </p:cNvPr>
          <p:cNvPicPr>
            <a:picLocks noChangeAspect="1"/>
          </p:cNvPicPr>
          <p:nvPr/>
        </p:nvPicPr>
        <p:blipFill>
          <a:blip r:embed="rId3"/>
          <a:stretch>
            <a:fillRect/>
          </a:stretch>
        </p:blipFill>
        <p:spPr>
          <a:xfrm>
            <a:off x="1180848" y="1884812"/>
            <a:ext cx="6782304" cy="1373876"/>
          </a:xfrm>
          <a:prstGeom prst="rect">
            <a:avLst/>
          </a:prstGeom>
        </p:spPr>
      </p:pic>
    </p:spTree>
    <p:extLst>
      <p:ext uri="{BB962C8B-B14F-4D97-AF65-F5344CB8AC3E}">
        <p14:creationId xmlns:p14="http://schemas.microsoft.com/office/powerpoint/2010/main" val="1295871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351145C3-0672-8269-7BE4-22A14ED1FF4F}"/>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2C2C0885-2D93-1F40-7FE4-165AB6803B77}"/>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2C78DE1B-BC92-32E3-39A2-E259324E2F5A}"/>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3857F4E1-D14C-467C-F652-0F31773CF75A}"/>
              </a:ext>
            </a:extLst>
          </p:cNvPr>
          <p:cNvPicPr>
            <a:picLocks noChangeAspect="1"/>
          </p:cNvPicPr>
          <p:nvPr/>
        </p:nvPicPr>
        <p:blipFill>
          <a:blip r:embed="rId3"/>
          <a:stretch>
            <a:fillRect/>
          </a:stretch>
        </p:blipFill>
        <p:spPr>
          <a:xfrm>
            <a:off x="923851" y="1209380"/>
            <a:ext cx="2240580" cy="1797340"/>
          </a:xfrm>
          <a:prstGeom prst="rect">
            <a:avLst/>
          </a:prstGeom>
        </p:spPr>
      </p:pic>
      <p:pic>
        <p:nvPicPr>
          <p:cNvPr id="5" name="Picture 4">
            <a:extLst>
              <a:ext uri="{FF2B5EF4-FFF2-40B4-BE49-F238E27FC236}">
                <a16:creationId xmlns:a16="http://schemas.microsoft.com/office/drawing/2014/main" id="{C1299BDF-F13F-9A57-46A2-C6F64CECCF45}"/>
              </a:ext>
            </a:extLst>
          </p:cNvPr>
          <p:cNvPicPr>
            <a:picLocks noChangeAspect="1"/>
          </p:cNvPicPr>
          <p:nvPr/>
        </p:nvPicPr>
        <p:blipFill>
          <a:blip r:embed="rId4"/>
          <a:stretch>
            <a:fillRect/>
          </a:stretch>
        </p:blipFill>
        <p:spPr>
          <a:xfrm>
            <a:off x="3480369" y="1228054"/>
            <a:ext cx="2240580" cy="1797341"/>
          </a:xfrm>
          <a:prstGeom prst="rect">
            <a:avLst/>
          </a:prstGeom>
        </p:spPr>
      </p:pic>
      <p:pic>
        <p:nvPicPr>
          <p:cNvPr id="17" name="Picture 16">
            <a:extLst>
              <a:ext uri="{FF2B5EF4-FFF2-40B4-BE49-F238E27FC236}">
                <a16:creationId xmlns:a16="http://schemas.microsoft.com/office/drawing/2014/main" id="{D900E774-3440-1A7A-DF4F-AFD2583CF811}"/>
              </a:ext>
            </a:extLst>
          </p:cNvPr>
          <p:cNvPicPr>
            <a:picLocks noChangeAspect="1"/>
          </p:cNvPicPr>
          <p:nvPr/>
        </p:nvPicPr>
        <p:blipFill>
          <a:blip r:embed="rId5"/>
          <a:stretch>
            <a:fillRect/>
          </a:stretch>
        </p:blipFill>
        <p:spPr>
          <a:xfrm>
            <a:off x="6036887" y="1228054"/>
            <a:ext cx="2172054" cy="1742370"/>
          </a:xfrm>
          <a:prstGeom prst="rect">
            <a:avLst/>
          </a:prstGeom>
        </p:spPr>
      </p:pic>
      <p:pic>
        <p:nvPicPr>
          <p:cNvPr id="19" name="Picture 18">
            <a:extLst>
              <a:ext uri="{FF2B5EF4-FFF2-40B4-BE49-F238E27FC236}">
                <a16:creationId xmlns:a16="http://schemas.microsoft.com/office/drawing/2014/main" id="{5683C168-4771-F123-7CFC-4284522D82FF}"/>
              </a:ext>
            </a:extLst>
          </p:cNvPr>
          <p:cNvPicPr>
            <a:picLocks noChangeAspect="1"/>
          </p:cNvPicPr>
          <p:nvPr/>
        </p:nvPicPr>
        <p:blipFill>
          <a:blip r:embed="rId6"/>
          <a:stretch>
            <a:fillRect/>
          </a:stretch>
        </p:blipFill>
        <p:spPr>
          <a:xfrm>
            <a:off x="2206208" y="3122493"/>
            <a:ext cx="2274958" cy="1824918"/>
          </a:xfrm>
          <a:prstGeom prst="rect">
            <a:avLst/>
          </a:prstGeom>
        </p:spPr>
      </p:pic>
      <p:pic>
        <p:nvPicPr>
          <p:cNvPr id="21" name="Picture 20">
            <a:extLst>
              <a:ext uri="{FF2B5EF4-FFF2-40B4-BE49-F238E27FC236}">
                <a16:creationId xmlns:a16="http://schemas.microsoft.com/office/drawing/2014/main" id="{7F9E5FD7-6F02-588C-0433-7AB5938F64F0}"/>
              </a:ext>
            </a:extLst>
          </p:cNvPr>
          <p:cNvPicPr>
            <a:picLocks noChangeAspect="1"/>
          </p:cNvPicPr>
          <p:nvPr/>
        </p:nvPicPr>
        <p:blipFill>
          <a:blip r:embed="rId7"/>
          <a:stretch>
            <a:fillRect/>
          </a:stretch>
        </p:blipFill>
        <p:spPr>
          <a:xfrm>
            <a:off x="4771838" y="3122493"/>
            <a:ext cx="2294052" cy="1840234"/>
          </a:xfrm>
          <a:prstGeom prst="rect">
            <a:avLst/>
          </a:prstGeom>
        </p:spPr>
      </p:pic>
    </p:spTree>
    <p:extLst>
      <p:ext uri="{BB962C8B-B14F-4D97-AF65-F5344CB8AC3E}">
        <p14:creationId xmlns:p14="http://schemas.microsoft.com/office/powerpoint/2010/main" val="2585866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A177E80-B9C0-4700-5383-81CF01A14C2F}"/>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EBA6A7A7-ED53-002D-B235-66FC433FD099}"/>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684902B5-97CE-C961-EC86-1785A90FA654}"/>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09F03467-7F8D-B4DA-BB95-E1ADB5DFA541}"/>
              </a:ext>
            </a:extLst>
          </p:cNvPr>
          <p:cNvPicPr>
            <a:picLocks noChangeAspect="1"/>
          </p:cNvPicPr>
          <p:nvPr/>
        </p:nvPicPr>
        <p:blipFill>
          <a:blip r:embed="rId3"/>
          <a:stretch>
            <a:fillRect/>
          </a:stretch>
        </p:blipFill>
        <p:spPr>
          <a:xfrm>
            <a:off x="1489685" y="1493830"/>
            <a:ext cx="6164630" cy="2155840"/>
          </a:xfrm>
          <a:prstGeom prst="rect">
            <a:avLst/>
          </a:prstGeom>
        </p:spPr>
      </p:pic>
      <p:sp>
        <p:nvSpPr>
          <p:cNvPr id="4" name="TextBox 3">
            <a:extLst>
              <a:ext uri="{FF2B5EF4-FFF2-40B4-BE49-F238E27FC236}">
                <a16:creationId xmlns:a16="http://schemas.microsoft.com/office/drawing/2014/main" id="{6614D125-B9EE-D1EE-03F2-7C7C1AFA849A}"/>
              </a:ext>
            </a:extLst>
          </p:cNvPr>
          <p:cNvSpPr txBox="1"/>
          <p:nvPr/>
        </p:nvSpPr>
        <p:spPr>
          <a:xfrm>
            <a:off x="3564040" y="3878328"/>
            <a:ext cx="2315976" cy="307777"/>
          </a:xfrm>
          <a:prstGeom prst="rect">
            <a:avLst/>
          </a:prstGeom>
          <a:noFill/>
        </p:spPr>
        <p:txBody>
          <a:bodyPr wrap="square" rtlCol="0">
            <a:spAutoFit/>
          </a:bodyPr>
          <a:lstStyle/>
          <a:p>
            <a:r>
              <a:rPr lang="en-US" err="1">
                <a:solidFill>
                  <a:srgbClr val="FF0000"/>
                </a:solidFill>
              </a:rPr>
              <a:t>muc_nuoc_thuong_luu_m</a:t>
            </a:r>
            <a:endParaRPr lang="en-US">
              <a:solidFill>
                <a:srgbClr val="FF0000"/>
              </a:solidFill>
            </a:endParaRPr>
          </a:p>
        </p:txBody>
      </p:sp>
    </p:spTree>
    <p:extLst>
      <p:ext uri="{BB962C8B-B14F-4D97-AF65-F5344CB8AC3E}">
        <p14:creationId xmlns:p14="http://schemas.microsoft.com/office/powerpoint/2010/main" val="2893001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B3740AEE-2059-0560-3147-6F131A9B755B}"/>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1394B48B-208B-A4BD-B434-CA6832357441}"/>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D0C8E155-B62E-5142-887B-D3F3243BCF41}"/>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AE155362-48D0-A993-66FB-EA522BED1C31}"/>
              </a:ext>
            </a:extLst>
          </p:cNvPr>
          <p:cNvPicPr>
            <a:picLocks noChangeAspect="1"/>
          </p:cNvPicPr>
          <p:nvPr/>
        </p:nvPicPr>
        <p:blipFill>
          <a:blip r:embed="rId3"/>
          <a:stretch>
            <a:fillRect/>
          </a:stretch>
        </p:blipFill>
        <p:spPr>
          <a:xfrm>
            <a:off x="1489685" y="1493830"/>
            <a:ext cx="6164630" cy="2155840"/>
          </a:xfrm>
          <a:prstGeom prst="rect">
            <a:avLst/>
          </a:prstGeom>
        </p:spPr>
      </p:pic>
      <p:sp>
        <p:nvSpPr>
          <p:cNvPr id="2" name="Rectangle 1">
            <a:extLst>
              <a:ext uri="{FF2B5EF4-FFF2-40B4-BE49-F238E27FC236}">
                <a16:creationId xmlns:a16="http://schemas.microsoft.com/office/drawing/2014/main" id="{6BB2D0D1-DD2D-5766-C281-FCD4DA6A23CC}"/>
              </a:ext>
            </a:extLst>
          </p:cNvPr>
          <p:cNvSpPr/>
          <p:nvPr/>
        </p:nvSpPr>
        <p:spPr>
          <a:xfrm>
            <a:off x="2597865" y="2072640"/>
            <a:ext cx="605563" cy="6009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919276D-E352-D192-7B0E-81D3B8A5FDC3}"/>
              </a:ext>
            </a:extLst>
          </p:cNvPr>
          <p:cNvSpPr/>
          <p:nvPr/>
        </p:nvSpPr>
        <p:spPr>
          <a:xfrm>
            <a:off x="3921019" y="2345034"/>
            <a:ext cx="551062" cy="4299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8417DC8-06D3-951E-580C-9D6BC30C2730}"/>
              </a:ext>
            </a:extLst>
          </p:cNvPr>
          <p:cNvSpPr/>
          <p:nvPr/>
        </p:nvSpPr>
        <p:spPr>
          <a:xfrm>
            <a:off x="5331980" y="1998295"/>
            <a:ext cx="605563" cy="4906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F80B3EB-9679-E7D8-5304-4D73495C6884}"/>
              </a:ext>
            </a:extLst>
          </p:cNvPr>
          <p:cNvSpPr/>
          <p:nvPr/>
        </p:nvSpPr>
        <p:spPr>
          <a:xfrm>
            <a:off x="6291797" y="1937617"/>
            <a:ext cx="605563" cy="14105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9565892-F43A-2E06-D8A6-239951E57A7A}"/>
              </a:ext>
            </a:extLst>
          </p:cNvPr>
          <p:cNvSpPr txBox="1"/>
          <p:nvPr/>
        </p:nvSpPr>
        <p:spPr>
          <a:xfrm>
            <a:off x="3564040" y="3878328"/>
            <a:ext cx="2315976" cy="307777"/>
          </a:xfrm>
          <a:prstGeom prst="rect">
            <a:avLst/>
          </a:prstGeom>
          <a:noFill/>
        </p:spPr>
        <p:txBody>
          <a:bodyPr wrap="square" rtlCol="0">
            <a:spAutoFit/>
          </a:bodyPr>
          <a:lstStyle/>
          <a:p>
            <a:r>
              <a:rPr lang="en-US" err="1">
                <a:solidFill>
                  <a:srgbClr val="FF0000"/>
                </a:solidFill>
              </a:rPr>
              <a:t>muc_nuoc_thuong_luu_m</a:t>
            </a:r>
            <a:endParaRPr lang="en-US">
              <a:solidFill>
                <a:srgbClr val="FF0000"/>
              </a:solidFill>
            </a:endParaRPr>
          </a:p>
        </p:txBody>
      </p:sp>
    </p:spTree>
    <p:extLst>
      <p:ext uri="{BB962C8B-B14F-4D97-AF65-F5344CB8AC3E}">
        <p14:creationId xmlns:p14="http://schemas.microsoft.com/office/powerpoint/2010/main" val="4085785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0C675D2A-BE7C-ED9E-C956-E5BA29AD2F24}"/>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C4E2A7CC-B1DC-DCEE-5E9E-7728CF5B84BE}"/>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8A923ECC-6D2F-6443-057B-3BF9D8691A3A}"/>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F33AAA47-769A-C14A-7DD8-A2309ECF4858}"/>
              </a:ext>
            </a:extLst>
          </p:cNvPr>
          <p:cNvPicPr>
            <a:picLocks noChangeAspect="1"/>
          </p:cNvPicPr>
          <p:nvPr/>
        </p:nvPicPr>
        <p:blipFill>
          <a:blip r:embed="rId3"/>
          <a:stretch>
            <a:fillRect/>
          </a:stretch>
        </p:blipFill>
        <p:spPr>
          <a:xfrm>
            <a:off x="775121" y="1355676"/>
            <a:ext cx="3621266" cy="1216074"/>
          </a:xfrm>
          <a:prstGeom prst="rect">
            <a:avLst/>
          </a:prstGeom>
        </p:spPr>
      </p:pic>
      <p:pic>
        <p:nvPicPr>
          <p:cNvPr id="7" name="Picture 6">
            <a:extLst>
              <a:ext uri="{FF2B5EF4-FFF2-40B4-BE49-F238E27FC236}">
                <a16:creationId xmlns:a16="http://schemas.microsoft.com/office/drawing/2014/main" id="{E4F7A18F-FBB8-9F05-AB60-9B764195BB75}"/>
              </a:ext>
            </a:extLst>
          </p:cNvPr>
          <p:cNvPicPr>
            <a:picLocks noChangeAspect="1"/>
          </p:cNvPicPr>
          <p:nvPr/>
        </p:nvPicPr>
        <p:blipFill>
          <a:blip r:embed="rId4"/>
          <a:stretch>
            <a:fillRect/>
          </a:stretch>
        </p:blipFill>
        <p:spPr>
          <a:xfrm>
            <a:off x="775121" y="2706308"/>
            <a:ext cx="3612368" cy="1216074"/>
          </a:xfrm>
          <a:prstGeom prst="rect">
            <a:avLst/>
          </a:prstGeom>
        </p:spPr>
      </p:pic>
      <p:pic>
        <p:nvPicPr>
          <p:cNvPr id="9" name="Picture 8">
            <a:extLst>
              <a:ext uri="{FF2B5EF4-FFF2-40B4-BE49-F238E27FC236}">
                <a16:creationId xmlns:a16="http://schemas.microsoft.com/office/drawing/2014/main" id="{E07A9051-6965-2869-74DE-65526C4E8C86}"/>
              </a:ext>
            </a:extLst>
          </p:cNvPr>
          <p:cNvPicPr>
            <a:picLocks noChangeAspect="1"/>
          </p:cNvPicPr>
          <p:nvPr/>
        </p:nvPicPr>
        <p:blipFill>
          <a:blip r:embed="rId5"/>
          <a:stretch>
            <a:fillRect/>
          </a:stretch>
        </p:blipFill>
        <p:spPr>
          <a:xfrm>
            <a:off x="4629592" y="2705023"/>
            <a:ext cx="3827093" cy="1286232"/>
          </a:xfrm>
          <a:prstGeom prst="rect">
            <a:avLst/>
          </a:prstGeom>
        </p:spPr>
      </p:pic>
      <p:pic>
        <p:nvPicPr>
          <p:cNvPr id="4" name="Picture 3">
            <a:extLst>
              <a:ext uri="{FF2B5EF4-FFF2-40B4-BE49-F238E27FC236}">
                <a16:creationId xmlns:a16="http://schemas.microsoft.com/office/drawing/2014/main" id="{C7D5D25D-F372-B5F4-3A34-B27822DC7DBE}"/>
              </a:ext>
            </a:extLst>
          </p:cNvPr>
          <p:cNvPicPr>
            <a:picLocks noChangeAspect="1"/>
          </p:cNvPicPr>
          <p:nvPr/>
        </p:nvPicPr>
        <p:blipFill>
          <a:blip r:embed="rId6"/>
          <a:stretch>
            <a:fillRect/>
          </a:stretch>
        </p:blipFill>
        <p:spPr>
          <a:xfrm>
            <a:off x="4629591" y="1355675"/>
            <a:ext cx="3801134" cy="1269139"/>
          </a:xfrm>
          <a:prstGeom prst="rect">
            <a:avLst/>
          </a:prstGeom>
        </p:spPr>
      </p:pic>
      <p:sp>
        <p:nvSpPr>
          <p:cNvPr id="2" name="TextBox 1">
            <a:extLst>
              <a:ext uri="{FF2B5EF4-FFF2-40B4-BE49-F238E27FC236}">
                <a16:creationId xmlns:a16="http://schemas.microsoft.com/office/drawing/2014/main" id="{C17E8B86-D990-1D21-C410-CAE1FD1581A7}"/>
              </a:ext>
            </a:extLst>
          </p:cNvPr>
          <p:cNvSpPr txBox="1"/>
          <p:nvPr/>
        </p:nvSpPr>
        <p:spPr>
          <a:xfrm>
            <a:off x="3564040" y="3878328"/>
            <a:ext cx="2315976" cy="307777"/>
          </a:xfrm>
          <a:prstGeom prst="rect">
            <a:avLst/>
          </a:prstGeom>
          <a:noFill/>
        </p:spPr>
        <p:txBody>
          <a:bodyPr wrap="square" rtlCol="0">
            <a:spAutoFit/>
          </a:bodyPr>
          <a:lstStyle/>
          <a:p>
            <a:r>
              <a:rPr lang="en-US" err="1">
                <a:solidFill>
                  <a:srgbClr val="FF0000"/>
                </a:solidFill>
              </a:rPr>
              <a:t>muc_nuoc_thuong_luu_m</a:t>
            </a:r>
            <a:endParaRPr lang="en-US">
              <a:solidFill>
                <a:srgbClr val="FF0000"/>
              </a:solidFill>
            </a:endParaRPr>
          </a:p>
        </p:txBody>
      </p:sp>
    </p:spTree>
    <p:extLst>
      <p:ext uri="{BB962C8B-B14F-4D97-AF65-F5344CB8AC3E}">
        <p14:creationId xmlns:p14="http://schemas.microsoft.com/office/powerpoint/2010/main" val="124005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929C1D4D-8618-5D2E-A15C-6378382CB8A3}"/>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BD76BEC7-8D6F-0489-AAC9-63DA876A776C}"/>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5E2F3049-4287-AAB7-6766-B6A21BAF9224}"/>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0F96FCFE-0F62-C1B0-9444-F969FE84A3E4}"/>
              </a:ext>
            </a:extLst>
          </p:cNvPr>
          <p:cNvPicPr>
            <a:picLocks noChangeAspect="1"/>
          </p:cNvPicPr>
          <p:nvPr/>
        </p:nvPicPr>
        <p:blipFill>
          <a:blip r:embed="rId3"/>
          <a:stretch>
            <a:fillRect/>
          </a:stretch>
        </p:blipFill>
        <p:spPr>
          <a:xfrm>
            <a:off x="775121" y="1355676"/>
            <a:ext cx="3621266" cy="1216074"/>
          </a:xfrm>
          <a:prstGeom prst="rect">
            <a:avLst/>
          </a:prstGeom>
        </p:spPr>
      </p:pic>
      <p:pic>
        <p:nvPicPr>
          <p:cNvPr id="7" name="Picture 6">
            <a:extLst>
              <a:ext uri="{FF2B5EF4-FFF2-40B4-BE49-F238E27FC236}">
                <a16:creationId xmlns:a16="http://schemas.microsoft.com/office/drawing/2014/main" id="{D900AE2D-7FCF-F980-8E1C-AA2B6AC45F58}"/>
              </a:ext>
            </a:extLst>
          </p:cNvPr>
          <p:cNvPicPr>
            <a:picLocks noChangeAspect="1"/>
          </p:cNvPicPr>
          <p:nvPr/>
        </p:nvPicPr>
        <p:blipFill>
          <a:blip r:embed="rId4"/>
          <a:stretch>
            <a:fillRect/>
          </a:stretch>
        </p:blipFill>
        <p:spPr>
          <a:xfrm>
            <a:off x="775121" y="2706308"/>
            <a:ext cx="3612368" cy="1216074"/>
          </a:xfrm>
          <a:prstGeom prst="rect">
            <a:avLst/>
          </a:prstGeom>
        </p:spPr>
      </p:pic>
      <p:pic>
        <p:nvPicPr>
          <p:cNvPr id="9" name="Picture 8">
            <a:extLst>
              <a:ext uri="{FF2B5EF4-FFF2-40B4-BE49-F238E27FC236}">
                <a16:creationId xmlns:a16="http://schemas.microsoft.com/office/drawing/2014/main" id="{0A258DC3-E32F-60C1-831D-B9C987045980}"/>
              </a:ext>
            </a:extLst>
          </p:cNvPr>
          <p:cNvPicPr>
            <a:picLocks noChangeAspect="1"/>
          </p:cNvPicPr>
          <p:nvPr/>
        </p:nvPicPr>
        <p:blipFill>
          <a:blip r:embed="rId5"/>
          <a:stretch>
            <a:fillRect/>
          </a:stretch>
        </p:blipFill>
        <p:spPr>
          <a:xfrm>
            <a:off x="4629592" y="2705023"/>
            <a:ext cx="3827093" cy="1286232"/>
          </a:xfrm>
          <a:prstGeom prst="rect">
            <a:avLst/>
          </a:prstGeom>
        </p:spPr>
      </p:pic>
      <p:pic>
        <p:nvPicPr>
          <p:cNvPr id="4" name="Picture 3">
            <a:extLst>
              <a:ext uri="{FF2B5EF4-FFF2-40B4-BE49-F238E27FC236}">
                <a16:creationId xmlns:a16="http://schemas.microsoft.com/office/drawing/2014/main" id="{1DC75DBF-7A8B-63AE-7C00-91395CF658BD}"/>
              </a:ext>
            </a:extLst>
          </p:cNvPr>
          <p:cNvPicPr>
            <a:picLocks noChangeAspect="1"/>
          </p:cNvPicPr>
          <p:nvPr/>
        </p:nvPicPr>
        <p:blipFill>
          <a:blip r:embed="rId6"/>
          <a:stretch>
            <a:fillRect/>
          </a:stretch>
        </p:blipFill>
        <p:spPr>
          <a:xfrm>
            <a:off x="4629591" y="1355675"/>
            <a:ext cx="3801134" cy="1269139"/>
          </a:xfrm>
          <a:prstGeom prst="rect">
            <a:avLst/>
          </a:prstGeom>
        </p:spPr>
      </p:pic>
      <p:sp>
        <p:nvSpPr>
          <p:cNvPr id="2" name="Rectangle 1">
            <a:extLst>
              <a:ext uri="{FF2B5EF4-FFF2-40B4-BE49-F238E27FC236}">
                <a16:creationId xmlns:a16="http://schemas.microsoft.com/office/drawing/2014/main" id="{D03DA206-E305-9FD7-06B3-8DD5DEEF7206}"/>
              </a:ext>
            </a:extLst>
          </p:cNvPr>
          <p:cNvSpPr/>
          <p:nvPr/>
        </p:nvSpPr>
        <p:spPr>
          <a:xfrm>
            <a:off x="2077080" y="1444939"/>
            <a:ext cx="1192960" cy="69269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644C89B-F982-0690-5723-4E5F61C267DD}"/>
              </a:ext>
            </a:extLst>
          </p:cNvPr>
          <p:cNvSpPr/>
          <p:nvPr/>
        </p:nvSpPr>
        <p:spPr>
          <a:xfrm>
            <a:off x="6044526" y="1490234"/>
            <a:ext cx="1192960" cy="69269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C475A4F-92F7-0B93-54C1-D3DAA2625A31}"/>
              </a:ext>
            </a:extLst>
          </p:cNvPr>
          <p:cNvSpPr/>
          <p:nvPr/>
        </p:nvSpPr>
        <p:spPr>
          <a:xfrm>
            <a:off x="2077080" y="2740744"/>
            <a:ext cx="1192960" cy="69269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A42BC8-D904-850E-7D24-D63311A4AE49}"/>
              </a:ext>
            </a:extLst>
          </p:cNvPr>
          <p:cNvSpPr txBox="1"/>
          <p:nvPr/>
        </p:nvSpPr>
        <p:spPr>
          <a:xfrm>
            <a:off x="3564040" y="3878328"/>
            <a:ext cx="2315976" cy="307777"/>
          </a:xfrm>
          <a:prstGeom prst="rect">
            <a:avLst/>
          </a:prstGeom>
          <a:noFill/>
        </p:spPr>
        <p:txBody>
          <a:bodyPr wrap="square" rtlCol="0">
            <a:spAutoFit/>
          </a:bodyPr>
          <a:lstStyle/>
          <a:p>
            <a:r>
              <a:rPr lang="en-US" err="1">
                <a:solidFill>
                  <a:srgbClr val="FF0000"/>
                </a:solidFill>
              </a:rPr>
              <a:t>muc_nuoc_thuong_luu_m</a:t>
            </a:r>
            <a:endParaRPr lang="en-US">
              <a:solidFill>
                <a:srgbClr val="FF0000"/>
              </a:solidFill>
            </a:endParaRPr>
          </a:p>
        </p:txBody>
      </p:sp>
    </p:spTree>
    <p:extLst>
      <p:ext uri="{BB962C8B-B14F-4D97-AF65-F5344CB8AC3E}">
        <p14:creationId xmlns:p14="http://schemas.microsoft.com/office/powerpoint/2010/main" val="2056455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70ED377F-DD99-FDF8-FCC8-7DA304C83BF1}"/>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DB6D8F8D-A3BB-41D8-4EBC-C682095BC367}"/>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1F485AF1-B661-2511-7B83-A2D7B759B1E3}"/>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CB620310-AC9D-EE17-19E5-9382BC2B2488}"/>
              </a:ext>
            </a:extLst>
          </p:cNvPr>
          <p:cNvPicPr>
            <a:picLocks noChangeAspect="1"/>
          </p:cNvPicPr>
          <p:nvPr/>
        </p:nvPicPr>
        <p:blipFill>
          <a:blip r:embed="rId3"/>
          <a:stretch>
            <a:fillRect/>
          </a:stretch>
        </p:blipFill>
        <p:spPr>
          <a:xfrm>
            <a:off x="775121" y="1355676"/>
            <a:ext cx="3621266" cy="1216074"/>
          </a:xfrm>
          <a:prstGeom prst="rect">
            <a:avLst/>
          </a:prstGeom>
        </p:spPr>
      </p:pic>
      <p:pic>
        <p:nvPicPr>
          <p:cNvPr id="7" name="Picture 6">
            <a:extLst>
              <a:ext uri="{FF2B5EF4-FFF2-40B4-BE49-F238E27FC236}">
                <a16:creationId xmlns:a16="http://schemas.microsoft.com/office/drawing/2014/main" id="{A14EC9C5-1217-C1D0-942B-169D0EBB875A}"/>
              </a:ext>
            </a:extLst>
          </p:cNvPr>
          <p:cNvPicPr>
            <a:picLocks noChangeAspect="1"/>
          </p:cNvPicPr>
          <p:nvPr/>
        </p:nvPicPr>
        <p:blipFill>
          <a:blip r:embed="rId4"/>
          <a:stretch>
            <a:fillRect/>
          </a:stretch>
        </p:blipFill>
        <p:spPr>
          <a:xfrm>
            <a:off x="775121" y="2706308"/>
            <a:ext cx="3612368" cy="1216074"/>
          </a:xfrm>
          <a:prstGeom prst="rect">
            <a:avLst/>
          </a:prstGeom>
        </p:spPr>
      </p:pic>
      <p:pic>
        <p:nvPicPr>
          <p:cNvPr id="9" name="Picture 8">
            <a:extLst>
              <a:ext uri="{FF2B5EF4-FFF2-40B4-BE49-F238E27FC236}">
                <a16:creationId xmlns:a16="http://schemas.microsoft.com/office/drawing/2014/main" id="{B12A83AC-87F1-4A24-51CC-4899A6F68F88}"/>
              </a:ext>
            </a:extLst>
          </p:cNvPr>
          <p:cNvPicPr>
            <a:picLocks noChangeAspect="1"/>
          </p:cNvPicPr>
          <p:nvPr/>
        </p:nvPicPr>
        <p:blipFill>
          <a:blip r:embed="rId5"/>
          <a:stretch>
            <a:fillRect/>
          </a:stretch>
        </p:blipFill>
        <p:spPr>
          <a:xfrm>
            <a:off x="4629592" y="2705023"/>
            <a:ext cx="3827093" cy="1286232"/>
          </a:xfrm>
          <a:prstGeom prst="rect">
            <a:avLst/>
          </a:prstGeom>
        </p:spPr>
      </p:pic>
      <p:pic>
        <p:nvPicPr>
          <p:cNvPr id="4" name="Picture 3">
            <a:extLst>
              <a:ext uri="{FF2B5EF4-FFF2-40B4-BE49-F238E27FC236}">
                <a16:creationId xmlns:a16="http://schemas.microsoft.com/office/drawing/2014/main" id="{BBD85115-A50D-33A9-C246-9B70DDA8750A}"/>
              </a:ext>
            </a:extLst>
          </p:cNvPr>
          <p:cNvPicPr>
            <a:picLocks noChangeAspect="1"/>
          </p:cNvPicPr>
          <p:nvPr/>
        </p:nvPicPr>
        <p:blipFill>
          <a:blip r:embed="rId6"/>
          <a:stretch>
            <a:fillRect/>
          </a:stretch>
        </p:blipFill>
        <p:spPr>
          <a:xfrm>
            <a:off x="4629591" y="1355675"/>
            <a:ext cx="3801134" cy="1269139"/>
          </a:xfrm>
          <a:prstGeom prst="rect">
            <a:avLst/>
          </a:prstGeom>
        </p:spPr>
      </p:pic>
      <p:sp>
        <p:nvSpPr>
          <p:cNvPr id="12" name="Rectangle 11">
            <a:extLst>
              <a:ext uri="{FF2B5EF4-FFF2-40B4-BE49-F238E27FC236}">
                <a16:creationId xmlns:a16="http://schemas.microsoft.com/office/drawing/2014/main" id="{843F51C3-5873-5CE3-55F6-6FD9761D6D42}"/>
              </a:ext>
            </a:extLst>
          </p:cNvPr>
          <p:cNvSpPr/>
          <p:nvPr/>
        </p:nvSpPr>
        <p:spPr>
          <a:xfrm>
            <a:off x="6044526" y="3010188"/>
            <a:ext cx="1192959" cy="9810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49B6E06-0065-2B26-C649-276BFB99171E}"/>
              </a:ext>
            </a:extLst>
          </p:cNvPr>
          <p:cNvSpPr txBox="1"/>
          <p:nvPr/>
        </p:nvSpPr>
        <p:spPr>
          <a:xfrm>
            <a:off x="3564040" y="3878328"/>
            <a:ext cx="2315976" cy="307777"/>
          </a:xfrm>
          <a:prstGeom prst="rect">
            <a:avLst/>
          </a:prstGeom>
          <a:noFill/>
        </p:spPr>
        <p:txBody>
          <a:bodyPr wrap="square" rtlCol="0">
            <a:spAutoFit/>
          </a:bodyPr>
          <a:lstStyle/>
          <a:p>
            <a:r>
              <a:rPr lang="en-US" err="1">
                <a:solidFill>
                  <a:srgbClr val="FF0000"/>
                </a:solidFill>
              </a:rPr>
              <a:t>muc_nuoc_thuong_luu_m</a:t>
            </a:r>
            <a:endParaRPr lang="en-US">
              <a:solidFill>
                <a:srgbClr val="FF0000"/>
              </a:solidFill>
            </a:endParaRPr>
          </a:p>
        </p:txBody>
      </p:sp>
    </p:spTree>
    <p:extLst>
      <p:ext uri="{BB962C8B-B14F-4D97-AF65-F5344CB8AC3E}">
        <p14:creationId xmlns:p14="http://schemas.microsoft.com/office/powerpoint/2010/main" val="2545178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91CED841-8A63-539A-692D-23D88645D1E6}"/>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33B6D5AB-01D2-672A-9E79-C3BEA858533A}"/>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C3341FA2-B2CF-9B77-156F-5F001D59DC61}"/>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B2DF7263-DA9B-4E27-15A4-892ABC19010E}"/>
              </a:ext>
            </a:extLst>
          </p:cNvPr>
          <p:cNvPicPr>
            <a:picLocks noChangeAspect="1"/>
          </p:cNvPicPr>
          <p:nvPr/>
        </p:nvPicPr>
        <p:blipFill>
          <a:blip r:embed="rId3"/>
          <a:stretch>
            <a:fillRect/>
          </a:stretch>
        </p:blipFill>
        <p:spPr>
          <a:xfrm>
            <a:off x="993123" y="1320177"/>
            <a:ext cx="7157754" cy="2503146"/>
          </a:xfrm>
          <a:prstGeom prst="rect">
            <a:avLst/>
          </a:prstGeom>
        </p:spPr>
      </p:pic>
      <p:sp>
        <p:nvSpPr>
          <p:cNvPr id="6" name="TextBox 5">
            <a:extLst>
              <a:ext uri="{FF2B5EF4-FFF2-40B4-BE49-F238E27FC236}">
                <a16:creationId xmlns:a16="http://schemas.microsoft.com/office/drawing/2014/main" id="{16E29C4D-806B-3582-E2A6-6DADD6FCE8F5}"/>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Tree>
    <p:extLst>
      <p:ext uri="{BB962C8B-B14F-4D97-AF65-F5344CB8AC3E}">
        <p14:creationId xmlns:p14="http://schemas.microsoft.com/office/powerpoint/2010/main" val="1951519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74856C19-28FD-E98D-C5D1-DABEAC47F3DD}"/>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35223724-2DD7-DE5C-CC00-8B9736AB9F82}"/>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C6E019A8-136F-7EF1-7539-1BEFD2AC1076}"/>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F538CC0B-3791-5567-8DB9-91ADC34B09FD}"/>
              </a:ext>
            </a:extLst>
          </p:cNvPr>
          <p:cNvPicPr>
            <a:picLocks noChangeAspect="1"/>
          </p:cNvPicPr>
          <p:nvPr/>
        </p:nvPicPr>
        <p:blipFill>
          <a:blip r:embed="rId3"/>
          <a:stretch>
            <a:fillRect/>
          </a:stretch>
        </p:blipFill>
        <p:spPr>
          <a:xfrm>
            <a:off x="993123" y="1320177"/>
            <a:ext cx="7157754" cy="2503146"/>
          </a:xfrm>
          <a:prstGeom prst="rect">
            <a:avLst/>
          </a:prstGeom>
        </p:spPr>
      </p:pic>
      <p:sp>
        <p:nvSpPr>
          <p:cNvPr id="6" name="TextBox 5">
            <a:extLst>
              <a:ext uri="{FF2B5EF4-FFF2-40B4-BE49-F238E27FC236}">
                <a16:creationId xmlns:a16="http://schemas.microsoft.com/office/drawing/2014/main" id="{6A6A224F-623A-D19F-9403-648623D9D537}"/>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
        <p:nvSpPr>
          <p:cNvPr id="2" name="Rectangle 1">
            <a:extLst>
              <a:ext uri="{FF2B5EF4-FFF2-40B4-BE49-F238E27FC236}">
                <a16:creationId xmlns:a16="http://schemas.microsoft.com/office/drawing/2014/main" id="{121A1ECC-404D-8202-1EE5-A510CD781043}"/>
              </a:ext>
            </a:extLst>
          </p:cNvPr>
          <p:cNvSpPr/>
          <p:nvPr/>
        </p:nvSpPr>
        <p:spPr>
          <a:xfrm>
            <a:off x="2103147" y="1877876"/>
            <a:ext cx="718881" cy="17403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4E9BFC3-B8B3-B719-6EB8-970C0B9A81AC}"/>
              </a:ext>
            </a:extLst>
          </p:cNvPr>
          <p:cNvSpPr/>
          <p:nvPr/>
        </p:nvSpPr>
        <p:spPr>
          <a:xfrm>
            <a:off x="4013402" y="2571750"/>
            <a:ext cx="718881" cy="10464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66D9B79-44E3-8386-4CD3-80C7E50BC005}"/>
              </a:ext>
            </a:extLst>
          </p:cNvPr>
          <p:cNvSpPr/>
          <p:nvPr/>
        </p:nvSpPr>
        <p:spPr>
          <a:xfrm>
            <a:off x="5435796" y="1702675"/>
            <a:ext cx="718881" cy="1836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F256B54-B08E-A999-EE5B-DAF7E4BA2E98}"/>
              </a:ext>
            </a:extLst>
          </p:cNvPr>
          <p:cNvSpPr/>
          <p:nvPr/>
        </p:nvSpPr>
        <p:spPr>
          <a:xfrm>
            <a:off x="6986610" y="1781503"/>
            <a:ext cx="718881" cy="1836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1147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EA950EC8-8E6B-1149-86AC-AC2F26C2FAA9}"/>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F80FC86E-6947-7E7D-3004-AB8B920F2B5E}"/>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726791F5-2572-5255-A22E-6EACF98632D6}"/>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F99C5DD2-5C44-6F06-CFF5-7683451801D1}"/>
              </a:ext>
            </a:extLst>
          </p:cNvPr>
          <p:cNvPicPr>
            <a:picLocks noChangeAspect="1"/>
          </p:cNvPicPr>
          <p:nvPr/>
        </p:nvPicPr>
        <p:blipFill>
          <a:blip r:embed="rId3"/>
          <a:stretch>
            <a:fillRect/>
          </a:stretch>
        </p:blipFill>
        <p:spPr>
          <a:xfrm>
            <a:off x="4571975" y="1385833"/>
            <a:ext cx="4050582" cy="1351312"/>
          </a:xfrm>
          <a:prstGeom prst="rect">
            <a:avLst/>
          </a:prstGeom>
        </p:spPr>
      </p:pic>
      <p:pic>
        <p:nvPicPr>
          <p:cNvPr id="5" name="Picture 4">
            <a:extLst>
              <a:ext uri="{FF2B5EF4-FFF2-40B4-BE49-F238E27FC236}">
                <a16:creationId xmlns:a16="http://schemas.microsoft.com/office/drawing/2014/main" id="{8ACF9402-F278-664B-DAB7-31B10900A162}"/>
              </a:ext>
            </a:extLst>
          </p:cNvPr>
          <p:cNvPicPr>
            <a:picLocks noChangeAspect="1"/>
          </p:cNvPicPr>
          <p:nvPr/>
        </p:nvPicPr>
        <p:blipFill>
          <a:blip r:embed="rId4"/>
          <a:stretch>
            <a:fillRect/>
          </a:stretch>
        </p:blipFill>
        <p:spPr>
          <a:xfrm>
            <a:off x="607622" y="1385833"/>
            <a:ext cx="3900110" cy="1296811"/>
          </a:xfrm>
          <a:prstGeom prst="rect">
            <a:avLst/>
          </a:prstGeom>
        </p:spPr>
      </p:pic>
      <p:pic>
        <p:nvPicPr>
          <p:cNvPr id="7" name="Picture 6">
            <a:extLst>
              <a:ext uri="{FF2B5EF4-FFF2-40B4-BE49-F238E27FC236}">
                <a16:creationId xmlns:a16="http://schemas.microsoft.com/office/drawing/2014/main" id="{6272B547-0151-07C0-7476-09924C23DB2C}"/>
              </a:ext>
            </a:extLst>
          </p:cNvPr>
          <p:cNvPicPr>
            <a:picLocks noChangeAspect="1"/>
          </p:cNvPicPr>
          <p:nvPr/>
        </p:nvPicPr>
        <p:blipFill>
          <a:blip r:embed="rId5"/>
          <a:stretch>
            <a:fillRect/>
          </a:stretch>
        </p:blipFill>
        <p:spPr>
          <a:xfrm>
            <a:off x="607622" y="2893598"/>
            <a:ext cx="3900110" cy="1298962"/>
          </a:xfrm>
          <a:prstGeom prst="rect">
            <a:avLst/>
          </a:prstGeom>
        </p:spPr>
      </p:pic>
      <p:pic>
        <p:nvPicPr>
          <p:cNvPr id="9" name="Picture 8">
            <a:extLst>
              <a:ext uri="{FF2B5EF4-FFF2-40B4-BE49-F238E27FC236}">
                <a16:creationId xmlns:a16="http://schemas.microsoft.com/office/drawing/2014/main" id="{E803305C-2DAA-6D8E-6976-4C731BF5B737}"/>
              </a:ext>
            </a:extLst>
          </p:cNvPr>
          <p:cNvPicPr>
            <a:picLocks noChangeAspect="1"/>
          </p:cNvPicPr>
          <p:nvPr/>
        </p:nvPicPr>
        <p:blipFill>
          <a:blip r:embed="rId6"/>
          <a:stretch>
            <a:fillRect/>
          </a:stretch>
        </p:blipFill>
        <p:spPr>
          <a:xfrm>
            <a:off x="4571975" y="2893598"/>
            <a:ext cx="4050582" cy="1329106"/>
          </a:xfrm>
          <a:prstGeom prst="rect">
            <a:avLst/>
          </a:prstGeom>
        </p:spPr>
      </p:pic>
      <p:sp>
        <p:nvSpPr>
          <p:cNvPr id="4" name="TextBox 3">
            <a:extLst>
              <a:ext uri="{FF2B5EF4-FFF2-40B4-BE49-F238E27FC236}">
                <a16:creationId xmlns:a16="http://schemas.microsoft.com/office/drawing/2014/main" id="{5CF91E4A-124F-075B-9B48-B569463D1D85}"/>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Tree>
    <p:extLst>
      <p:ext uri="{BB962C8B-B14F-4D97-AF65-F5344CB8AC3E}">
        <p14:creationId xmlns:p14="http://schemas.microsoft.com/office/powerpoint/2010/main" val="28774764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898C74D8-C2BA-9B77-8B8F-5D3A13FCBD41}"/>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AC842CA2-00B5-1B82-61B2-755DE0EDE36C}"/>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9DBCFBBE-D6F9-CBBD-EC4E-DBC7168A5B13}"/>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61BACAA4-CBA1-1538-159F-22C21F5616C4}"/>
              </a:ext>
            </a:extLst>
          </p:cNvPr>
          <p:cNvPicPr>
            <a:picLocks noChangeAspect="1"/>
          </p:cNvPicPr>
          <p:nvPr/>
        </p:nvPicPr>
        <p:blipFill>
          <a:blip r:embed="rId3"/>
          <a:stretch>
            <a:fillRect/>
          </a:stretch>
        </p:blipFill>
        <p:spPr>
          <a:xfrm>
            <a:off x="4571975" y="1385833"/>
            <a:ext cx="4050582" cy="1351312"/>
          </a:xfrm>
          <a:prstGeom prst="rect">
            <a:avLst/>
          </a:prstGeom>
        </p:spPr>
      </p:pic>
      <p:pic>
        <p:nvPicPr>
          <p:cNvPr id="5" name="Picture 4">
            <a:extLst>
              <a:ext uri="{FF2B5EF4-FFF2-40B4-BE49-F238E27FC236}">
                <a16:creationId xmlns:a16="http://schemas.microsoft.com/office/drawing/2014/main" id="{A5243CF8-6202-64A8-A59C-FD714B7AE3BA}"/>
              </a:ext>
            </a:extLst>
          </p:cNvPr>
          <p:cNvPicPr>
            <a:picLocks noChangeAspect="1"/>
          </p:cNvPicPr>
          <p:nvPr/>
        </p:nvPicPr>
        <p:blipFill>
          <a:blip r:embed="rId4"/>
          <a:stretch>
            <a:fillRect/>
          </a:stretch>
        </p:blipFill>
        <p:spPr>
          <a:xfrm>
            <a:off x="607622" y="1385833"/>
            <a:ext cx="3900110" cy="1296811"/>
          </a:xfrm>
          <a:prstGeom prst="rect">
            <a:avLst/>
          </a:prstGeom>
        </p:spPr>
      </p:pic>
      <p:pic>
        <p:nvPicPr>
          <p:cNvPr id="7" name="Picture 6">
            <a:extLst>
              <a:ext uri="{FF2B5EF4-FFF2-40B4-BE49-F238E27FC236}">
                <a16:creationId xmlns:a16="http://schemas.microsoft.com/office/drawing/2014/main" id="{4CB8977E-5FAA-9001-2A61-DDD4BD92988A}"/>
              </a:ext>
            </a:extLst>
          </p:cNvPr>
          <p:cNvPicPr>
            <a:picLocks noChangeAspect="1"/>
          </p:cNvPicPr>
          <p:nvPr/>
        </p:nvPicPr>
        <p:blipFill>
          <a:blip r:embed="rId5"/>
          <a:stretch>
            <a:fillRect/>
          </a:stretch>
        </p:blipFill>
        <p:spPr>
          <a:xfrm>
            <a:off x="607622" y="2893598"/>
            <a:ext cx="3900110" cy="1298962"/>
          </a:xfrm>
          <a:prstGeom prst="rect">
            <a:avLst/>
          </a:prstGeom>
        </p:spPr>
      </p:pic>
      <p:pic>
        <p:nvPicPr>
          <p:cNvPr id="9" name="Picture 8">
            <a:extLst>
              <a:ext uri="{FF2B5EF4-FFF2-40B4-BE49-F238E27FC236}">
                <a16:creationId xmlns:a16="http://schemas.microsoft.com/office/drawing/2014/main" id="{ACABCC82-ED40-EC2D-2F07-D4296E90A570}"/>
              </a:ext>
            </a:extLst>
          </p:cNvPr>
          <p:cNvPicPr>
            <a:picLocks noChangeAspect="1"/>
          </p:cNvPicPr>
          <p:nvPr/>
        </p:nvPicPr>
        <p:blipFill>
          <a:blip r:embed="rId6"/>
          <a:stretch>
            <a:fillRect/>
          </a:stretch>
        </p:blipFill>
        <p:spPr>
          <a:xfrm>
            <a:off x="4571975" y="2893598"/>
            <a:ext cx="4050582" cy="1329106"/>
          </a:xfrm>
          <a:prstGeom prst="rect">
            <a:avLst/>
          </a:prstGeom>
        </p:spPr>
      </p:pic>
      <p:sp>
        <p:nvSpPr>
          <p:cNvPr id="2" name="Rectangle 1">
            <a:extLst>
              <a:ext uri="{FF2B5EF4-FFF2-40B4-BE49-F238E27FC236}">
                <a16:creationId xmlns:a16="http://schemas.microsoft.com/office/drawing/2014/main" id="{31972464-0A16-52F4-C5CB-F4BB038BB84A}"/>
              </a:ext>
            </a:extLst>
          </p:cNvPr>
          <p:cNvSpPr/>
          <p:nvPr/>
        </p:nvSpPr>
        <p:spPr>
          <a:xfrm>
            <a:off x="2361695" y="1403800"/>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2A6326A-152C-3250-4546-142E6A0F8FA1}"/>
              </a:ext>
            </a:extLst>
          </p:cNvPr>
          <p:cNvSpPr/>
          <p:nvPr/>
        </p:nvSpPr>
        <p:spPr>
          <a:xfrm>
            <a:off x="6412227" y="1403799"/>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6F49F24-6AFB-859C-7C3D-6F2907FA19D0}"/>
              </a:ext>
            </a:extLst>
          </p:cNvPr>
          <p:cNvSpPr/>
          <p:nvPr/>
        </p:nvSpPr>
        <p:spPr>
          <a:xfrm>
            <a:off x="2361695" y="2845486"/>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794AD30-B951-6C19-455A-B938793CF706}"/>
              </a:ext>
            </a:extLst>
          </p:cNvPr>
          <p:cNvSpPr/>
          <p:nvPr/>
        </p:nvSpPr>
        <p:spPr>
          <a:xfrm>
            <a:off x="6406171" y="2894673"/>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55ADA85-223E-4295-BC2F-E03687B98BFF}"/>
              </a:ext>
            </a:extLst>
          </p:cNvPr>
          <p:cNvSpPr/>
          <p:nvPr/>
        </p:nvSpPr>
        <p:spPr>
          <a:xfrm>
            <a:off x="859875" y="2173971"/>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046A89-64D4-171D-BC8C-5807C0AB6F05}"/>
              </a:ext>
            </a:extLst>
          </p:cNvPr>
          <p:cNvSpPr/>
          <p:nvPr/>
        </p:nvSpPr>
        <p:spPr>
          <a:xfrm>
            <a:off x="4872709" y="2173971"/>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7848A92-CBA5-0331-586A-70FABE253B24}"/>
              </a:ext>
            </a:extLst>
          </p:cNvPr>
          <p:cNvSpPr/>
          <p:nvPr/>
        </p:nvSpPr>
        <p:spPr>
          <a:xfrm>
            <a:off x="859875" y="3615657"/>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DB2F8B0-89F8-7690-92F2-B6632909AEBA}"/>
              </a:ext>
            </a:extLst>
          </p:cNvPr>
          <p:cNvSpPr/>
          <p:nvPr/>
        </p:nvSpPr>
        <p:spPr>
          <a:xfrm>
            <a:off x="4866653" y="3664845"/>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B28CF4C-D024-78A5-C787-9BD4C87849EC}"/>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Tree>
    <p:extLst>
      <p:ext uri="{BB962C8B-B14F-4D97-AF65-F5344CB8AC3E}">
        <p14:creationId xmlns:p14="http://schemas.microsoft.com/office/powerpoint/2010/main" val="11807143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EF15CB86-B8DE-47F5-4272-89DA8FBBEE6F}"/>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5F46A98C-9C10-28C5-80A3-C5A6B6EFA359}"/>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5323B7EA-FBB5-21D8-1AAB-240D1D4033F4}"/>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sp>
        <p:nvSpPr>
          <p:cNvPr id="4" name="TextBox 3">
            <a:extLst>
              <a:ext uri="{FF2B5EF4-FFF2-40B4-BE49-F238E27FC236}">
                <a16:creationId xmlns:a16="http://schemas.microsoft.com/office/drawing/2014/main" id="{AD1A3C71-AE8C-3A18-FE69-3D9DAF34828C}"/>
              </a:ext>
            </a:extLst>
          </p:cNvPr>
          <p:cNvSpPr txBox="1"/>
          <p:nvPr/>
        </p:nvSpPr>
        <p:spPr>
          <a:xfrm>
            <a:off x="2842167" y="4240672"/>
            <a:ext cx="3590164" cy="307777"/>
          </a:xfrm>
          <a:prstGeom prst="rect">
            <a:avLst/>
          </a:prstGeom>
          <a:noFill/>
        </p:spPr>
        <p:txBody>
          <a:bodyPr wrap="square" rtlCol="0">
            <a:spAutoFit/>
          </a:bodyPr>
          <a:lstStyle/>
          <a:p>
            <a:r>
              <a:rPr lang="en-US">
                <a:solidFill>
                  <a:srgbClr val="FF0000"/>
                </a:solidFill>
              </a:rPr>
              <a:t>tong_luong_xa_qua_dap_tran_m3_s</a:t>
            </a:r>
          </a:p>
        </p:txBody>
      </p:sp>
      <p:pic>
        <p:nvPicPr>
          <p:cNvPr id="6" name="Hình ảnh 5" descr="Ảnh có chứa văn bản, ảnh chụp màn hình, Sơ đồ, hàng&#10;&#10;Nội dung do AI tạo ra có thể không chính xác.">
            <a:extLst>
              <a:ext uri="{FF2B5EF4-FFF2-40B4-BE49-F238E27FC236}">
                <a16:creationId xmlns:a16="http://schemas.microsoft.com/office/drawing/2014/main" id="{049F2E77-2CFA-A751-D7FC-DBE12A571B82}"/>
              </a:ext>
            </a:extLst>
          </p:cNvPr>
          <p:cNvPicPr>
            <a:picLocks noChangeAspect="1"/>
          </p:cNvPicPr>
          <p:nvPr/>
        </p:nvPicPr>
        <p:blipFill>
          <a:blip r:embed="rId3"/>
          <a:stretch>
            <a:fillRect/>
          </a:stretch>
        </p:blipFill>
        <p:spPr>
          <a:xfrm>
            <a:off x="607622" y="1385832"/>
            <a:ext cx="3900110" cy="1459653"/>
          </a:xfrm>
          <a:prstGeom prst="rect">
            <a:avLst/>
          </a:prstGeom>
        </p:spPr>
      </p:pic>
      <p:pic>
        <p:nvPicPr>
          <p:cNvPr id="12" name="Hình ảnh 11" descr="Ảnh có chứa văn bản, hàng, ảnh chụp màn hình, Sơ đồ&#10;&#10;Nội dung do AI tạo ra có thể không chính xác.">
            <a:extLst>
              <a:ext uri="{FF2B5EF4-FFF2-40B4-BE49-F238E27FC236}">
                <a16:creationId xmlns:a16="http://schemas.microsoft.com/office/drawing/2014/main" id="{DAF87F27-92B7-D817-E0E4-F29E6B57230A}"/>
              </a:ext>
            </a:extLst>
          </p:cNvPr>
          <p:cNvPicPr>
            <a:picLocks noChangeAspect="1"/>
          </p:cNvPicPr>
          <p:nvPr/>
        </p:nvPicPr>
        <p:blipFill>
          <a:blip r:embed="rId4"/>
          <a:stretch>
            <a:fillRect/>
          </a:stretch>
        </p:blipFill>
        <p:spPr>
          <a:xfrm>
            <a:off x="4567440" y="1385831"/>
            <a:ext cx="4055118" cy="1445857"/>
          </a:xfrm>
          <a:prstGeom prst="rect">
            <a:avLst/>
          </a:prstGeom>
        </p:spPr>
      </p:pic>
      <p:pic>
        <p:nvPicPr>
          <p:cNvPr id="14" name="Hình ảnh 13" descr="Ảnh có chứa văn bản, ảnh chụp màn hình, Sơ đồ, hàng&#10;&#10;Nội dung do AI tạo ra có thể không chính xác.">
            <a:extLst>
              <a:ext uri="{FF2B5EF4-FFF2-40B4-BE49-F238E27FC236}">
                <a16:creationId xmlns:a16="http://schemas.microsoft.com/office/drawing/2014/main" id="{B1A548BA-E065-9561-8605-7C9B23B7B174}"/>
              </a:ext>
            </a:extLst>
          </p:cNvPr>
          <p:cNvPicPr>
            <a:picLocks noChangeAspect="1"/>
          </p:cNvPicPr>
          <p:nvPr/>
        </p:nvPicPr>
        <p:blipFill>
          <a:blip r:embed="rId5"/>
          <a:stretch>
            <a:fillRect/>
          </a:stretch>
        </p:blipFill>
        <p:spPr>
          <a:xfrm>
            <a:off x="607622" y="2893599"/>
            <a:ext cx="3900110" cy="1347074"/>
          </a:xfrm>
          <a:prstGeom prst="rect">
            <a:avLst/>
          </a:prstGeom>
        </p:spPr>
      </p:pic>
      <p:pic>
        <p:nvPicPr>
          <p:cNvPr id="16" name="Hình ảnh 15" descr="Ảnh có chứa văn bản, ảnh chụp màn hình, hàng, Sơ đồ&#10;&#10;Nội dung do AI tạo ra có thể không chính xác.">
            <a:extLst>
              <a:ext uri="{FF2B5EF4-FFF2-40B4-BE49-F238E27FC236}">
                <a16:creationId xmlns:a16="http://schemas.microsoft.com/office/drawing/2014/main" id="{7F8950BF-C8F5-F72F-CA57-4AE209672B77}"/>
              </a:ext>
            </a:extLst>
          </p:cNvPr>
          <p:cNvPicPr>
            <a:picLocks noChangeAspect="1"/>
          </p:cNvPicPr>
          <p:nvPr/>
        </p:nvPicPr>
        <p:blipFill>
          <a:blip r:embed="rId6"/>
          <a:stretch>
            <a:fillRect/>
          </a:stretch>
        </p:blipFill>
        <p:spPr>
          <a:xfrm>
            <a:off x="4555962" y="2875630"/>
            <a:ext cx="4078074" cy="1365041"/>
          </a:xfrm>
          <a:prstGeom prst="rect">
            <a:avLst/>
          </a:prstGeom>
        </p:spPr>
      </p:pic>
    </p:spTree>
    <p:extLst>
      <p:ext uri="{BB962C8B-B14F-4D97-AF65-F5344CB8AC3E}">
        <p14:creationId xmlns:p14="http://schemas.microsoft.com/office/powerpoint/2010/main" val="3521872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321A8EFB-5E51-D14A-CC0F-AE768D69DB8C}"/>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DB29DFFB-EED2-FA0D-0AAA-C9837489B5C3}"/>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557D8646-D7D0-09C4-BD5B-8D3AF95E5F78}"/>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hàng, Sơ đồ, ảnh chụp màn hình&#10;&#10;Nội dung do AI tạo ra có thể không chính xác.">
            <a:extLst>
              <a:ext uri="{FF2B5EF4-FFF2-40B4-BE49-F238E27FC236}">
                <a16:creationId xmlns:a16="http://schemas.microsoft.com/office/drawing/2014/main" id="{F425F1DA-066F-90B3-0518-B96BD31A31C8}"/>
              </a:ext>
            </a:extLst>
          </p:cNvPr>
          <p:cNvPicPr>
            <a:picLocks noChangeAspect="1"/>
          </p:cNvPicPr>
          <p:nvPr/>
        </p:nvPicPr>
        <p:blipFill>
          <a:blip r:embed="rId3"/>
          <a:stretch>
            <a:fillRect/>
          </a:stretch>
        </p:blipFill>
        <p:spPr>
          <a:xfrm>
            <a:off x="1378838" y="1072843"/>
            <a:ext cx="6386324" cy="2997814"/>
          </a:xfrm>
          <a:prstGeom prst="rect">
            <a:avLst/>
          </a:prstGeom>
        </p:spPr>
      </p:pic>
    </p:spTree>
    <p:extLst>
      <p:ext uri="{BB962C8B-B14F-4D97-AF65-F5344CB8AC3E}">
        <p14:creationId xmlns:p14="http://schemas.microsoft.com/office/powerpoint/2010/main" val="3408545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E994CB67-548E-3E43-E759-23E8BC60AA00}"/>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9D9B8D56-4014-9712-D6D4-2290809C3593}"/>
              </a:ext>
            </a:extLst>
          </p:cNvPr>
          <p:cNvSpPr>
            <a:spLocks noGrp="1"/>
          </p:cNvSpPr>
          <p:nvPr>
            <p:ph type="title"/>
          </p:nvPr>
        </p:nvSpPr>
        <p:spPr>
          <a:xfrm>
            <a:off x="713225" y="445025"/>
            <a:ext cx="7717500" cy="572700"/>
          </a:xfrm>
        </p:spPr>
        <p:txBody>
          <a:bodyPr/>
          <a:lstStyle/>
          <a:p>
            <a:pPr algn="ctr"/>
            <a:r>
              <a:rPr lang="en" sz="4000"/>
              <a:t>EDA</a:t>
            </a:r>
            <a:endParaRPr lang="en-US" sz="4000"/>
          </a:p>
        </p:txBody>
      </p:sp>
      <p:sp>
        <p:nvSpPr>
          <p:cNvPr id="11" name="Chỗ dành sẵn cho Nội dung 13">
            <a:extLst>
              <a:ext uri="{FF2B5EF4-FFF2-40B4-BE49-F238E27FC236}">
                <a16:creationId xmlns:a16="http://schemas.microsoft.com/office/drawing/2014/main" id="{3245438B-4EA3-B141-EE2C-0EBFFAA7C2C5}"/>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sp>
        <p:nvSpPr>
          <p:cNvPr id="4" name="TextBox 3">
            <a:extLst>
              <a:ext uri="{FF2B5EF4-FFF2-40B4-BE49-F238E27FC236}">
                <a16:creationId xmlns:a16="http://schemas.microsoft.com/office/drawing/2014/main" id="{E0208AAC-0FBC-2B64-6F2B-169E28F3E867}"/>
              </a:ext>
            </a:extLst>
          </p:cNvPr>
          <p:cNvSpPr txBox="1"/>
          <p:nvPr/>
        </p:nvSpPr>
        <p:spPr>
          <a:xfrm>
            <a:off x="2842167" y="4240672"/>
            <a:ext cx="3590164" cy="307777"/>
          </a:xfrm>
          <a:prstGeom prst="rect">
            <a:avLst/>
          </a:prstGeom>
          <a:noFill/>
        </p:spPr>
        <p:txBody>
          <a:bodyPr wrap="square" rtlCol="0">
            <a:spAutoFit/>
          </a:bodyPr>
          <a:lstStyle/>
          <a:p>
            <a:r>
              <a:rPr lang="en-US">
                <a:solidFill>
                  <a:srgbClr val="FF0000"/>
                </a:solidFill>
              </a:rPr>
              <a:t>tong_luong_xa_qua_nha_may_m3_s</a:t>
            </a:r>
          </a:p>
        </p:txBody>
      </p:sp>
      <p:pic>
        <p:nvPicPr>
          <p:cNvPr id="3" name="Hình ảnh 2" descr="Ảnh có chứa biểu đồ, văn bản, Kế hoạch, Hình chữ nhật&#10;&#10;Nội dung do AI tạo ra có thể không chính xác.">
            <a:extLst>
              <a:ext uri="{FF2B5EF4-FFF2-40B4-BE49-F238E27FC236}">
                <a16:creationId xmlns:a16="http://schemas.microsoft.com/office/drawing/2014/main" id="{74DA58D8-9E29-2F32-5D62-13674554F2BE}"/>
              </a:ext>
            </a:extLst>
          </p:cNvPr>
          <p:cNvPicPr>
            <a:picLocks noChangeAspect="1"/>
          </p:cNvPicPr>
          <p:nvPr/>
        </p:nvPicPr>
        <p:blipFill>
          <a:blip r:embed="rId3"/>
          <a:stretch>
            <a:fillRect/>
          </a:stretch>
        </p:blipFill>
        <p:spPr>
          <a:xfrm>
            <a:off x="575729" y="1385829"/>
            <a:ext cx="3991711" cy="1422625"/>
          </a:xfrm>
          <a:prstGeom prst="rect">
            <a:avLst/>
          </a:prstGeom>
        </p:spPr>
      </p:pic>
      <p:pic>
        <p:nvPicPr>
          <p:cNvPr id="8" name="Hình ảnh 7" descr="Ảnh có chứa văn bản, biểu đồ, Kế hoạch, Hình chữ nhật&#10;&#10;Nội dung do AI tạo ra có thể không chính xác.">
            <a:extLst>
              <a:ext uri="{FF2B5EF4-FFF2-40B4-BE49-F238E27FC236}">
                <a16:creationId xmlns:a16="http://schemas.microsoft.com/office/drawing/2014/main" id="{C50EAF31-E1F5-657D-537E-96979081B64E}"/>
              </a:ext>
            </a:extLst>
          </p:cNvPr>
          <p:cNvPicPr>
            <a:picLocks noChangeAspect="1"/>
          </p:cNvPicPr>
          <p:nvPr/>
        </p:nvPicPr>
        <p:blipFill>
          <a:blip r:embed="rId4"/>
          <a:stretch>
            <a:fillRect/>
          </a:stretch>
        </p:blipFill>
        <p:spPr>
          <a:xfrm>
            <a:off x="4748215" y="1385829"/>
            <a:ext cx="3885821" cy="1489800"/>
          </a:xfrm>
          <a:prstGeom prst="rect">
            <a:avLst/>
          </a:prstGeom>
        </p:spPr>
      </p:pic>
      <p:pic>
        <p:nvPicPr>
          <p:cNvPr id="17" name="Hình ảnh 16" descr="Ảnh có chứa văn bản, biểu đồ, ảnh chụp màn hình, hàng&#10;&#10;Nội dung do AI tạo ra có thể không chính xác.">
            <a:extLst>
              <a:ext uri="{FF2B5EF4-FFF2-40B4-BE49-F238E27FC236}">
                <a16:creationId xmlns:a16="http://schemas.microsoft.com/office/drawing/2014/main" id="{CB23C224-4987-E941-D6C1-4CC21DBA21AB}"/>
              </a:ext>
            </a:extLst>
          </p:cNvPr>
          <p:cNvPicPr>
            <a:picLocks noChangeAspect="1"/>
          </p:cNvPicPr>
          <p:nvPr/>
        </p:nvPicPr>
        <p:blipFill>
          <a:blip r:embed="rId5"/>
          <a:stretch>
            <a:fillRect/>
          </a:stretch>
        </p:blipFill>
        <p:spPr>
          <a:xfrm>
            <a:off x="549000" y="2875629"/>
            <a:ext cx="4018440" cy="1365041"/>
          </a:xfrm>
          <a:prstGeom prst="rect">
            <a:avLst/>
          </a:prstGeom>
        </p:spPr>
      </p:pic>
      <p:pic>
        <p:nvPicPr>
          <p:cNvPr id="19" name="Hình ảnh 18" descr="Ảnh có chứa biểu đồ, Kế hoạch, Hình chữ nhật, ảnh chụp màn hình&#10;&#10;Nội dung do AI tạo ra có thể không chính xác.">
            <a:extLst>
              <a:ext uri="{FF2B5EF4-FFF2-40B4-BE49-F238E27FC236}">
                <a16:creationId xmlns:a16="http://schemas.microsoft.com/office/drawing/2014/main" id="{8613DE71-28E7-AF3B-C015-2879E343F277}"/>
              </a:ext>
            </a:extLst>
          </p:cNvPr>
          <p:cNvPicPr>
            <a:picLocks noChangeAspect="1"/>
          </p:cNvPicPr>
          <p:nvPr/>
        </p:nvPicPr>
        <p:blipFill>
          <a:blip r:embed="rId6"/>
          <a:stretch>
            <a:fillRect/>
          </a:stretch>
        </p:blipFill>
        <p:spPr>
          <a:xfrm>
            <a:off x="4748214" y="2935539"/>
            <a:ext cx="3902853" cy="1305131"/>
          </a:xfrm>
          <a:prstGeom prst="rect">
            <a:avLst/>
          </a:prstGeom>
        </p:spPr>
      </p:pic>
    </p:spTree>
    <p:extLst>
      <p:ext uri="{BB962C8B-B14F-4D97-AF65-F5344CB8AC3E}">
        <p14:creationId xmlns:p14="http://schemas.microsoft.com/office/powerpoint/2010/main" val="3632940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04">
          <a:extLst>
            <a:ext uri="{FF2B5EF4-FFF2-40B4-BE49-F238E27FC236}">
              <a16:creationId xmlns:a16="http://schemas.microsoft.com/office/drawing/2014/main" id="{F81DABAE-8964-1CFF-FCF6-8D6E55180CA0}"/>
            </a:ext>
          </a:extLst>
        </p:cNvPr>
        <p:cNvGrpSpPr/>
        <p:nvPr/>
      </p:nvGrpSpPr>
      <p:grpSpPr>
        <a:xfrm>
          <a:off x="0" y="0"/>
          <a:ext cx="0" cy="0"/>
          <a:chOff x="0" y="0"/>
          <a:chExt cx="0" cy="0"/>
        </a:xfrm>
      </p:grpSpPr>
      <p:sp>
        <p:nvSpPr>
          <p:cNvPr id="6" name="Google Shape;797;p41">
            <a:extLst>
              <a:ext uri="{FF2B5EF4-FFF2-40B4-BE49-F238E27FC236}">
                <a16:creationId xmlns:a16="http://schemas.microsoft.com/office/drawing/2014/main" id="{FA4E4B7A-AA09-8F98-D7AF-437948147E05}"/>
              </a:ext>
            </a:extLst>
          </p:cNvPr>
          <p:cNvSpPr/>
          <p:nvPr/>
        </p:nvSpPr>
        <p:spPr>
          <a:xfrm>
            <a:off x="4096350" y="1463163"/>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98;p41">
            <a:extLst>
              <a:ext uri="{FF2B5EF4-FFF2-40B4-BE49-F238E27FC236}">
                <a16:creationId xmlns:a16="http://schemas.microsoft.com/office/drawing/2014/main" id="{05E14241-2361-8E2F-D931-60858EF51A5E}"/>
              </a:ext>
            </a:extLst>
          </p:cNvPr>
          <p:cNvSpPr txBox="1">
            <a:spLocks noGrp="1"/>
          </p:cNvSpPr>
          <p:nvPr>
            <p:ph type="title"/>
          </p:nvPr>
        </p:nvSpPr>
        <p:spPr>
          <a:xfrm>
            <a:off x="2543250" y="2537925"/>
            <a:ext cx="4057500" cy="578400"/>
          </a:xfrm>
          <a:prstGeom prst="rect">
            <a:avLst/>
          </a:prstGeom>
        </p:spPr>
        <p:txBody>
          <a:bodyPr spcFirstLastPara="1" wrap="square" lIns="91425" tIns="91425" rIns="91425" bIns="91425" anchor="t" anchorCtr="0">
            <a:noAutofit/>
          </a:bodyPr>
          <a:lstStyle/>
          <a:p>
            <a:pPr lvl="0">
              <a:buClr>
                <a:schemeClr val="dk1"/>
              </a:buClr>
              <a:buSzPts val="1100"/>
            </a:pPr>
            <a:r>
              <a:rPr lang="en" sz="3200"/>
              <a:t>Preprocessing</a:t>
            </a:r>
            <a:endParaRPr sz="3200"/>
          </a:p>
        </p:txBody>
      </p:sp>
      <p:sp>
        <p:nvSpPr>
          <p:cNvPr id="8" name="Google Shape;800;p41">
            <a:extLst>
              <a:ext uri="{FF2B5EF4-FFF2-40B4-BE49-F238E27FC236}">
                <a16:creationId xmlns:a16="http://schemas.microsoft.com/office/drawing/2014/main" id="{38537A48-FFC4-AB52-B450-91ED899F884D}"/>
              </a:ext>
            </a:extLst>
          </p:cNvPr>
          <p:cNvSpPr txBox="1">
            <a:spLocks/>
          </p:cNvSpPr>
          <p:nvPr/>
        </p:nvSpPr>
        <p:spPr>
          <a:xfrm>
            <a:off x="4017450" y="1613613"/>
            <a:ext cx="1109100" cy="650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500">
                <a:solidFill>
                  <a:schemeClr val="bg1"/>
                </a:solidFill>
                <a:latin typeface="Archivo" panose="020B0604020202020204" charset="0"/>
                <a:cs typeface="Archivo" panose="020B0604020202020204" charset="0"/>
              </a:rPr>
              <a:t>03</a:t>
            </a:r>
          </a:p>
        </p:txBody>
      </p:sp>
    </p:spTree>
    <p:extLst>
      <p:ext uri="{BB962C8B-B14F-4D97-AF65-F5344CB8AC3E}">
        <p14:creationId xmlns:p14="http://schemas.microsoft.com/office/powerpoint/2010/main" val="1350581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9E3C2D09-2878-4EFB-6F61-6A30390AB3F0}"/>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8FC096BD-4E9E-A61B-BA9F-40416FC82E88}"/>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Hoa Binh’s Dam data</a:t>
            </a:r>
            <a:endParaRPr/>
          </a:p>
        </p:txBody>
      </p:sp>
      <p:graphicFrame>
        <p:nvGraphicFramePr>
          <p:cNvPr id="708" name="Google Shape;708;p38">
            <a:extLst>
              <a:ext uri="{FF2B5EF4-FFF2-40B4-BE49-F238E27FC236}">
                <a16:creationId xmlns:a16="http://schemas.microsoft.com/office/drawing/2014/main" id="{69BF718E-54E4-F4D1-A797-FE77105535DA}"/>
              </a:ext>
            </a:extLst>
          </p:cNvPr>
          <p:cNvGraphicFramePr/>
          <p:nvPr/>
        </p:nvGraphicFramePr>
        <p:xfrm>
          <a:off x="726725" y="1143495"/>
          <a:ext cx="7704000" cy="35050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muc_nuoc_dang_binh_thuong_m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Upper limit during normal operation</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muc_nuoc_chet_m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Lowest exploitable level of the reservoir</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Total water released through all outlets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so_cua_xa_sau</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Releases water from the bottom of the dam</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92413299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so_cua_xa_mat</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Releases water from the surface of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85265170"/>
                  </a:ext>
                </a:extLst>
              </a:tr>
            </a:tbl>
          </a:graphicData>
        </a:graphic>
      </p:graphicFrame>
    </p:spTree>
    <p:extLst>
      <p:ext uri="{BB962C8B-B14F-4D97-AF65-F5344CB8AC3E}">
        <p14:creationId xmlns:p14="http://schemas.microsoft.com/office/powerpoint/2010/main" val="839884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C624A4B2-1DF3-11BC-1EBD-9F31839F1111}"/>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CB3AF07B-C23D-3F3D-A58E-FECEF2E6F647}"/>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Hoa Binh’s Dam data</a:t>
            </a:r>
            <a:endParaRPr/>
          </a:p>
        </p:txBody>
      </p:sp>
      <p:graphicFrame>
        <p:nvGraphicFramePr>
          <p:cNvPr id="708" name="Google Shape;708;p38">
            <a:extLst>
              <a:ext uri="{FF2B5EF4-FFF2-40B4-BE49-F238E27FC236}">
                <a16:creationId xmlns:a16="http://schemas.microsoft.com/office/drawing/2014/main" id="{C0E90591-B9C7-4B45-8449-087CC6C3B61A}"/>
              </a:ext>
            </a:extLst>
          </p:cNvPr>
          <p:cNvGraphicFramePr/>
          <p:nvPr/>
        </p:nvGraphicFramePr>
        <p:xfrm>
          <a:off x="726725" y="1143495"/>
          <a:ext cx="7704000" cy="35050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muc_nuoc_dang_binh_thuong_m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Upper limit during normal operation</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muc_nuoc_chet_m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Lowest exploitable level of the reservoir</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Total water released through all outlets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so_cua_xa_sau</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Releases water from the bottom of the dam</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92413299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so_cua_xa_mat</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Releases water from the surface of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85265170"/>
                  </a:ext>
                </a:extLst>
              </a:tr>
            </a:tbl>
          </a:graphicData>
        </a:graphic>
      </p:graphicFrame>
      <p:cxnSp>
        <p:nvCxnSpPr>
          <p:cNvPr id="3" name="Straight Connector 2">
            <a:extLst>
              <a:ext uri="{FF2B5EF4-FFF2-40B4-BE49-F238E27FC236}">
                <a16:creationId xmlns:a16="http://schemas.microsoft.com/office/drawing/2014/main" id="{516D903A-AAC1-E126-4963-EF9641034ACC}"/>
              </a:ext>
            </a:extLst>
          </p:cNvPr>
          <p:cNvCxnSpPr>
            <a:cxnSpLocks/>
          </p:cNvCxnSpPr>
          <p:nvPr/>
        </p:nvCxnSpPr>
        <p:spPr>
          <a:xfrm>
            <a:off x="726725" y="2034692"/>
            <a:ext cx="770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0A65718-04F7-CFB3-38F7-337BD86204F7}"/>
              </a:ext>
            </a:extLst>
          </p:cNvPr>
          <p:cNvCxnSpPr>
            <a:cxnSpLocks/>
          </p:cNvCxnSpPr>
          <p:nvPr/>
        </p:nvCxnSpPr>
        <p:spPr>
          <a:xfrm>
            <a:off x="726725" y="2386928"/>
            <a:ext cx="770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937800-A52B-E9AE-5C26-CA549E9CE253}"/>
              </a:ext>
            </a:extLst>
          </p:cNvPr>
          <p:cNvCxnSpPr>
            <a:cxnSpLocks/>
          </p:cNvCxnSpPr>
          <p:nvPr/>
        </p:nvCxnSpPr>
        <p:spPr>
          <a:xfrm>
            <a:off x="713225" y="3077269"/>
            <a:ext cx="770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EEC7D22-7581-60DF-3A4D-8193E3CAA857}"/>
              </a:ext>
            </a:extLst>
          </p:cNvPr>
          <p:cNvCxnSpPr>
            <a:cxnSpLocks/>
          </p:cNvCxnSpPr>
          <p:nvPr/>
        </p:nvCxnSpPr>
        <p:spPr>
          <a:xfrm>
            <a:off x="726725" y="4147510"/>
            <a:ext cx="770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5BDB70-6DB9-086E-7B41-8E77391CFD6B}"/>
              </a:ext>
            </a:extLst>
          </p:cNvPr>
          <p:cNvCxnSpPr>
            <a:cxnSpLocks/>
          </p:cNvCxnSpPr>
          <p:nvPr/>
        </p:nvCxnSpPr>
        <p:spPr>
          <a:xfrm>
            <a:off x="726725" y="4486947"/>
            <a:ext cx="770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3243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0A94A9C5-0283-E736-19B3-FAF2AF5C1814}"/>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14EA8870-282F-EFFF-B1BF-6DECA4BFE352}"/>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A5C81A6B-F62D-DC4A-E7DF-E1898BA72E14}"/>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E29AA79B-EC19-9417-9FCB-00093085639D}"/>
              </a:ext>
            </a:extLst>
          </p:cNvPr>
          <p:cNvGraphicFramePr/>
          <p:nvPr>
            <p:extLst>
              <p:ext uri="{D42A27DB-BD31-4B8C-83A1-F6EECF244321}">
                <p14:modId xmlns:p14="http://schemas.microsoft.com/office/powerpoint/2010/main" val="126957322"/>
              </p:ext>
            </p:extLst>
          </p:nvPr>
        </p:nvGraphicFramePr>
        <p:xfrm>
          <a:off x="726725" y="114349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bl>
          </a:graphicData>
        </a:graphic>
      </p:graphicFrame>
    </p:spTree>
    <p:extLst>
      <p:ext uri="{BB962C8B-B14F-4D97-AF65-F5344CB8AC3E}">
        <p14:creationId xmlns:p14="http://schemas.microsoft.com/office/powerpoint/2010/main" val="3603164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4EB395D7-BFC3-FC1F-AB84-D018A46496C4}"/>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FA0F2CFC-922A-F4D9-6CBD-0CECBA65D7FA}"/>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7574F809-6790-50D0-5DAA-5C43A313AA2A}"/>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2CD6ACC2-AFED-F915-7383-7FCC0E75A888}"/>
              </a:ext>
            </a:extLst>
          </p:cNvPr>
          <p:cNvGraphicFramePr/>
          <p:nvPr>
            <p:extLst>
              <p:ext uri="{D42A27DB-BD31-4B8C-83A1-F6EECF244321}">
                <p14:modId xmlns:p14="http://schemas.microsoft.com/office/powerpoint/2010/main" val="840699064"/>
              </p:ext>
            </p:extLst>
          </p:nvPr>
        </p:nvGraphicFramePr>
        <p:xfrm>
          <a:off x="726725" y="114349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bl>
          </a:graphicData>
        </a:graphic>
      </p:graphicFrame>
    </p:spTree>
    <p:extLst>
      <p:ext uri="{BB962C8B-B14F-4D97-AF65-F5344CB8AC3E}">
        <p14:creationId xmlns:p14="http://schemas.microsoft.com/office/powerpoint/2010/main" val="30403647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60806FF-5F79-45FE-F2F9-8C2B6AE96234}"/>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AAF2C21F-C3C0-3E0C-A2C0-79598FDD2CCA}"/>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1" name="Chỗ dành sẵn cho Nội dung 13">
            <a:extLst>
              <a:ext uri="{FF2B5EF4-FFF2-40B4-BE49-F238E27FC236}">
                <a16:creationId xmlns:a16="http://schemas.microsoft.com/office/drawing/2014/main" id="{C798589F-D233-B258-6E06-680EF94289E4}"/>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DEBB1D06-2A2D-1BAC-C1A6-C098F2B53DA1}"/>
              </a:ext>
            </a:extLst>
          </p:cNvPr>
          <p:cNvPicPr>
            <a:picLocks noChangeAspect="1"/>
          </p:cNvPicPr>
          <p:nvPr/>
        </p:nvPicPr>
        <p:blipFill>
          <a:blip r:embed="rId3"/>
          <a:stretch>
            <a:fillRect/>
          </a:stretch>
        </p:blipFill>
        <p:spPr>
          <a:xfrm>
            <a:off x="775121" y="1355676"/>
            <a:ext cx="3621266" cy="1216074"/>
          </a:xfrm>
          <a:prstGeom prst="rect">
            <a:avLst/>
          </a:prstGeom>
        </p:spPr>
      </p:pic>
      <p:pic>
        <p:nvPicPr>
          <p:cNvPr id="7" name="Picture 6">
            <a:extLst>
              <a:ext uri="{FF2B5EF4-FFF2-40B4-BE49-F238E27FC236}">
                <a16:creationId xmlns:a16="http://schemas.microsoft.com/office/drawing/2014/main" id="{221D966F-EC98-D8FB-8321-51F4B8DF7FAD}"/>
              </a:ext>
            </a:extLst>
          </p:cNvPr>
          <p:cNvPicPr>
            <a:picLocks noChangeAspect="1"/>
          </p:cNvPicPr>
          <p:nvPr/>
        </p:nvPicPr>
        <p:blipFill>
          <a:blip r:embed="rId4"/>
          <a:stretch>
            <a:fillRect/>
          </a:stretch>
        </p:blipFill>
        <p:spPr>
          <a:xfrm>
            <a:off x="775121" y="2706308"/>
            <a:ext cx="3612368" cy="1216074"/>
          </a:xfrm>
          <a:prstGeom prst="rect">
            <a:avLst/>
          </a:prstGeom>
        </p:spPr>
      </p:pic>
      <p:pic>
        <p:nvPicPr>
          <p:cNvPr id="9" name="Picture 8">
            <a:extLst>
              <a:ext uri="{FF2B5EF4-FFF2-40B4-BE49-F238E27FC236}">
                <a16:creationId xmlns:a16="http://schemas.microsoft.com/office/drawing/2014/main" id="{B9FC0827-B9EE-A1EB-0895-2EB1503145CC}"/>
              </a:ext>
            </a:extLst>
          </p:cNvPr>
          <p:cNvPicPr>
            <a:picLocks noChangeAspect="1"/>
          </p:cNvPicPr>
          <p:nvPr/>
        </p:nvPicPr>
        <p:blipFill>
          <a:blip r:embed="rId5"/>
          <a:stretch>
            <a:fillRect/>
          </a:stretch>
        </p:blipFill>
        <p:spPr>
          <a:xfrm>
            <a:off x="4629592" y="2705023"/>
            <a:ext cx="3827093" cy="1286232"/>
          </a:xfrm>
          <a:prstGeom prst="rect">
            <a:avLst/>
          </a:prstGeom>
        </p:spPr>
      </p:pic>
      <p:pic>
        <p:nvPicPr>
          <p:cNvPr id="4" name="Picture 3">
            <a:extLst>
              <a:ext uri="{FF2B5EF4-FFF2-40B4-BE49-F238E27FC236}">
                <a16:creationId xmlns:a16="http://schemas.microsoft.com/office/drawing/2014/main" id="{C73C1644-6FA0-75E1-A66A-9924BA78FA86}"/>
              </a:ext>
            </a:extLst>
          </p:cNvPr>
          <p:cNvPicPr>
            <a:picLocks noChangeAspect="1"/>
          </p:cNvPicPr>
          <p:nvPr/>
        </p:nvPicPr>
        <p:blipFill>
          <a:blip r:embed="rId6"/>
          <a:stretch>
            <a:fillRect/>
          </a:stretch>
        </p:blipFill>
        <p:spPr>
          <a:xfrm>
            <a:off x="4629591" y="1355675"/>
            <a:ext cx="3801134" cy="1269139"/>
          </a:xfrm>
          <a:prstGeom prst="rect">
            <a:avLst/>
          </a:prstGeom>
        </p:spPr>
      </p:pic>
      <p:sp>
        <p:nvSpPr>
          <p:cNvPr id="6" name="TextBox 5">
            <a:extLst>
              <a:ext uri="{FF2B5EF4-FFF2-40B4-BE49-F238E27FC236}">
                <a16:creationId xmlns:a16="http://schemas.microsoft.com/office/drawing/2014/main" id="{E82D0F20-8A59-C8E4-6862-79FDBB60B918}"/>
              </a:ext>
            </a:extLst>
          </p:cNvPr>
          <p:cNvSpPr txBox="1"/>
          <p:nvPr/>
        </p:nvSpPr>
        <p:spPr>
          <a:xfrm>
            <a:off x="3564040" y="3878328"/>
            <a:ext cx="2315976" cy="307777"/>
          </a:xfrm>
          <a:prstGeom prst="rect">
            <a:avLst/>
          </a:prstGeom>
          <a:noFill/>
        </p:spPr>
        <p:txBody>
          <a:bodyPr wrap="square" rtlCol="0">
            <a:spAutoFit/>
          </a:bodyPr>
          <a:lstStyle/>
          <a:p>
            <a:r>
              <a:rPr lang="en-US" err="1">
                <a:solidFill>
                  <a:srgbClr val="FF0000"/>
                </a:solidFill>
              </a:rPr>
              <a:t>muc_nuoc_thuong_luu_m</a:t>
            </a:r>
            <a:endParaRPr lang="en-US">
              <a:solidFill>
                <a:srgbClr val="FF0000"/>
              </a:solidFill>
            </a:endParaRPr>
          </a:p>
        </p:txBody>
      </p:sp>
    </p:spTree>
    <p:extLst>
      <p:ext uri="{BB962C8B-B14F-4D97-AF65-F5344CB8AC3E}">
        <p14:creationId xmlns:p14="http://schemas.microsoft.com/office/powerpoint/2010/main" val="3854098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B6AB90CA-A9DA-1292-0506-7C458B15F46F}"/>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88F927B0-BB77-1BA0-8D21-66484319018F}"/>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pic>
        <p:nvPicPr>
          <p:cNvPr id="3" name="Picture 2">
            <a:extLst>
              <a:ext uri="{FF2B5EF4-FFF2-40B4-BE49-F238E27FC236}">
                <a16:creationId xmlns:a16="http://schemas.microsoft.com/office/drawing/2014/main" id="{F98DA46D-378D-A02D-3530-19AB150912FF}"/>
              </a:ext>
            </a:extLst>
          </p:cNvPr>
          <p:cNvPicPr>
            <a:picLocks noChangeAspect="1"/>
          </p:cNvPicPr>
          <p:nvPr/>
        </p:nvPicPr>
        <p:blipFill>
          <a:blip r:embed="rId3"/>
          <a:stretch>
            <a:fillRect/>
          </a:stretch>
        </p:blipFill>
        <p:spPr>
          <a:xfrm>
            <a:off x="767725" y="1343297"/>
            <a:ext cx="3700637" cy="1228453"/>
          </a:xfrm>
          <a:prstGeom prst="rect">
            <a:avLst/>
          </a:prstGeom>
        </p:spPr>
      </p:pic>
      <p:pic>
        <p:nvPicPr>
          <p:cNvPr id="5" name="Picture 4">
            <a:extLst>
              <a:ext uri="{FF2B5EF4-FFF2-40B4-BE49-F238E27FC236}">
                <a16:creationId xmlns:a16="http://schemas.microsoft.com/office/drawing/2014/main" id="{1465C07E-6A52-780C-617E-593159C51AE5}"/>
              </a:ext>
            </a:extLst>
          </p:cNvPr>
          <p:cNvPicPr>
            <a:picLocks noChangeAspect="1"/>
          </p:cNvPicPr>
          <p:nvPr/>
        </p:nvPicPr>
        <p:blipFill>
          <a:blip r:embed="rId4"/>
          <a:stretch>
            <a:fillRect/>
          </a:stretch>
        </p:blipFill>
        <p:spPr>
          <a:xfrm>
            <a:off x="4675640" y="1343297"/>
            <a:ext cx="3709924" cy="1228453"/>
          </a:xfrm>
          <a:prstGeom prst="rect">
            <a:avLst/>
          </a:prstGeom>
        </p:spPr>
      </p:pic>
      <p:pic>
        <p:nvPicPr>
          <p:cNvPr id="7" name="Picture 6">
            <a:extLst>
              <a:ext uri="{FF2B5EF4-FFF2-40B4-BE49-F238E27FC236}">
                <a16:creationId xmlns:a16="http://schemas.microsoft.com/office/drawing/2014/main" id="{0E4E93EF-0F40-A302-EA1A-F7FC2EDC9ED7}"/>
              </a:ext>
            </a:extLst>
          </p:cNvPr>
          <p:cNvPicPr>
            <a:picLocks noChangeAspect="1"/>
          </p:cNvPicPr>
          <p:nvPr/>
        </p:nvPicPr>
        <p:blipFill>
          <a:blip r:embed="rId4"/>
          <a:stretch>
            <a:fillRect/>
          </a:stretch>
        </p:blipFill>
        <p:spPr>
          <a:xfrm>
            <a:off x="763081" y="2687448"/>
            <a:ext cx="3709924" cy="1228453"/>
          </a:xfrm>
          <a:prstGeom prst="rect">
            <a:avLst/>
          </a:prstGeom>
        </p:spPr>
      </p:pic>
      <p:pic>
        <p:nvPicPr>
          <p:cNvPr id="9" name="Picture 8">
            <a:extLst>
              <a:ext uri="{FF2B5EF4-FFF2-40B4-BE49-F238E27FC236}">
                <a16:creationId xmlns:a16="http://schemas.microsoft.com/office/drawing/2014/main" id="{D2E666E5-B426-A1BC-11D5-5A9C2EC6EE33}"/>
              </a:ext>
            </a:extLst>
          </p:cNvPr>
          <p:cNvPicPr>
            <a:picLocks noChangeAspect="1"/>
          </p:cNvPicPr>
          <p:nvPr/>
        </p:nvPicPr>
        <p:blipFill>
          <a:blip r:embed="rId5"/>
          <a:stretch>
            <a:fillRect/>
          </a:stretch>
        </p:blipFill>
        <p:spPr>
          <a:xfrm>
            <a:off x="4670997" y="2687448"/>
            <a:ext cx="3709922" cy="1239710"/>
          </a:xfrm>
          <a:prstGeom prst="rect">
            <a:avLst/>
          </a:prstGeom>
        </p:spPr>
      </p:pic>
      <p:sp>
        <p:nvSpPr>
          <p:cNvPr id="12" name="TextBox 11">
            <a:extLst>
              <a:ext uri="{FF2B5EF4-FFF2-40B4-BE49-F238E27FC236}">
                <a16:creationId xmlns:a16="http://schemas.microsoft.com/office/drawing/2014/main" id="{A6B84B1B-F6A1-E58A-98EF-9090E8137015}"/>
              </a:ext>
            </a:extLst>
          </p:cNvPr>
          <p:cNvSpPr txBox="1"/>
          <p:nvPr/>
        </p:nvSpPr>
        <p:spPr>
          <a:xfrm>
            <a:off x="2848851" y="3927158"/>
            <a:ext cx="3630672" cy="307777"/>
          </a:xfrm>
          <a:prstGeom prst="rect">
            <a:avLst/>
          </a:prstGeom>
          <a:noFill/>
        </p:spPr>
        <p:txBody>
          <a:bodyPr wrap="square" rtlCol="0">
            <a:spAutoFit/>
          </a:bodyPr>
          <a:lstStyle/>
          <a:p>
            <a:r>
              <a:rPr lang="en-US" err="1">
                <a:solidFill>
                  <a:srgbClr val="FF0000"/>
                </a:solidFill>
              </a:rPr>
              <a:t>muc_nuoc_thuong_luu_m</a:t>
            </a:r>
            <a:r>
              <a:rPr lang="en-US">
                <a:solidFill>
                  <a:srgbClr val="FF0000"/>
                </a:solidFill>
              </a:rPr>
              <a:t> - preprocessed</a:t>
            </a:r>
          </a:p>
        </p:txBody>
      </p:sp>
    </p:spTree>
    <p:extLst>
      <p:ext uri="{BB962C8B-B14F-4D97-AF65-F5344CB8AC3E}">
        <p14:creationId xmlns:p14="http://schemas.microsoft.com/office/powerpoint/2010/main" val="15878184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35039D2F-3778-0B62-7A2B-C6A76AE46AEC}"/>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C1BB344D-3C7E-C17C-299A-9CB28D6DD479}"/>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CBD827AD-0BD3-0AB3-F3F2-8803BC91FA02}"/>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EB825CD0-ACA9-73A9-5AB6-89BDD1DA47EC}"/>
              </a:ext>
            </a:extLst>
          </p:cNvPr>
          <p:cNvGraphicFramePr/>
          <p:nvPr>
            <p:extLst>
              <p:ext uri="{D42A27DB-BD31-4B8C-83A1-F6EECF244321}">
                <p14:modId xmlns:p14="http://schemas.microsoft.com/office/powerpoint/2010/main" val="1336299174"/>
              </p:ext>
            </p:extLst>
          </p:nvPr>
        </p:nvGraphicFramePr>
        <p:xfrm>
          <a:off x="726725" y="114349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bl>
          </a:graphicData>
        </a:graphic>
      </p:graphicFrame>
    </p:spTree>
    <p:extLst>
      <p:ext uri="{BB962C8B-B14F-4D97-AF65-F5344CB8AC3E}">
        <p14:creationId xmlns:p14="http://schemas.microsoft.com/office/powerpoint/2010/main" val="33424741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ED694743-A74B-4771-9B11-5BFFF356F61C}"/>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B0ABAAED-6772-3725-68C8-5F6280E320F7}"/>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9ECBDAD1-4B8D-5798-448C-09CEB4E1C871}"/>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CE393BB5-1F8B-51F0-7DA6-F5D6034B3F42}"/>
              </a:ext>
            </a:extLst>
          </p:cNvPr>
          <p:cNvGraphicFramePr/>
          <p:nvPr>
            <p:extLst>
              <p:ext uri="{D42A27DB-BD31-4B8C-83A1-F6EECF244321}">
                <p14:modId xmlns:p14="http://schemas.microsoft.com/office/powerpoint/2010/main" val="1186268019"/>
              </p:ext>
            </p:extLst>
          </p:nvPr>
        </p:nvGraphicFramePr>
        <p:xfrm>
          <a:off x="726725" y="114349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bl>
          </a:graphicData>
        </a:graphic>
      </p:graphicFrame>
      <p:sp>
        <p:nvSpPr>
          <p:cNvPr id="5" name="TextBox 4">
            <a:extLst>
              <a:ext uri="{FF2B5EF4-FFF2-40B4-BE49-F238E27FC236}">
                <a16:creationId xmlns:a16="http://schemas.microsoft.com/office/drawing/2014/main" id="{277F9119-F74E-4374-E0D1-17F762BAA6CD}"/>
              </a:ext>
            </a:extLst>
          </p:cNvPr>
          <p:cNvSpPr txBox="1"/>
          <p:nvPr/>
        </p:nvSpPr>
        <p:spPr>
          <a:xfrm>
            <a:off x="2246638" y="3323917"/>
            <a:ext cx="4505388" cy="307777"/>
          </a:xfrm>
          <a:prstGeom prst="rect">
            <a:avLst/>
          </a:prstGeom>
          <a:noFill/>
        </p:spPr>
        <p:txBody>
          <a:bodyPr wrap="square" rtlCol="0">
            <a:spAutoFit/>
          </a:bodyPr>
          <a:lstStyle/>
          <a:p>
            <a:r>
              <a:rPr lang="en-US">
                <a:solidFill>
                  <a:srgbClr val="FF0000"/>
                </a:solidFill>
              </a:rPr>
              <a:t>Processed in parallel during the data engineering step</a:t>
            </a:r>
          </a:p>
        </p:txBody>
      </p:sp>
    </p:spTree>
    <p:extLst>
      <p:ext uri="{BB962C8B-B14F-4D97-AF65-F5344CB8AC3E}">
        <p14:creationId xmlns:p14="http://schemas.microsoft.com/office/powerpoint/2010/main" val="12840686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FFF27CF5-E4B9-9617-1E73-FA84102AFFD0}"/>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5DEF374C-5CAA-AF5A-6937-EC3E6A561CBA}"/>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1" name="Chỗ dành sẵn cho Nội dung 13">
            <a:extLst>
              <a:ext uri="{FF2B5EF4-FFF2-40B4-BE49-F238E27FC236}">
                <a16:creationId xmlns:a16="http://schemas.microsoft.com/office/drawing/2014/main" id="{AE747314-9955-D87E-CEDF-CA811DF9C4D0}"/>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5434A6F2-4048-14A1-16E8-1E7E38531D5E}"/>
              </a:ext>
            </a:extLst>
          </p:cNvPr>
          <p:cNvPicPr>
            <a:picLocks noChangeAspect="1"/>
          </p:cNvPicPr>
          <p:nvPr/>
        </p:nvPicPr>
        <p:blipFill>
          <a:blip r:embed="rId3"/>
          <a:stretch>
            <a:fillRect/>
          </a:stretch>
        </p:blipFill>
        <p:spPr>
          <a:xfrm>
            <a:off x="4571975" y="1385833"/>
            <a:ext cx="4050582" cy="1351312"/>
          </a:xfrm>
          <a:prstGeom prst="rect">
            <a:avLst/>
          </a:prstGeom>
        </p:spPr>
      </p:pic>
      <p:pic>
        <p:nvPicPr>
          <p:cNvPr id="5" name="Picture 4">
            <a:extLst>
              <a:ext uri="{FF2B5EF4-FFF2-40B4-BE49-F238E27FC236}">
                <a16:creationId xmlns:a16="http://schemas.microsoft.com/office/drawing/2014/main" id="{E19C5F00-F920-E8DB-EB19-327636ED81C4}"/>
              </a:ext>
            </a:extLst>
          </p:cNvPr>
          <p:cNvPicPr>
            <a:picLocks noChangeAspect="1"/>
          </p:cNvPicPr>
          <p:nvPr/>
        </p:nvPicPr>
        <p:blipFill>
          <a:blip r:embed="rId4"/>
          <a:stretch>
            <a:fillRect/>
          </a:stretch>
        </p:blipFill>
        <p:spPr>
          <a:xfrm>
            <a:off x="607622" y="1385833"/>
            <a:ext cx="3900110" cy="1296811"/>
          </a:xfrm>
          <a:prstGeom prst="rect">
            <a:avLst/>
          </a:prstGeom>
        </p:spPr>
      </p:pic>
      <p:pic>
        <p:nvPicPr>
          <p:cNvPr id="7" name="Picture 6">
            <a:extLst>
              <a:ext uri="{FF2B5EF4-FFF2-40B4-BE49-F238E27FC236}">
                <a16:creationId xmlns:a16="http://schemas.microsoft.com/office/drawing/2014/main" id="{AC8910AC-39E7-5AFD-E39C-0DC113FB7E9B}"/>
              </a:ext>
            </a:extLst>
          </p:cNvPr>
          <p:cNvPicPr>
            <a:picLocks noChangeAspect="1"/>
          </p:cNvPicPr>
          <p:nvPr/>
        </p:nvPicPr>
        <p:blipFill>
          <a:blip r:embed="rId5"/>
          <a:stretch>
            <a:fillRect/>
          </a:stretch>
        </p:blipFill>
        <p:spPr>
          <a:xfrm>
            <a:off x="607622" y="2893598"/>
            <a:ext cx="3900110" cy="1298962"/>
          </a:xfrm>
          <a:prstGeom prst="rect">
            <a:avLst/>
          </a:prstGeom>
        </p:spPr>
      </p:pic>
      <p:pic>
        <p:nvPicPr>
          <p:cNvPr id="9" name="Picture 8">
            <a:extLst>
              <a:ext uri="{FF2B5EF4-FFF2-40B4-BE49-F238E27FC236}">
                <a16:creationId xmlns:a16="http://schemas.microsoft.com/office/drawing/2014/main" id="{6706FF13-1B92-C2D5-95A0-9A716C61790C}"/>
              </a:ext>
            </a:extLst>
          </p:cNvPr>
          <p:cNvPicPr>
            <a:picLocks noChangeAspect="1"/>
          </p:cNvPicPr>
          <p:nvPr/>
        </p:nvPicPr>
        <p:blipFill>
          <a:blip r:embed="rId6"/>
          <a:stretch>
            <a:fillRect/>
          </a:stretch>
        </p:blipFill>
        <p:spPr>
          <a:xfrm>
            <a:off x="4571975" y="2893598"/>
            <a:ext cx="4050582" cy="1329106"/>
          </a:xfrm>
          <a:prstGeom prst="rect">
            <a:avLst/>
          </a:prstGeom>
        </p:spPr>
      </p:pic>
      <p:sp>
        <p:nvSpPr>
          <p:cNvPr id="2" name="Rectangle 1">
            <a:extLst>
              <a:ext uri="{FF2B5EF4-FFF2-40B4-BE49-F238E27FC236}">
                <a16:creationId xmlns:a16="http://schemas.microsoft.com/office/drawing/2014/main" id="{77DD7393-FBFB-8E1D-29E0-1DFA85BF316E}"/>
              </a:ext>
            </a:extLst>
          </p:cNvPr>
          <p:cNvSpPr/>
          <p:nvPr/>
        </p:nvSpPr>
        <p:spPr>
          <a:xfrm>
            <a:off x="2361695" y="1403800"/>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140E85C-C90C-6D4A-69E8-9F5D572F1968}"/>
              </a:ext>
            </a:extLst>
          </p:cNvPr>
          <p:cNvSpPr/>
          <p:nvPr/>
        </p:nvSpPr>
        <p:spPr>
          <a:xfrm>
            <a:off x="6412227" y="1403799"/>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607CA8F-4ABA-1DD8-2B57-9EE3D4C6FB0F}"/>
              </a:ext>
            </a:extLst>
          </p:cNvPr>
          <p:cNvSpPr/>
          <p:nvPr/>
        </p:nvSpPr>
        <p:spPr>
          <a:xfrm>
            <a:off x="2361695" y="2845486"/>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77F996C-E4FC-26F9-8AFC-5A2967302E3D}"/>
              </a:ext>
            </a:extLst>
          </p:cNvPr>
          <p:cNvSpPr/>
          <p:nvPr/>
        </p:nvSpPr>
        <p:spPr>
          <a:xfrm>
            <a:off x="6406171" y="2894673"/>
            <a:ext cx="1205070" cy="12968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274A8-0A8F-11AE-DACE-0321DD560AE1}"/>
              </a:ext>
            </a:extLst>
          </p:cNvPr>
          <p:cNvSpPr/>
          <p:nvPr/>
        </p:nvSpPr>
        <p:spPr>
          <a:xfrm>
            <a:off x="859875" y="2173971"/>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93EC9A-C24B-3688-61AF-F77C8B1F9AD3}"/>
              </a:ext>
            </a:extLst>
          </p:cNvPr>
          <p:cNvSpPr/>
          <p:nvPr/>
        </p:nvSpPr>
        <p:spPr>
          <a:xfrm>
            <a:off x="4872709" y="2173971"/>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1D4BF2-7EC9-C808-3385-3A2BBDA6CE23}"/>
              </a:ext>
            </a:extLst>
          </p:cNvPr>
          <p:cNvSpPr/>
          <p:nvPr/>
        </p:nvSpPr>
        <p:spPr>
          <a:xfrm>
            <a:off x="859875" y="3615657"/>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D659144-E4EC-A05F-92BD-14BAEB5C3D8F}"/>
              </a:ext>
            </a:extLst>
          </p:cNvPr>
          <p:cNvSpPr/>
          <p:nvPr/>
        </p:nvSpPr>
        <p:spPr>
          <a:xfrm>
            <a:off x="4866653" y="3664845"/>
            <a:ext cx="908369" cy="59510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F9CA9AA-F58C-54AD-86B8-A5A6AED2E382}"/>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Tree>
    <p:extLst>
      <p:ext uri="{BB962C8B-B14F-4D97-AF65-F5344CB8AC3E}">
        <p14:creationId xmlns:p14="http://schemas.microsoft.com/office/powerpoint/2010/main" val="3656987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CA9FA926-B6BC-0749-EFB2-4205C12038DE}"/>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E9613B71-41A6-FCC6-E2CC-619FBA3CE55C}"/>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1" name="Chỗ dành sẵn cho Nội dung 13">
            <a:extLst>
              <a:ext uri="{FF2B5EF4-FFF2-40B4-BE49-F238E27FC236}">
                <a16:creationId xmlns:a16="http://schemas.microsoft.com/office/drawing/2014/main" id="{57D277AE-772C-FE7C-F99F-213367D3866A}"/>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5B748020-F311-DA96-B972-0297FF7AE511}"/>
              </a:ext>
            </a:extLst>
          </p:cNvPr>
          <p:cNvPicPr>
            <a:picLocks noChangeAspect="1"/>
          </p:cNvPicPr>
          <p:nvPr/>
        </p:nvPicPr>
        <p:blipFill>
          <a:blip r:embed="rId3"/>
          <a:stretch>
            <a:fillRect/>
          </a:stretch>
        </p:blipFill>
        <p:spPr>
          <a:xfrm>
            <a:off x="4571975" y="1385833"/>
            <a:ext cx="4050582" cy="1351312"/>
          </a:xfrm>
          <a:prstGeom prst="rect">
            <a:avLst/>
          </a:prstGeom>
        </p:spPr>
      </p:pic>
      <p:pic>
        <p:nvPicPr>
          <p:cNvPr id="5" name="Picture 4">
            <a:extLst>
              <a:ext uri="{FF2B5EF4-FFF2-40B4-BE49-F238E27FC236}">
                <a16:creationId xmlns:a16="http://schemas.microsoft.com/office/drawing/2014/main" id="{854632EB-E8B4-F50C-CAAE-F9C97EBA4F9C}"/>
              </a:ext>
            </a:extLst>
          </p:cNvPr>
          <p:cNvPicPr>
            <a:picLocks noChangeAspect="1"/>
          </p:cNvPicPr>
          <p:nvPr/>
        </p:nvPicPr>
        <p:blipFill>
          <a:blip r:embed="rId4"/>
          <a:stretch>
            <a:fillRect/>
          </a:stretch>
        </p:blipFill>
        <p:spPr>
          <a:xfrm>
            <a:off x="607622" y="1385833"/>
            <a:ext cx="3900110" cy="1296811"/>
          </a:xfrm>
          <a:prstGeom prst="rect">
            <a:avLst/>
          </a:prstGeom>
        </p:spPr>
      </p:pic>
      <p:pic>
        <p:nvPicPr>
          <p:cNvPr id="7" name="Picture 6">
            <a:extLst>
              <a:ext uri="{FF2B5EF4-FFF2-40B4-BE49-F238E27FC236}">
                <a16:creationId xmlns:a16="http://schemas.microsoft.com/office/drawing/2014/main" id="{3B549491-B809-791A-6D77-1A925E1EE7B3}"/>
              </a:ext>
            </a:extLst>
          </p:cNvPr>
          <p:cNvPicPr>
            <a:picLocks noChangeAspect="1"/>
          </p:cNvPicPr>
          <p:nvPr/>
        </p:nvPicPr>
        <p:blipFill>
          <a:blip r:embed="rId5"/>
          <a:stretch>
            <a:fillRect/>
          </a:stretch>
        </p:blipFill>
        <p:spPr>
          <a:xfrm>
            <a:off x="607622" y="2893598"/>
            <a:ext cx="3900110" cy="1298962"/>
          </a:xfrm>
          <a:prstGeom prst="rect">
            <a:avLst/>
          </a:prstGeom>
        </p:spPr>
      </p:pic>
      <p:pic>
        <p:nvPicPr>
          <p:cNvPr id="9" name="Picture 8">
            <a:extLst>
              <a:ext uri="{FF2B5EF4-FFF2-40B4-BE49-F238E27FC236}">
                <a16:creationId xmlns:a16="http://schemas.microsoft.com/office/drawing/2014/main" id="{863BD25B-940F-7C8D-7089-32798C698BF4}"/>
              </a:ext>
            </a:extLst>
          </p:cNvPr>
          <p:cNvPicPr>
            <a:picLocks noChangeAspect="1"/>
          </p:cNvPicPr>
          <p:nvPr/>
        </p:nvPicPr>
        <p:blipFill>
          <a:blip r:embed="rId6"/>
          <a:stretch>
            <a:fillRect/>
          </a:stretch>
        </p:blipFill>
        <p:spPr>
          <a:xfrm>
            <a:off x="4571975" y="2893598"/>
            <a:ext cx="4050582" cy="1329106"/>
          </a:xfrm>
          <a:prstGeom prst="rect">
            <a:avLst/>
          </a:prstGeom>
        </p:spPr>
      </p:pic>
      <p:sp>
        <p:nvSpPr>
          <p:cNvPr id="2" name="Rectangle 1">
            <a:extLst>
              <a:ext uri="{FF2B5EF4-FFF2-40B4-BE49-F238E27FC236}">
                <a16:creationId xmlns:a16="http://schemas.microsoft.com/office/drawing/2014/main" id="{7039D171-39F2-0E82-93C8-C5DD03944FA0}"/>
              </a:ext>
            </a:extLst>
          </p:cNvPr>
          <p:cNvSpPr/>
          <p:nvPr/>
        </p:nvSpPr>
        <p:spPr>
          <a:xfrm>
            <a:off x="2361695" y="1403800"/>
            <a:ext cx="1205070" cy="12968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6203BE0-43AD-C9E7-65A0-ADEBF05545AD}"/>
              </a:ext>
            </a:extLst>
          </p:cNvPr>
          <p:cNvSpPr/>
          <p:nvPr/>
        </p:nvSpPr>
        <p:spPr>
          <a:xfrm>
            <a:off x="6412227" y="1403799"/>
            <a:ext cx="1205070" cy="12968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37E7CA3-5030-A822-2E3F-6EB595229053}"/>
              </a:ext>
            </a:extLst>
          </p:cNvPr>
          <p:cNvSpPr/>
          <p:nvPr/>
        </p:nvSpPr>
        <p:spPr>
          <a:xfrm>
            <a:off x="2361695" y="2845486"/>
            <a:ext cx="1205070" cy="12968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D1957EA-8751-F64E-3FF4-9085D5A2E599}"/>
              </a:ext>
            </a:extLst>
          </p:cNvPr>
          <p:cNvSpPr/>
          <p:nvPr/>
        </p:nvSpPr>
        <p:spPr>
          <a:xfrm>
            <a:off x="6406171" y="2894673"/>
            <a:ext cx="1205070" cy="12968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586903E-FB0E-E9EB-C831-67ADF1E456A2}"/>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Tree>
    <p:extLst>
      <p:ext uri="{BB962C8B-B14F-4D97-AF65-F5344CB8AC3E}">
        <p14:creationId xmlns:p14="http://schemas.microsoft.com/office/powerpoint/2010/main" val="24089074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94EE17BF-A5AB-F014-B50B-52AFD5BD6036}"/>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585F16E3-8D99-C5CB-FCDF-4F7479D13971}"/>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1" name="Chỗ dành sẵn cho Nội dung 13">
            <a:extLst>
              <a:ext uri="{FF2B5EF4-FFF2-40B4-BE49-F238E27FC236}">
                <a16:creationId xmlns:a16="http://schemas.microsoft.com/office/drawing/2014/main" id="{F53EDA23-DE92-9ACF-9494-B2D695E38E06}"/>
              </a:ext>
            </a:extLst>
          </p:cNvPr>
          <p:cNvSpPr txBox="1">
            <a:spLocks/>
          </p:cNvSpPr>
          <p:nvPr/>
        </p:nvSpPr>
        <p:spPr>
          <a:xfrm>
            <a:off x="457200" y="1490234"/>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Picture 2">
            <a:extLst>
              <a:ext uri="{FF2B5EF4-FFF2-40B4-BE49-F238E27FC236}">
                <a16:creationId xmlns:a16="http://schemas.microsoft.com/office/drawing/2014/main" id="{58919963-206A-E779-F4A0-028D0B6C8BA7}"/>
              </a:ext>
            </a:extLst>
          </p:cNvPr>
          <p:cNvPicPr>
            <a:picLocks noChangeAspect="1"/>
          </p:cNvPicPr>
          <p:nvPr/>
        </p:nvPicPr>
        <p:blipFill>
          <a:blip r:embed="rId3"/>
          <a:stretch>
            <a:fillRect/>
          </a:stretch>
        </p:blipFill>
        <p:spPr>
          <a:xfrm>
            <a:off x="4571975" y="1385833"/>
            <a:ext cx="4050582" cy="1351312"/>
          </a:xfrm>
          <a:prstGeom prst="rect">
            <a:avLst/>
          </a:prstGeom>
        </p:spPr>
      </p:pic>
      <p:pic>
        <p:nvPicPr>
          <p:cNvPr id="5" name="Picture 4">
            <a:extLst>
              <a:ext uri="{FF2B5EF4-FFF2-40B4-BE49-F238E27FC236}">
                <a16:creationId xmlns:a16="http://schemas.microsoft.com/office/drawing/2014/main" id="{FE715826-7713-F240-2D9C-3A4448768B31}"/>
              </a:ext>
            </a:extLst>
          </p:cNvPr>
          <p:cNvPicPr>
            <a:picLocks noChangeAspect="1"/>
          </p:cNvPicPr>
          <p:nvPr/>
        </p:nvPicPr>
        <p:blipFill>
          <a:blip r:embed="rId4"/>
          <a:stretch>
            <a:fillRect/>
          </a:stretch>
        </p:blipFill>
        <p:spPr>
          <a:xfrm>
            <a:off x="607622" y="1385833"/>
            <a:ext cx="3900110" cy="1296811"/>
          </a:xfrm>
          <a:prstGeom prst="rect">
            <a:avLst/>
          </a:prstGeom>
        </p:spPr>
      </p:pic>
      <p:pic>
        <p:nvPicPr>
          <p:cNvPr id="7" name="Picture 6">
            <a:extLst>
              <a:ext uri="{FF2B5EF4-FFF2-40B4-BE49-F238E27FC236}">
                <a16:creationId xmlns:a16="http://schemas.microsoft.com/office/drawing/2014/main" id="{2F4B1969-4F78-BE03-F635-D0C3D13B17F7}"/>
              </a:ext>
            </a:extLst>
          </p:cNvPr>
          <p:cNvPicPr>
            <a:picLocks noChangeAspect="1"/>
          </p:cNvPicPr>
          <p:nvPr/>
        </p:nvPicPr>
        <p:blipFill>
          <a:blip r:embed="rId5"/>
          <a:stretch>
            <a:fillRect/>
          </a:stretch>
        </p:blipFill>
        <p:spPr>
          <a:xfrm>
            <a:off x="607622" y="2893598"/>
            <a:ext cx="3900110" cy="1298962"/>
          </a:xfrm>
          <a:prstGeom prst="rect">
            <a:avLst/>
          </a:prstGeom>
        </p:spPr>
      </p:pic>
      <p:pic>
        <p:nvPicPr>
          <p:cNvPr id="9" name="Picture 8">
            <a:extLst>
              <a:ext uri="{FF2B5EF4-FFF2-40B4-BE49-F238E27FC236}">
                <a16:creationId xmlns:a16="http://schemas.microsoft.com/office/drawing/2014/main" id="{86C95DAE-46D9-494E-7856-A05C0B975C13}"/>
              </a:ext>
            </a:extLst>
          </p:cNvPr>
          <p:cNvPicPr>
            <a:picLocks noChangeAspect="1"/>
          </p:cNvPicPr>
          <p:nvPr/>
        </p:nvPicPr>
        <p:blipFill>
          <a:blip r:embed="rId6"/>
          <a:stretch>
            <a:fillRect/>
          </a:stretch>
        </p:blipFill>
        <p:spPr>
          <a:xfrm>
            <a:off x="4571975" y="2893598"/>
            <a:ext cx="4050582" cy="1329106"/>
          </a:xfrm>
          <a:prstGeom prst="rect">
            <a:avLst/>
          </a:prstGeom>
        </p:spPr>
      </p:pic>
      <p:sp>
        <p:nvSpPr>
          <p:cNvPr id="2" name="Rectangle 1">
            <a:extLst>
              <a:ext uri="{FF2B5EF4-FFF2-40B4-BE49-F238E27FC236}">
                <a16:creationId xmlns:a16="http://schemas.microsoft.com/office/drawing/2014/main" id="{E92C2A5C-4604-EA69-F709-7FA008D4D57C}"/>
              </a:ext>
            </a:extLst>
          </p:cNvPr>
          <p:cNvSpPr/>
          <p:nvPr/>
        </p:nvSpPr>
        <p:spPr>
          <a:xfrm>
            <a:off x="2361695" y="1403800"/>
            <a:ext cx="307164" cy="10643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90AC5F9-5D01-84D0-CB95-13D721F5D3F7}"/>
              </a:ext>
            </a:extLst>
          </p:cNvPr>
          <p:cNvSpPr/>
          <p:nvPr/>
        </p:nvSpPr>
        <p:spPr>
          <a:xfrm>
            <a:off x="6415668" y="1739590"/>
            <a:ext cx="929269" cy="9387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E9A4AD-CB12-F4C3-45C9-2E82BA9892BC}"/>
              </a:ext>
            </a:extLst>
          </p:cNvPr>
          <p:cNvSpPr/>
          <p:nvPr/>
        </p:nvSpPr>
        <p:spPr>
          <a:xfrm>
            <a:off x="2367776" y="2980031"/>
            <a:ext cx="602165" cy="11622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DA0C6BB-610E-FDBC-8B7A-BB9F5B1CBFEA}"/>
              </a:ext>
            </a:extLst>
          </p:cNvPr>
          <p:cNvSpPr/>
          <p:nvPr/>
        </p:nvSpPr>
        <p:spPr>
          <a:xfrm>
            <a:off x="7642301" y="2894673"/>
            <a:ext cx="319669" cy="12968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79614F5-405C-3D74-0EBC-76826C6CF3E8}"/>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
        <p:nvSpPr>
          <p:cNvPr id="12" name="Rectangle 11">
            <a:extLst>
              <a:ext uri="{FF2B5EF4-FFF2-40B4-BE49-F238E27FC236}">
                <a16:creationId xmlns:a16="http://schemas.microsoft.com/office/drawing/2014/main" id="{093568AE-20AC-26EE-29BF-FB2E0516226F}"/>
              </a:ext>
            </a:extLst>
          </p:cNvPr>
          <p:cNvSpPr/>
          <p:nvPr/>
        </p:nvSpPr>
        <p:spPr>
          <a:xfrm>
            <a:off x="862361" y="2111298"/>
            <a:ext cx="936702" cy="5713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12982E-464A-3D50-EE98-BF32397CEFA7}"/>
              </a:ext>
            </a:extLst>
          </p:cNvPr>
          <p:cNvSpPr/>
          <p:nvPr/>
        </p:nvSpPr>
        <p:spPr>
          <a:xfrm>
            <a:off x="4185423" y="2111298"/>
            <a:ext cx="307164" cy="5321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1FFFC6-A096-7878-75B5-4B8A818C9692}"/>
              </a:ext>
            </a:extLst>
          </p:cNvPr>
          <p:cNvSpPr/>
          <p:nvPr/>
        </p:nvSpPr>
        <p:spPr>
          <a:xfrm>
            <a:off x="5769951" y="1947747"/>
            <a:ext cx="297366" cy="7305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3CCACFF-A1E7-E49B-1016-9836D22D2A33}"/>
              </a:ext>
            </a:extLst>
          </p:cNvPr>
          <p:cNvSpPr/>
          <p:nvPr/>
        </p:nvSpPr>
        <p:spPr>
          <a:xfrm>
            <a:off x="1182030" y="3612995"/>
            <a:ext cx="267630" cy="5293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27C167-1471-13CD-939D-FC8AEC3ADCF4}"/>
              </a:ext>
            </a:extLst>
          </p:cNvPr>
          <p:cNvSpPr/>
          <p:nvPr/>
        </p:nvSpPr>
        <p:spPr>
          <a:xfrm>
            <a:off x="3888057" y="3612995"/>
            <a:ext cx="267630" cy="5293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6A3FCC9-2A6D-C037-5805-494A14D913DC}"/>
              </a:ext>
            </a:extLst>
          </p:cNvPr>
          <p:cNvSpPr/>
          <p:nvPr/>
        </p:nvSpPr>
        <p:spPr>
          <a:xfrm>
            <a:off x="6720467" y="3105253"/>
            <a:ext cx="319669" cy="11013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6DAD57F-EBA1-6823-6731-397E6C0CC960}"/>
              </a:ext>
            </a:extLst>
          </p:cNvPr>
          <p:cNvSpPr/>
          <p:nvPr/>
        </p:nvSpPr>
        <p:spPr>
          <a:xfrm>
            <a:off x="5769951" y="3553522"/>
            <a:ext cx="319669" cy="6101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866192F-30F0-69A1-B95A-0B03E77202A2}"/>
              </a:ext>
            </a:extLst>
          </p:cNvPr>
          <p:cNvSpPr txBox="1"/>
          <p:nvPr/>
        </p:nvSpPr>
        <p:spPr>
          <a:xfrm>
            <a:off x="3598907" y="1100091"/>
            <a:ext cx="2196330" cy="400110"/>
          </a:xfrm>
          <a:prstGeom prst="rect">
            <a:avLst/>
          </a:prstGeom>
          <a:noFill/>
        </p:spPr>
        <p:txBody>
          <a:bodyPr wrap="square" rtlCol="0">
            <a:spAutoFit/>
          </a:bodyPr>
          <a:lstStyle/>
          <a:p>
            <a:r>
              <a:rPr lang="en-US" sz="2000" b="1" err="1">
                <a:solidFill>
                  <a:srgbClr val="FF0000"/>
                </a:solidFill>
              </a:rPr>
              <a:t>Is_event_month</a:t>
            </a:r>
            <a:endParaRPr lang="en-US" sz="2000" b="1">
              <a:solidFill>
                <a:srgbClr val="FF0000"/>
              </a:solidFill>
            </a:endParaRPr>
          </a:p>
        </p:txBody>
      </p:sp>
    </p:spTree>
    <p:extLst>
      <p:ext uri="{BB962C8B-B14F-4D97-AF65-F5344CB8AC3E}">
        <p14:creationId xmlns:p14="http://schemas.microsoft.com/office/powerpoint/2010/main" val="3374779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82CEFBBC-6022-7F7A-9CFF-118FA2903DEA}"/>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49A0F9C3-7982-7B17-E6C0-71D18932B739}"/>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7" name="TextBox 16">
            <a:extLst>
              <a:ext uri="{FF2B5EF4-FFF2-40B4-BE49-F238E27FC236}">
                <a16:creationId xmlns:a16="http://schemas.microsoft.com/office/drawing/2014/main" id="{63CAB42D-CF2C-57C3-C2C4-B3E1C707E571}"/>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
        <p:nvSpPr>
          <p:cNvPr id="22" name="TextBox 21">
            <a:extLst>
              <a:ext uri="{FF2B5EF4-FFF2-40B4-BE49-F238E27FC236}">
                <a16:creationId xmlns:a16="http://schemas.microsoft.com/office/drawing/2014/main" id="{13039325-9270-7E1F-935C-F8DFCE52633B}"/>
              </a:ext>
            </a:extLst>
          </p:cNvPr>
          <p:cNvSpPr txBox="1"/>
          <p:nvPr/>
        </p:nvSpPr>
        <p:spPr>
          <a:xfrm>
            <a:off x="1249717" y="1323115"/>
            <a:ext cx="2564000" cy="400110"/>
          </a:xfrm>
          <a:prstGeom prst="rect">
            <a:avLst/>
          </a:prstGeom>
          <a:noFill/>
        </p:spPr>
        <p:txBody>
          <a:bodyPr wrap="square" rtlCol="0">
            <a:spAutoFit/>
          </a:bodyPr>
          <a:lstStyle/>
          <a:p>
            <a:r>
              <a:rPr lang="en-US" sz="2000" b="1" err="1">
                <a:solidFill>
                  <a:srgbClr val="FF0000"/>
                </a:solidFill>
              </a:rPr>
              <a:t>Is_event_month</a:t>
            </a:r>
            <a:r>
              <a:rPr lang="en-US" sz="2000" b="1">
                <a:solidFill>
                  <a:srgbClr val="FF0000"/>
                </a:solidFill>
              </a:rPr>
              <a:t> = 0</a:t>
            </a:r>
          </a:p>
        </p:txBody>
      </p:sp>
      <p:sp>
        <p:nvSpPr>
          <p:cNvPr id="23" name="TextBox 22">
            <a:extLst>
              <a:ext uri="{FF2B5EF4-FFF2-40B4-BE49-F238E27FC236}">
                <a16:creationId xmlns:a16="http://schemas.microsoft.com/office/drawing/2014/main" id="{221FC7B3-E644-666E-9DF5-9A9D1C894469}"/>
              </a:ext>
            </a:extLst>
          </p:cNvPr>
          <p:cNvSpPr txBox="1"/>
          <p:nvPr/>
        </p:nvSpPr>
        <p:spPr>
          <a:xfrm>
            <a:off x="5052283" y="1323115"/>
            <a:ext cx="2564000" cy="400110"/>
          </a:xfrm>
          <a:prstGeom prst="rect">
            <a:avLst/>
          </a:prstGeom>
          <a:noFill/>
        </p:spPr>
        <p:txBody>
          <a:bodyPr wrap="square" rtlCol="0">
            <a:spAutoFit/>
          </a:bodyPr>
          <a:lstStyle/>
          <a:p>
            <a:r>
              <a:rPr lang="en-US" sz="2000" b="1" err="1">
                <a:solidFill>
                  <a:srgbClr val="FF0000"/>
                </a:solidFill>
              </a:rPr>
              <a:t>Is_event_month</a:t>
            </a:r>
            <a:r>
              <a:rPr lang="en-US" sz="2000" b="1">
                <a:solidFill>
                  <a:srgbClr val="FF0000"/>
                </a:solidFill>
              </a:rPr>
              <a:t> = 1</a:t>
            </a:r>
          </a:p>
        </p:txBody>
      </p:sp>
    </p:spTree>
    <p:extLst>
      <p:ext uri="{BB962C8B-B14F-4D97-AF65-F5344CB8AC3E}">
        <p14:creationId xmlns:p14="http://schemas.microsoft.com/office/powerpoint/2010/main" val="41971697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F0A17429-51A7-22F6-AAA1-5DCB4B58A7F3}"/>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99A4DB33-C6D5-CB17-8844-C4D00C947B43}"/>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7" name="TextBox 16">
            <a:extLst>
              <a:ext uri="{FF2B5EF4-FFF2-40B4-BE49-F238E27FC236}">
                <a16:creationId xmlns:a16="http://schemas.microsoft.com/office/drawing/2014/main" id="{C56CF84F-5E1B-4DEC-5C46-80AF65C34486}"/>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
        <p:nvSpPr>
          <p:cNvPr id="22" name="TextBox 21">
            <a:extLst>
              <a:ext uri="{FF2B5EF4-FFF2-40B4-BE49-F238E27FC236}">
                <a16:creationId xmlns:a16="http://schemas.microsoft.com/office/drawing/2014/main" id="{4E6B8EC1-49B4-A934-95CD-BF52B4185967}"/>
              </a:ext>
            </a:extLst>
          </p:cNvPr>
          <p:cNvSpPr txBox="1"/>
          <p:nvPr/>
        </p:nvSpPr>
        <p:spPr>
          <a:xfrm>
            <a:off x="1249717" y="1323115"/>
            <a:ext cx="2564000" cy="400110"/>
          </a:xfrm>
          <a:prstGeom prst="rect">
            <a:avLst/>
          </a:prstGeom>
          <a:noFill/>
        </p:spPr>
        <p:txBody>
          <a:bodyPr wrap="square" rtlCol="0">
            <a:spAutoFit/>
          </a:bodyPr>
          <a:lstStyle/>
          <a:p>
            <a:r>
              <a:rPr lang="en-US" sz="2000" b="1" err="1">
                <a:solidFill>
                  <a:srgbClr val="FF0000"/>
                </a:solidFill>
              </a:rPr>
              <a:t>Is_event_month</a:t>
            </a:r>
            <a:r>
              <a:rPr lang="en-US" sz="2000" b="1">
                <a:solidFill>
                  <a:srgbClr val="FF0000"/>
                </a:solidFill>
              </a:rPr>
              <a:t> = 0</a:t>
            </a:r>
          </a:p>
        </p:txBody>
      </p:sp>
      <p:sp>
        <p:nvSpPr>
          <p:cNvPr id="23" name="TextBox 22">
            <a:extLst>
              <a:ext uri="{FF2B5EF4-FFF2-40B4-BE49-F238E27FC236}">
                <a16:creationId xmlns:a16="http://schemas.microsoft.com/office/drawing/2014/main" id="{10F36402-38E8-8DA6-CAAB-D1C345EB752E}"/>
              </a:ext>
            </a:extLst>
          </p:cNvPr>
          <p:cNvSpPr txBox="1"/>
          <p:nvPr/>
        </p:nvSpPr>
        <p:spPr>
          <a:xfrm>
            <a:off x="5052283" y="1323115"/>
            <a:ext cx="2564000" cy="400110"/>
          </a:xfrm>
          <a:prstGeom prst="rect">
            <a:avLst/>
          </a:prstGeom>
          <a:noFill/>
        </p:spPr>
        <p:txBody>
          <a:bodyPr wrap="square" rtlCol="0">
            <a:spAutoFit/>
          </a:bodyPr>
          <a:lstStyle/>
          <a:p>
            <a:r>
              <a:rPr lang="en-US" sz="2000" b="1" err="1">
                <a:solidFill>
                  <a:srgbClr val="FF0000"/>
                </a:solidFill>
              </a:rPr>
              <a:t>Is_event_month</a:t>
            </a:r>
            <a:r>
              <a:rPr lang="en-US" sz="2000" b="1">
                <a:solidFill>
                  <a:srgbClr val="FF0000"/>
                </a:solidFill>
              </a:rPr>
              <a:t> = 1</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FF8F7B2-1FC5-91EC-B374-69CABB691E2D}"/>
                  </a:ext>
                </a:extLst>
              </p:cNvPr>
              <p:cNvSpPr txBox="1"/>
              <p:nvPr/>
            </p:nvSpPr>
            <p:spPr>
              <a:xfrm>
                <a:off x="1249716" y="2028615"/>
                <a:ext cx="3322284" cy="1195840"/>
              </a:xfrm>
              <a:prstGeom prst="rect">
                <a:avLst/>
              </a:prstGeom>
              <a:noFill/>
            </p:spPr>
            <p:txBody>
              <a:bodyPr wrap="square" rtlCol="0">
                <a:spAutoFit/>
              </a:bodyPr>
              <a:lstStyle/>
              <a:p>
                <a:r>
                  <a:rPr lang="en-US"/>
                  <a:t>- </a:t>
                </a:r>
                <a14:m>
                  <m:oMath xmlns:m="http://schemas.openxmlformats.org/officeDocument/2006/math">
                    <m:r>
                      <m:rPr>
                        <m:lit/>
                      </m:rPr>
                      <a:rPr lang="en-US" i="1" dirty="0" smtClean="0">
                        <a:latin typeface="Cambria Math" panose="02040503050406030204" pitchFamily="18" charset="0"/>
                      </a:rPr>
                      <m:t>(</m:t>
                    </m:r>
                    <m:r>
                      <a:rPr lang="en-US" i="1" dirty="0">
                        <a:latin typeface="Cambria Math" panose="02040503050406030204" pitchFamily="18" charset="0"/>
                      </a:rPr>
                      <m:t>𝑄</m:t>
                    </m:r>
                    <m:r>
                      <a:rPr lang="en-US" i="1" dirty="0">
                        <a:latin typeface="Cambria Math" panose="02040503050406030204" pitchFamily="18" charset="0"/>
                      </a:rPr>
                      <m:t>1, </m:t>
                    </m:r>
                    <m:r>
                      <a:rPr lang="en-US" i="1" dirty="0">
                        <a:latin typeface="Cambria Math" panose="02040503050406030204" pitchFamily="18" charset="0"/>
                      </a:rPr>
                      <m:t>𝑄</m:t>
                    </m:r>
                    <m:r>
                      <a:rPr lang="en-US" i="1" dirty="0">
                        <a:latin typeface="Cambria Math" panose="02040503050406030204" pitchFamily="18" charset="0"/>
                      </a:rPr>
                      <m:t>3, </m:t>
                    </m:r>
                    <m:r>
                      <a:rPr lang="en-US" i="1" dirty="0">
                        <a:latin typeface="Cambria Math" panose="02040503050406030204" pitchFamily="18" charset="0"/>
                      </a:rPr>
                      <m:t>𝐼𝑄𝑅</m:t>
                    </m:r>
                    <m:r>
                      <a:rPr lang="en-US" i="1" dirty="0">
                        <a:latin typeface="Cambria Math" panose="02040503050406030204" pitchFamily="18" charset="0"/>
                      </a:rPr>
                      <m:t> = </m:t>
                    </m:r>
                    <m:r>
                      <a:rPr lang="en-US" i="1" dirty="0">
                        <a:latin typeface="Cambria Math" panose="02040503050406030204" pitchFamily="18" charset="0"/>
                      </a:rPr>
                      <m:t>𝑄</m:t>
                    </m:r>
                    <m:r>
                      <a:rPr lang="en-US" i="1" dirty="0">
                        <a:latin typeface="Cambria Math" panose="02040503050406030204" pitchFamily="18" charset="0"/>
                      </a:rPr>
                      <m:t>3 − </m:t>
                    </m:r>
                    <m:r>
                      <a:rPr lang="en-US" i="1" dirty="0">
                        <a:latin typeface="Cambria Math" panose="02040503050406030204" pitchFamily="18" charset="0"/>
                      </a:rPr>
                      <m:t>𝑄</m:t>
                    </m:r>
                    <m:r>
                      <a:rPr lang="en-US" i="1" dirty="0">
                        <a:latin typeface="Cambria Math" panose="02040503050406030204" pitchFamily="18" charset="0"/>
                      </a:rPr>
                      <m:t>1</m:t>
                    </m:r>
                    <m:r>
                      <m:rPr>
                        <m:lit/>
                      </m:rPr>
                      <a:rPr lang="en-US" i="1" dirty="0">
                        <a:latin typeface="Cambria Math" panose="02040503050406030204" pitchFamily="18" charset="0"/>
                      </a:rPr>
                      <m:t>)</m:t>
                    </m:r>
                  </m:oMath>
                </a14:m>
                <a:endParaRPr lang="en-US"/>
              </a:p>
              <a:p>
                <a:r>
                  <a:rPr lang="en-US"/>
                  <a:t>- </a:t>
                </a:r>
                <a14:m>
                  <m:oMath xmlns:m="http://schemas.openxmlformats.org/officeDocument/2006/math">
                    <m:r>
                      <a:rPr lang="en-US" b="1" i="1" dirty="0" smtClean="0">
                        <a:latin typeface="Cambria Math" panose="02040503050406030204" pitchFamily="18" charset="0"/>
                      </a:rPr>
                      <m:t>𝑳𝑩</m:t>
                    </m:r>
                    <m:r>
                      <a:rPr lang="en-US" i="1" dirty="0" smtClean="0">
                        <a:latin typeface="Cambria Math" panose="02040503050406030204" pitchFamily="18" charset="0"/>
                      </a:rPr>
                      <m:t> </m:t>
                    </m:r>
                    <m:r>
                      <a:rPr lang="en-US" i="1" dirty="0">
                        <a:latin typeface="Cambria Math" panose="02040503050406030204" pitchFamily="18" charset="0"/>
                      </a:rPr>
                      <m:t>= </m:t>
                    </m:r>
                    <m:r>
                      <m:rPr>
                        <m:sty m:val="p"/>
                      </m:rPr>
                      <a:rPr lang="en-US" i="1" dirty="0">
                        <a:latin typeface="Cambria Math" panose="02040503050406030204" pitchFamily="18" charset="0"/>
                      </a:rPr>
                      <m:t>max</m:t>
                    </m:r>
                    <m:r>
                      <a:rPr lang="en-US" i="1" dirty="0">
                        <a:latin typeface="Cambria Math" panose="02040503050406030204" pitchFamily="18" charset="0"/>
                      </a:rPr>
                      <m:t>⁡(0, </m:t>
                    </m:r>
                    <m:r>
                      <a:rPr lang="en-US" i="1" dirty="0">
                        <a:latin typeface="Cambria Math" panose="02040503050406030204" pitchFamily="18" charset="0"/>
                      </a:rPr>
                      <m:t>𝑄</m:t>
                    </m:r>
                    <m:r>
                      <a:rPr lang="en-US" i="1" dirty="0">
                        <a:latin typeface="Cambria Math" panose="02040503050406030204" pitchFamily="18" charset="0"/>
                      </a:rPr>
                      <m:t>1 − 1.5×</m:t>
                    </m:r>
                    <m:r>
                      <a:rPr lang="en-US" i="1" dirty="0">
                        <a:latin typeface="Cambria Math" panose="02040503050406030204" pitchFamily="18" charset="0"/>
                      </a:rPr>
                      <m:t>𝐼𝑄𝑅</m:t>
                    </m:r>
                    <m:r>
                      <a:rPr lang="en-US" i="1" dirty="0">
                        <a:latin typeface="Cambria Math" panose="02040503050406030204" pitchFamily="18" charset="0"/>
                      </a:rPr>
                      <m:t>)  </m:t>
                    </m:r>
                  </m:oMath>
                </a14:m>
                <a:endParaRPr lang="en-US"/>
              </a:p>
              <a:p>
                <a:r>
                  <a:rPr lang="en-US"/>
                  <a:t>- </a:t>
                </a:r>
                <a14:m>
                  <m:oMath xmlns:m="http://schemas.openxmlformats.org/officeDocument/2006/math">
                    <m:r>
                      <a:rPr lang="en-US" b="1" i="1" dirty="0" smtClean="0">
                        <a:latin typeface="Cambria Math" panose="02040503050406030204" pitchFamily="18" charset="0"/>
                      </a:rPr>
                      <m:t>𝑼𝑩</m:t>
                    </m:r>
                    <m:r>
                      <a:rPr lang="en-US" i="1" dirty="0" smtClean="0">
                        <a:latin typeface="Cambria Math" panose="02040503050406030204" pitchFamily="18" charset="0"/>
                      </a:rPr>
                      <m:t> </m:t>
                    </m:r>
                    <m:r>
                      <a:rPr lang="en-US" i="1" dirty="0">
                        <a:latin typeface="Cambria Math" panose="02040503050406030204" pitchFamily="18" charset="0"/>
                      </a:rPr>
                      <m:t>= </m:t>
                    </m:r>
                    <m:r>
                      <a:rPr lang="en-US" i="1" dirty="0">
                        <a:latin typeface="Cambria Math" panose="02040503050406030204" pitchFamily="18" charset="0"/>
                      </a:rPr>
                      <m:t>𝑄</m:t>
                    </m:r>
                    <m:r>
                      <a:rPr lang="en-US" i="1" dirty="0">
                        <a:latin typeface="Cambria Math" panose="02040503050406030204" pitchFamily="18" charset="0"/>
                      </a:rPr>
                      <m:t>3 + 1.5×</m:t>
                    </m:r>
                    <m:r>
                      <a:rPr lang="en-US" i="1" dirty="0">
                        <a:latin typeface="Cambria Math" panose="02040503050406030204" pitchFamily="18" charset="0"/>
                      </a:rPr>
                      <m:t>𝐼𝑄𝑅</m:t>
                    </m:r>
                    <m:r>
                      <a:rPr lang="en-US" i="1" dirty="0">
                        <a:latin typeface="Cambria Math" panose="02040503050406030204" pitchFamily="18" charset="0"/>
                      </a:rPr>
                      <m:t> </m:t>
                    </m:r>
                  </m:oMath>
                </a14:m>
                <a:endParaRPr lang="en-US"/>
              </a:p>
              <a:p>
                <a:r>
                  <a:rPr lang="en-US"/>
                  <a:t>Fill in the values ​​outside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𝐿𝐵</m:t>
                    </m:r>
                    <m:r>
                      <a:rPr lang="en-US" i="1" dirty="0" smtClean="0">
                        <a:latin typeface="Cambria Math" panose="02040503050406030204" pitchFamily="18" charset="0"/>
                      </a:rPr>
                      <m:t>, </m:t>
                    </m:r>
                    <m:r>
                      <a:rPr lang="en-US" i="1" dirty="0" smtClean="0">
                        <a:latin typeface="Cambria Math" panose="02040503050406030204" pitchFamily="18" charset="0"/>
                      </a:rPr>
                      <m:t>𝑈𝐵</m:t>
                    </m:r>
                    <m:r>
                      <a:rPr lang="en-US" i="1" dirty="0" smtClean="0">
                        <a:latin typeface="Cambria Math" panose="02040503050406030204" pitchFamily="18" charset="0"/>
                      </a:rPr>
                      <m:t>]</m:t>
                    </m:r>
                  </m:oMath>
                </a14:m>
                <a:r>
                  <a:rPr lang="en-US"/>
                  <a:t> with LB/UB corresponding to </a:t>
                </a:r>
                <a:r>
                  <a:rPr lang="en-US" b="1"/>
                  <a:t>that month</a:t>
                </a:r>
                <a:r>
                  <a:rPr lang="en-US"/>
                  <a:t>.</a:t>
                </a:r>
              </a:p>
            </p:txBody>
          </p:sp>
        </mc:Choice>
        <mc:Fallback xmlns="">
          <p:sp>
            <p:nvSpPr>
              <p:cNvPr id="24" name="TextBox 23">
                <a:extLst>
                  <a:ext uri="{FF2B5EF4-FFF2-40B4-BE49-F238E27FC236}">
                    <a16:creationId xmlns:a16="http://schemas.microsoft.com/office/drawing/2014/main" id="{6FF8F7B2-1FC5-91EC-B374-69CABB691E2D}"/>
                  </a:ext>
                </a:extLst>
              </p:cNvPr>
              <p:cNvSpPr txBox="1">
                <a:spLocks noRot="1" noChangeAspect="1" noMove="1" noResize="1" noEditPoints="1" noAdjustHandles="1" noChangeArrowheads="1" noChangeShapeType="1" noTextEdit="1"/>
              </p:cNvSpPr>
              <p:nvPr/>
            </p:nvSpPr>
            <p:spPr>
              <a:xfrm>
                <a:off x="1249716" y="2028615"/>
                <a:ext cx="3322284" cy="1195840"/>
              </a:xfrm>
              <a:prstGeom prst="rect">
                <a:avLst/>
              </a:prstGeom>
              <a:blipFill>
                <a:blip r:embed="rId3"/>
                <a:stretch>
                  <a:fillRect l="-550" t="-1020" b="-2041"/>
                </a:stretch>
              </a:blipFill>
            </p:spPr>
            <p:txBody>
              <a:bodyPr/>
              <a:lstStyle/>
              <a:p>
                <a:r>
                  <a:rPr lang="en-US">
                    <a:noFill/>
                  </a:rPr>
                  <a:t> </a:t>
                </a:r>
              </a:p>
            </p:txBody>
          </p:sp>
        </mc:Fallback>
      </mc:AlternateContent>
    </p:spTree>
    <p:extLst>
      <p:ext uri="{BB962C8B-B14F-4D97-AF65-F5344CB8AC3E}">
        <p14:creationId xmlns:p14="http://schemas.microsoft.com/office/powerpoint/2010/main" val="19031293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4C975F21-A2D7-1974-54A1-5A02CD3B954C}"/>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2F384BD9-4B31-11EA-A358-CB8F9B12B2CF}"/>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7" name="TextBox 16">
            <a:extLst>
              <a:ext uri="{FF2B5EF4-FFF2-40B4-BE49-F238E27FC236}">
                <a16:creationId xmlns:a16="http://schemas.microsoft.com/office/drawing/2014/main" id="{69C397FA-30EA-0D84-F493-E4333F7EC5BA}"/>
              </a:ext>
            </a:extLst>
          </p:cNvPr>
          <p:cNvSpPr txBox="1"/>
          <p:nvPr/>
        </p:nvSpPr>
        <p:spPr>
          <a:xfrm>
            <a:off x="3479261" y="4240672"/>
            <a:ext cx="2315976" cy="307777"/>
          </a:xfrm>
          <a:prstGeom prst="rect">
            <a:avLst/>
          </a:prstGeom>
          <a:noFill/>
        </p:spPr>
        <p:txBody>
          <a:bodyPr wrap="square" rtlCol="0">
            <a:spAutoFit/>
          </a:bodyPr>
          <a:lstStyle/>
          <a:p>
            <a:r>
              <a:rPr lang="en-US">
                <a:solidFill>
                  <a:srgbClr val="FF0000"/>
                </a:solidFill>
              </a:rPr>
              <a:t>luu_luong_den_ho_m3_s</a:t>
            </a:r>
          </a:p>
        </p:txBody>
      </p:sp>
      <p:sp>
        <p:nvSpPr>
          <p:cNvPr id="22" name="TextBox 21">
            <a:extLst>
              <a:ext uri="{FF2B5EF4-FFF2-40B4-BE49-F238E27FC236}">
                <a16:creationId xmlns:a16="http://schemas.microsoft.com/office/drawing/2014/main" id="{4222A791-2ED1-5AD3-881B-AFF1A0E4D8D8}"/>
              </a:ext>
            </a:extLst>
          </p:cNvPr>
          <p:cNvSpPr txBox="1"/>
          <p:nvPr/>
        </p:nvSpPr>
        <p:spPr>
          <a:xfrm>
            <a:off x="1249717" y="1323115"/>
            <a:ext cx="2564000" cy="400110"/>
          </a:xfrm>
          <a:prstGeom prst="rect">
            <a:avLst/>
          </a:prstGeom>
          <a:noFill/>
        </p:spPr>
        <p:txBody>
          <a:bodyPr wrap="square" rtlCol="0">
            <a:spAutoFit/>
          </a:bodyPr>
          <a:lstStyle/>
          <a:p>
            <a:r>
              <a:rPr lang="en-US" sz="2000" b="1" err="1">
                <a:solidFill>
                  <a:srgbClr val="FF0000"/>
                </a:solidFill>
              </a:rPr>
              <a:t>Is_event_month</a:t>
            </a:r>
            <a:r>
              <a:rPr lang="en-US" sz="2000" b="1">
                <a:solidFill>
                  <a:srgbClr val="FF0000"/>
                </a:solidFill>
              </a:rPr>
              <a:t> = 0</a:t>
            </a:r>
          </a:p>
        </p:txBody>
      </p:sp>
      <p:sp>
        <p:nvSpPr>
          <p:cNvPr id="23" name="TextBox 22">
            <a:extLst>
              <a:ext uri="{FF2B5EF4-FFF2-40B4-BE49-F238E27FC236}">
                <a16:creationId xmlns:a16="http://schemas.microsoft.com/office/drawing/2014/main" id="{BD86AA72-9E3E-DB66-B5E7-28DEA789104F}"/>
              </a:ext>
            </a:extLst>
          </p:cNvPr>
          <p:cNvSpPr txBox="1"/>
          <p:nvPr/>
        </p:nvSpPr>
        <p:spPr>
          <a:xfrm>
            <a:off x="5052283" y="1323115"/>
            <a:ext cx="2564000" cy="400110"/>
          </a:xfrm>
          <a:prstGeom prst="rect">
            <a:avLst/>
          </a:prstGeom>
          <a:noFill/>
        </p:spPr>
        <p:txBody>
          <a:bodyPr wrap="square" rtlCol="0">
            <a:spAutoFit/>
          </a:bodyPr>
          <a:lstStyle/>
          <a:p>
            <a:r>
              <a:rPr lang="en-US" sz="2000" b="1" err="1">
                <a:solidFill>
                  <a:srgbClr val="FF0000"/>
                </a:solidFill>
              </a:rPr>
              <a:t>Is_event_month</a:t>
            </a:r>
            <a:r>
              <a:rPr lang="en-US" sz="2000" b="1">
                <a:solidFill>
                  <a:srgbClr val="FF0000"/>
                </a:solidFill>
              </a:rPr>
              <a:t> = 1</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406C610-BC15-8C67-C979-463C4020BDB8}"/>
                  </a:ext>
                </a:extLst>
              </p:cNvPr>
              <p:cNvSpPr txBox="1"/>
              <p:nvPr/>
            </p:nvSpPr>
            <p:spPr>
              <a:xfrm>
                <a:off x="1249716" y="2028615"/>
                <a:ext cx="3322284" cy="1195840"/>
              </a:xfrm>
              <a:prstGeom prst="rect">
                <a:avLst/>
              </a:prstGeom>
              <a:noFill/>
            </p:spPr>
            <p:txBody>
              <a:bodyPr wrap="square" rtlCol="0">
                <a:spAutoFit/>
              </a:bodyPr>
              <a:lstStyle/>
              <a:p>
                <a:r>
                  <a:rPr lang="en-US"/>
                  <a:t>- </a:t>
                </a:r>
                <a14:m>
                  <m:oMath xmlns:m="http://schemas.openxmlformats.org/officeDocument/2006/math">
                    <m:r>
                      <m:rPr>
                        <m:lit/>
                      </m:rPr>
                      <a:rPr lang="en-US" i="1" dirty="0" smtClean="0">
                        <a:latin typeface="Cambria Math" panose="02040503050406030204" pitchFamily="18" charset="0"/>
                      </a:rPr>
                      <m:t>(</m:t>
                    </m:r>
                    <m:r>
                      <a:rPr lang="en-US" i="1" dirty="0">
                        <a:latin typeface="Cambria Math" panose="02040503050406030204" pitchFamily="18" charset="0"/>
                      </a:rPr>
                      <m:t>𝑄</m:t>
                    </m:r>
                    <m:r>
                      <a:rPr lang="en-US" i="1" dirty="0">
                        <a:latin typeface="Cambria Math" panose="02040503050406030204" pitchFamily="18" charset="0"/>
                      </a:rPr>
                      <m:t>1, </m:t>
                    </m:r>
                    <m:r>
                      <a:rPr lang="en-US" i="1" dirty="0">
                        <a:latin typeface="Cambria Math" panose="02040503050406030204" pitchFamily="18" charset="0"/>
                      </a:rPr>
                      <m:t>𝑄</m:t>
                    </m:r>
                    <m:r>
                      <a:rPr lang="en-US" i="1" dirty="0">
                        <a:latin typeface="Cambria Math" panose="02040503050406030204" pitchFamily="18" charset="0"/>
                      </a:rPr>
                      <m:t>3, </m:t>
                    </m:r>
                    <m:r>
                      <a:rPr lang="en-US" i="1" dirty="0">
                        <a:latin typeface="Cambria Math" panose="02040503050406030204" pitchFamily="18" charset="0"/>
                      </a:rPr>
                      <m:t>𝐼𝑄𝑅</m:t>
                    </m:r>
                    <m:r>
                      <a:rPr lang="en-US" i="1" dirty="0">
                        <a:latin typeface="Cambria Math" panose="02040503050406030204" pitchFamily="18" charset="0"/>
                      </a:rPr>
                      <m:t> = </m:t>
                    </m:r>
                    <m:r>
                      <a:rPr lang="en-US" i="1" dirty="0">
                        <a:latin typeface="Cambria Math" panose="02040503050406030204" pitchFamily="18" charset="0"/>
                      </a:rPr>
                      <m:t>𝑄</m:t>
                    </m:r>
                    <m:r>
                      <a:rPr lang="en-US" i="1" dirty="0">
                        <a:latin typeface="Cambria Math" panose="02040503050406030204" pitchFamily="18" charset="0"/>
                      </a:rPr>
                      <m:t>3 − </m:t>
                    </m:r>
                    <m:r>
                      <a:rPr lang="en-US" i="1" dirty="0">
                        <a:latin typeface="Cambria Math" panose="02040503050406030204" pitchFamily="18" charset="0"/>
                      </a:rPr>
                      <m:t>𝑄</m:t>
                    </m:r>
                    <m:r>
                      <a:rPr lang="en-US" i="1" dirty="0">
                        <a:latin typeface="Cambria Math" panose="02040503050406030204" pitchFamily="18" charset="0"/>
                      </a:rPr>
                      <m:t>1</m:t>
                    </m:r>
                    <m:r>
                      <m:rPr>
                        <m:lit/>
                      </m:rPr>
                      <a:rPr lang="en-US" i="1" dirty="0">
                        <a:latin typeface="Cambria Math" panose="02040503050406030204" pitchFamily="18" charset="0"/>
                      </a:rPr>
                      <m:t>)</m:t>
                    </m:r>
                  </m:oMath>
                </a14:m>
                <a:endParaRPr lang="en-US"/>
              </a:p>
              <a:p>
                <a:r>
                  <a:rPr lang="en-US"/>
                  <a:t>- </a:t>
                </a:r>
                <a14:m>
                  <m:oMath xmlns:m="http://schemas.openxmlformats.org/officeDocument/2006/math">
                    <m:r>
                      <a:rPr lang="en-US" b="1" i="1" dirty="0" smtClean="0">
                        <a:latin typeface="Cambria Math" panose="02040503050406030204" pitchFamily="18" charset="0"/>
                      </a:rPr>
                      <m:t>𝑳𝑩</m:t>
                    </m:r>
                    <m:r>
                      <a:rPr lang="en-US" i="1" dirty="0" smtClean="0">
                        <a:latin typeface="Cambria Math" panose="02040503050406030204" pitchFamily="18" charset="0"/>
                      </a:rPr>
                      <m:t> </m:t>
                    </m:r>
                    <m:r>
                      <a:rPr lang="en-US" i="1" dirty="0">
                        <a:latin typeface="Cambria Math" panose="02040503050406030204" pitchFamily="18" charset="0"/>
                      </a:rPr>
                      <m:t>= </m:t>
                    </m:r>
                    <m:r>
                      <m:rPr>
                        <m:sty m:val="p"/>
                      </m:rPr>
                      <a:rPr lang="en-US" i="1" dirty="0">
                        <a:latin typeface="Cambria Math" panose="02040503050406030204" pitchFamily="18" charset="0"/>
                      </a:rPr>
                      <m:t>max</m:t>
                    </m:r>
                    <m:r>
                      <a:rPr lang="en-US" i="1" dirty="0">
                        <a:latin typeface="Cambria Math" panose="02040503050406030204" pitchFamily="18" charset="0"/>
                      </a:rPr>
                      <m:t>⁡(0, </m:t>
                    </m:r>
                    <m:r>
                      <a:rPr lang="en-US" i="1" dirty="0">
                        <a:latin typeface="Cambria Math" panose="02040503050406030204" pitchFamily="18" charset="0"/>
                      </a:rPr>
                      <m:t>𝑄</m:t>
                    </m:r>
                    <m:r>
                      <a:rPr lang="en-US" i="1" dirty="0">
                        <a:latin typeface="Cambria Math" panose="02040503050406030204" pitchFamily="18" charset="0"/>
                      </a:rPr>
                      <m:t>1 − 1.5×</m:t>
                    </m:r>
                    <m:r>
                      <a:rPr lang="en-US" i="1" dirty="0">
                        <a:latin typeface="Cambria Math" panose="02040503050406030204" pitchFamily="18" charset="0"/>
                      </a:rPr>
                      <m:t>𝐼𝑄𝑅</m:t>
                    </m:r>
                    <m:r>
                      <a:rPr lang="en-US" i="1" dirty="0">
                        <a:latin typeface="Cambria Math" panose="02040503050406030204" pitchFamily="18" charset="0"/>
                      </a:rPr>
                      <m:t>)  </m:t>
                    </m:r>
                  </m:oMath>
                </a14:m>
                <a:endParaRPr lang="en-US"/>
              </a:p>
              <a:p>
                <a:r>
                  <a:rPr lang="en-US"/>
                  <a:t>- </a:t>
                </a:r>
                <a14:m>
                  <m:oMath xmlns:m="http://schemas.openxmlformats.org/officeDocument/2006/math">
                    <m:r>
                      <a:rPr lang="en-US" b="1" i="1" dirty="0" smtClean="0">
                        <a:latin typeface="Cambria Math" panose="02040503050406030204" pitchFamily="18" charset="0"/>
                      </a:rPr>
                      <m:t>𝑼𝑩</m:t>
                    </m:r>
                    <m:r>
                      <a:rPr lang="en-US" i="1" dirty="0" smtClean="0">
                        <a:latin typeface="Cambria Math" panose="02040503050406030204" pitchFamily="18" charset="0"/>
                      </a:rPr>
                      <m:t> </m:t>
                    </m:r>
                    <m:r>
                      <a:rPr lang="en-US" i="1" dirty="0">
                        <a:latin typeface="Cambria Math" panose="02040503050406030204" pitchFamily="18" charset="0"/>
                      </a:rPr>
                      <m:t>= </m:t>
                    </m:r>
                    <m:r>
                      <a:rPr lang="en-US" i="1" dirty="0">
                        <a:latin typeface="Cambria Math" panose="02040503050406030204" pitchFamily="18" charset="0"/>
                      </a:rPr>
                      <m:t>𝑄</m:t>
                    </m:r>
                    <m:r>
                      <a:rPr lang="en-US" i="1" dirty="0">
                        <a:latin typeface="Cambria Math" panose="02040503050406030204" pitchFamily="18" charset="0"/>
                      </a:rPr>
                      <m:t>3 + 1.5×</m:t>
                    </m:r>
                    <m:r>
                      <a:rPr lang="en-US" i="1" dirty="0">
                        <a:latin typeface="Cambria Math" panose="02040503050406030204" pitchFamily="18" charset="0"/>
                      </a:rPr>
                      <m:t>𝐼𝑄𝑅</m:t>
                    </m:r>
                    <m:r>
                      <a:rPr lang="en-US" i="1" dirty="0">
                        <a:latin typeface="Cambria Math" panose="02040503050406030204" pitchFamily="18" charset="0"/>
                      </a:rPr>
                      <m:t> </m:t>
                    </m:r>
                  </m:oMath>
                </a14:m>
                <a:endParaRPr lang="en-US"/>
              </a:p>
              <a:p>
                <a:r>
                  <a:rPr lang="en-US"/>
                  <a:t>Fill in the values ​​outside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𝐿𝐵</m:t>
                    </m:r>
                    <m:r>
                      <a:rPr lang="en-US" i="1" dirty="0" smtClean="0">
                        <a:latin typeface="Cambria Math" panose="02040503050406030204" pitchFamily="18" charset="0"/>
                      </a:rPr>
                      <m:t>, </m:t>
                    </m:r>
                    <m:r>
                      <a:rPr lang="en-US" i="1" dirty="0" smtClean="0">
                        <a:latin typeface="Cambria Math" panose="02040503050406030204" pitchFamily="18" charset="0"/>
                      </a:rPr>
                      <m:t>𝑈𝐵</m:t>
                    </m:r>
                    <m:r>
                      <a:rPr lang="en-US" i="1" dirty="0" smtClean="0">
                        <a:latin typeface="Cambria Math" panose="02040503050406030204" pitchFamily="18" charset="0"/>
                      </a:rPr>
                      <m:t>]</m:t>
                    </m:r>
                  </m:oMath>
                </a14:m>
                <a:r>
                  <a:rPr lang="en-US"/>
                  <a:t> with LB/UB corresponding to </a:t>
                </a:r>
                <a:r>
                  <a:rPr lang="en-US" b="1"/>
                  <a:t>that month</a:t>
                </a:r>
                <a:r>
                  <a:rPr lang="en-US"/>
                  <a:t>.</a:t>
                </a:r>
              </a:p>
            </p:txBody>
          </p:sp>
        </mc:Choice>
        <mc:Fallback xmlns="">
          <p:sp>
            <p:nvSpPr>
              <p:cNvPr id="24" name="TextBox 23">
                <a:extLst>
                  <a:ext uri="{FF2B5EF4-FFF2-40B4-BE49-F238E27FC236}">
                    <a16:creationId xmlns:a16="http://schemas.microsoft.com/office/drawing/2014/main" id="{8406C610-BC15-8C67-C979-463C4020BDB8}"/>
                  </a:ext>
                </a:extLst>
              </p:cNvPr>
              <p:cNvSpPr txBox="1">
                <a:spLocks noRot="1" noChangeAspect="1" noMove="1" noResize="1" noEditPoints="1" noAdjustHandles="1" noChangeArrowheads="1" noChangeShapeType="1" noTextEdit="1"/>
              </p:cNvSpPr>
              <p:nvPr/>
            </p:nvSpPr>
            <p:spPr>
              <a:xfrm>
                <a:off x="1249716" y="2028615"/>
                <a:ext cx="3322284" cy="1195840"/>
              </a:xfrm>
              <a:prstGeom prst="rect">
                <a:avLst/>
              </a:prstGeom>
              <a:blipFill>
                <a:blip r:embed="rId3"/>
                <a:stretch>
                  <a:fillRect l="-550" t="-1020" b="-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6BC3BC4-02DC-C895-0624-57D09ADCCA87}"/>
                  </a:ext>
                </a:extLst>
              </p:cNvPr>
              <p:cNvSpPr txBox="1"/>
              <p:nvPr/>
            </p:nvSpPr>
            <p:spPr>
              <a:xfrm>
                <a:off x="5052282" y="2028615"/>
                <a:ext cx="3838957" cy="2031325"/>
              </a:xfrm>
              <a:prstGeom prst="rect">
                <a:avLst/>
              </a:prstGeom>
              <a:noFill/>
            </p:spPr>
            <p:txBody>
              <a:bodyPr wrap="square" rtlCol="0">
                <a:spAutoFit/>
              </a:bodyPr>
              <a:lstStyle/>
              <a:p>
                <a:r>
                  <a:rPr lang="en-US"/>
                  <a:t>Calculate on </a:t>
                </a:r>
                <a:r>
                  <a:rPr lang="en-US" b="1"/>
                  <a:t>log1p</a:t>
                </a:r>
                <a:r>
                  <a:rPr lang="en-US"/>
                  <a:t> to reflect multiplicative (right-tailed distribution):</a:t>
                </a:r>
                <a:endParaRPr lang="vi-VN"/>
              </a:p>
              <a:p>
                <a:r>
                  <a:rPr lang="vi-VN"/>
                  <a:t>-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𝑥</m:t>
                        </m:r>
                      </m:e>
                      <m:sub>
                        <m:r>
                          <a:rPr lang="vi-VN" i="1" dirty="0" smtClean="0">
                            <a:latin typeface="Cambria Math" panose="02040503050406030204" pitchFamily="18" charset="0"/>
                          </a:rPr>
                          <m:t>𝑙</m:t>
                        </m:r>
                      </m:sub>
                    </m:sSub>
                    <m:r>
                      <a:rPr lang="vi-VN" i="1" dirty="0" smtClean="0">
                        <a:latin typeface="Cambria Math" panose="02040503050406030204" pitchFamily="18" charset="0"/>
                      </a:rPr>
                      <m:t>=</m:t>
                    </m:r>
                    <m:r>
                      <m:rPr>
                        <m:sty m:val="p"/>
                      </m:rPr>
                      <a:rPr lang="vi-VN" i="1" dirty="0" smtClean="0">
                        <a:latin typeface="Cambria Math" panose="02040503050406030204" pitchFamily="18" charset="0"/>
                      </a:rPr>
                      <m:t>log</m:t>
                    </m:r>
                    <m:d>
                      <m:dPr>
                        <m:ctrlPr>
                          <a:rPr lang="vi-VN" i="1" dirty="0" smtClean="0">
                            <a:latin typeface="Cambria Math" panose="02040503050406030204" pitchFamily="18" charset="0"/>
                          </a:rPr>
                        </m:ctrlPr>
                      </m:dPr>
                      <m:e>
                        <m:r>
                          <a:rPr lang="vi-VN" i="1" dirty="0" smtClean="0">
                            <a:latin typeface="Cambria Math" panose="02040503050406030204" pitchFamily="18" charset="0"/>
                          </a:rPr>
                          <m:t>1+</m:t>
                        </m:r>
                        <m:r>
                          <a:rPr lang="vi-VN" i="1" dirty="0" smtClean="0">
                            <a:latin typeface="Cambria Math" panose="02040503050406030204" pitchFamily="18" charset="0"/>
                          </a:rPr>
                          <m:t>𝑥</m:t>
                        </m:r>
                      </m:e>
                    </m:d>
                  </m:oMath>
                </a14:m>
                <a:endParaRPr lang="vi-VN"/>
              </a:p>
              <a:p>
                <a:r>
                  <a:rPr lang="vi-VN"/>
                  <a:t>- </a:t>
                </a:r>
                <a14:m>
                  <m:oMath xmlns:m="http://schemas.openxmlformats.org/officeDocument/2006/math">
                    <m:r>
                      <a:rPr lang="vi-VN" i="1" dirty="0" smtClean="0">
                        <a:latin typeface="Cambria Math" panose="02040503050406030204" pitchFamily="18" charset="0"/>
                      </a:rPr>
                      <m:t>𝑄</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1</m:t>
                        </m:r>
                      </m:e>
                      <m:sub>
                        <m:r>
                          <a:rPr lang="vi-VN" i="1" dirty="0" smtClean="0">
                            <a:latin typeface="Cambria Math" panose="02040503050406030204" pitchFamily="18" charset="0"/>
                          </a:rPr>
                          <m:t>𝑙</m:t>
                        </m:r>
                      </m:sub>
                    </m:sSub>
                    <m:r>
                      <a:rPr lang="vi-VN" i="1" dirty="0" smtClean="0">
                        <a:latin typeface="Cambria Math" panose="02040503050406030204" pitchFamily="18" charset="0"/>
                      </a:rPr>
                      <m:t>,</m:t>
                    </m:r>
                    <m:r>
                      <a:rPr lang="vi-VN" i="1" dirty="0" smtClean="0">
                        <a:latin typeface="Cambria Math" panose="02040503050406030204" pitchFamily="18" charset="0"/>
                      </a:rPr>
                      <m:t>𝑄</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3</m:t>
                        </m:r>
                      </m:e>
                      <m:sub>
                        <m:r>
                          <a:rPr lang="vi-VN" i="1" dirty="0" smtClean="0">
                            <a:latin typeface="Cambria Math" panose="02040503050406030204" pitchFamily="18" charset="0"/>
                          </a:rPr>
                          <m:t>𝑙</m:t>
                        </m:r>
                      </m:sub>
                    </m:sSub>
                    <m:r>
                      <a:rPr lang="vi-VN" i="1" dirty="0" smtClean="0">
                        <a:latin typeface="Cambria Math" panose="02040503050406030204" pitchFamily="18" charset="0"/>
                      </a:rPr>
                      <m:t>,</m:t>
                    </m:r>
                    <m:r>
                      <a:rPr lang="vi-VN" i="1" dirty="0" smtClean="0">
                        <a:latin typeface="Cambria Math" panose="02040503050406030204" pitchFamily="18" charset="0"/>
                      </a:rPr>
                      <m:t>𝐼𝑄</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𝑅</m:t>
                        </m:r>
                      </m:e>
                      <m:sub>
                        <m:r>
                          <a:rPr lang="vi-VN" i="1" dirty="0" smtClean="0">
                            <a:latin typeface="Cambria Math" panose="02040503050406030204" pitchFamily="18" charset="0"/>
                          </a:rPr>
                          <m:t>𝑙</m:t>
                        </m:r>
                      </m:sub>
                    </m:sSub>
                    <m:r>
                      <a:rPr lang="vi-VN" i="1" dirty="0" smtClean="0">
                        <a:latin typeface="Cambria Math" panose="02040503050406030204" pitchFamily="18" charset="0"/>
                      </a:rPr>
                      <m:t>=</m:t>
                    </m:r>
                    <m:r>
                      <a:rPr lang="vi-VN" i="1" dirty="0" smtClean="0">
                        <a:latin typeface="Cambria Math" panose="02040503050406030204" pitchFamily="18" charset="0"/>
                      </a:rPr>
                      <m:t>𝑄</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3</m:t>
                        </m:r>
                      </m:e>
                      <m:sub>
                        <m:r>
                          <a:rPr lang="vi-VN" i="1" dirty="0" smtClean="0">
                            <a:latin typeface="Cambria Math" panose="02040503050406030204" pitchFamily="18" charset="0"/>
                          </a:rPr>
                          <m:t>𝑙</m:t>
                        </m:r>
                      </m:sub>
                    </m:sSub>
                    <m:r>
                      <a:rPr lang="vi-VN" i="1" dirty="0" smtClean="0">
                        <a:latin typeface="Cambria Math" panose="02040503050406030204" pitchFamily="18" charset="0"/>
                      </a:rPr>
                      <m:t>−</m:t>
                    </m:r>
                    <m:r>
                      <a:rPr lang="vi-VN" i="1" dirty="0" smtClean="0">
                        <a:latin typeface="Cambria Math" panose="02040503050406030204" pitchFamily="18" charset="0"/>
                      </a:rPr>
                      <m:t>𝑄</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1</m:t>
                        </m:r>
                      </m:e>
                      <m:sub>
                        <m:r>
                          <a:rPr lang="vi-VN" i="1" dirty="0" smtClean="0">
                            <a:latin typeface="Cambria Math" panose="02040503050406030204" pitchFamily="18" charset="0"/>
                          </a:rPr>
                          <m:t>𝑙</m:t>
                        </m:r>
                      </m:sub>
                    </m:sSub>
                  </m:oMath>
                </a14:m>
                <a:endParaRPr lang="vi-VN"/>
              </a:p>
              <a:p>
                <a:r>
                  <a:rPr lang="vi-VN"/>
                  <a:t>- </a:t>
                </a:r>
                <a14:m>
                  <m:oMath xmlns:m="http://schemas.openxmlformats.org/officeDocument/2006/math">
                    <m:r>
                      <a:rPr lang="vi-VN" b="1" i="1" dirty="0" smtClean="0">
                        <a:latin typeface="Cambria Math" panose="02040503050406030204" pitchFamily="18" charset="0"/>
                      </a:rPr>
                      <m:t>𝑳𝑩</m:t>
                    </m:r>
                    <m:r>
                      <a:rPr lang="vi-VN" i="1" dirty="0" smtClean="0">
                        <a:latin typeface="Cambria Math" panose="02040503050406030204" pitchFamily="18" charset="0"/>
                      </a:rPr>
                      <m:t> </m:t>
                    </m:r>
                    <m:r>
                      <a:rPr lang="vi-VN" i="1" dirty="0">
                        <a:latin typeface="Cambria Math" panose="02040503050406030204" pitchFamily="18" charset="0"/>
                      </a:rPr>
                      <m:t>= </m:t>
                    </m:r>
                    <m:r>
                      <a:rPr lang="vi-VN" i="1" dirty="0">
                        <a:latin typeface="Cambria Math" panose="02040503050406030204" pitchFamily="18" charset="0"/>
                      </a:rPr>
                      <m:t>𝑒𝑥𝑝𝑚</m:t>
                    </m:r>
                    <m:r>
                      <a:rPr lang="vi-VN" i="1" dirty="0">
                        <a:latin typeface="Cambria Math" panose="02040503050406030204" pitchFamily="18" charset="0"/>
                      </a:rPr>
                      <m:t>1(</m:t>
                    </m:r>
                    <m:r>
                      <m:rPr>
                        <m:sty m:val="p"/>
                      </m:rPr>
                      <a:rPr lang="vi-VN" i="1" dirty="0">
                        <a:latin typeface="Cambria Math" panose="02040503050406030204" pitchFamily="18" charset="0"/>
                      </a:rPr>
                      <m:t>max</m:t>
                    </m:r>
                    <m:r>
                      <a:rPr lang="vi-VN" i="1" dirty="0">
                        <a:latin typeface="Cambria Math" panose="02040503050406030204" pitchFamily="18" charset="0"/>
                      </a:rPr>
                      <m:t>⁡(0, </m:t>
                    </m:r>
                    <m:r>
                      <a:rPr lang="vi-VN" i="1" dirty="0">
                        <a:latin typeface="Cambria Math" panose="02040503050406030204" pitchFamily="18" charset="0"/>
                      </a:rPr>
                      <m:t>𝑄</m:t>
                    </m:r>
                    <m:r>
                      <a:rPr lang="vi-VN" i="1" dirty="0">
                        <a:latin typeface="Cambria Math" panose="02040503050406030204" pitchFamily="18" charset="0"/>
                      </a:rPr>
                      <m:t>1_</m:t>
                    </m:r>
                    <m:r>
                      <a:rPr lang="vi-VN" i="1" dirty="0">
                        <a:latin typeface="Cambria Math" panose="02040503050406030204" pitchFamily="18" charset="0"/>
                      </a:rPr>
                      <m:t>𝑙</m:t>
                    </m:r>
                    <m:r>
                      <a:rPr lang="vi-VN" i="1" dirty="0">
                        <a:latin typeface="Cambria Math" panose="02040503050406030204" pitchFamily="18" charset="0"/>
                      </a:rPr>
                      <m:t> − 1.5×</m:t>
                    </m:r>
                    <m:r>
                      <a:rPr lang="vi-VN" i="1" dirty="0">
                        <a:latin typeface="Cambria Math" panose="02040503050406030204" pitchFamily="18" charset="0"/>
                      </a:rPr>
                      <m:t>𝐼𝑄𝑅</m:t>
                    </m:r>
                    <m:r>
                      <a:rPr lang="vi-VN" i="1" dirty="0">
                        <a:latin typeface="Cambria Math" panose="02040503050406030204" pitchFamily="18" charset="0"/>
                      </a:rPr>
                      <m:t>_</m:t>
                    </m:r>
                    <m:r>
                      <a:rPr lang="vi-VN" i="1" dirty="0">
                        <a:latin typeface="Cambria Math" panose="02040503050406030204" pitchFamily="18" charset="0"/>
                      </a:rPr>
                      <m:t>𝑙</m:t>
                    </m:r>
                    <m:r>
                      <a:rPr lang="vi-VN" i="1" dirty="0">
                        <a:latin typeface="Cambria Math" panose="02040503050406030204" pitchFamily="18" charset="0"/>
                      </a:rPr>
                      <m:t>)) </m:t>
                    </m:r>
                  </m:oMath>
                </a14:m>
                <a:r>
                  <a:rPr lang="vi-VN"/>
                  <a:t> </a:t>
                </a:r>
              </a:p>
              <a:p>
                <a:r>
                  <a:rPr lang="vi-VN"/>
                  <a:t>- </a:t>
                </a:r>
                <a14:m>
                  <m:oMath xmlns:m="http://schemas.openxmlformats.org/officeDocument/2006/math">
                    <m:r>
                      <a:rPr lang="vi-VN" b="1" i="1" dirty="0" smtClean="0">
                        <a:latin typeface="Cambria Math" panose="02040503050406030204" pitchFamily="18" charset="0"/>
                      </a:rPr>
                      <m:t>𝑼𝑩</m:t>
                    </m:r>
                    <m:r>
                      <a:rPr lang="vi-VN" i="1" dirty="0" smtClean="0">
                        <a:latin typeface="Cambria Math" panose="02040503050406030204" pitchFamily="18" charset="0"/>
                      </a:rPr>
                      <m:t> = </m:t>
                    </m:r>
                    <m:r>
                      <a:rPr lang="vi-VN" i="1" dirty="0" smtClean="0">
                        <a:latin typeface="Cambria Math" panose="02040503050406030204" pitchFamily="18" charset="0"/>
                      </a:rPr>
                      <m:t>𝑒𝑥𝑝𝑚</m:t>
                    </m:r>
                    <m:r>
                      <a:rPr lang="vi-VN" i="1" dirty="0" smtClean="0">
                        <a:latin typeface="Cambria Math" panose="02040503050406030204" pitchFamily="18" charset="0"/>
                      </a:rPr>
                      <m:t>1(</m:t>
                    </m:r>
                    <m:r>
                      <a:rPr lang="vi-VN" i="1" dirty="0" smtClean="0">
                        <a:latin typeface="Cambria Math" panose="02040503050406030204" pitchFamily="18" charset="0"/>
                      </a:rPr>
                      <m:t>𝑄</m:t>
                    </m:r>
                    <m:r>
                      <a:rPr lang="vi-VN" i="1" dirty="0" smtClean="0">
                        <a:latin typeface="Cambria Math" panose="02040503050406030204" pitchFamily="18" charset="0"/>
                      </a:rPr>
                      <m:t>3_</m:t>
                    </m:r>
                    <m:r>
                      <a:rPr lang="vi-VN" i="1" dirty="0" smtClean="0">
                        <a:latin typeface="Cambria Math" panose="02040503050406030204" pitchFamily="18" charset="0"/>
                      </a:rPr>
                      <m:t>𝑙</m:t>
                    </m:r>
                    <m:r>
                      <a:rPr lang="vi-VN" i="1" dirty="0" smtClean="0">
                        <a:latin typeface="Cambria Math" panose="02040503050406030204" pitchFamily="18" charset="0"/>
                      </a:rPr>
                      <m:t> + 2.5×</m:t>
                    </m:r>
                    <m:r>
                      <a:rPr lang="vi-VN" i="1" dirty="0" smtClean="0">
                        <a:latin typeface="Cambria Math" panose="02040503050406030204" pitchFamily="18" charset="0"/>
                      </a:rPr>
                      <m:t>𝐼𝑄𝑅</m:t>
                    </m:r>
                    <m:r>
                      <a:rPr lang="vi-VN" i="1" dirty="0" smtClean="0">
                        <a:latin typeface="Cambria Math" panose="02040503050406030204" pitchFamily="18" charset="0"/>
                      </a:rPr>
                      <m:t>_</m:t>
                    </m:r>
                    <m:r>
                      <a:rPr lang="vi-VN" i="1" dirty="0" smtClean="0">
                        <a:latin typeface="Cambria Math" panose="02040503050406030204" pitchFamily="18" charset="0"/>
                      </a:rPr>
                      <m:t>𝑙</m:t>
                    </m:r>
                    <m:r>
                      <a:rPr lang="vi-VN" i="1" dirty="0" smtClean="0">
                        <a:latin typeface="Cambria Math" panose="02040503050406030204" pitchFamily="18" charset="0"/>
                      </a:rPr>
                      <m:t>) </m:t>
                    </m:r>
                  </m:oMath>
                </a14:m>
                <a:r>
                  <a:rPr lang="vi-VN"/>
                  <a:t>⟵ </a:t>
                </a:r>
                <a:r>
                  <a:rPr lang="en-US" b="1"/>
                  <a:t>loosen the upper boundary to keep the real flood peak</a:t>
                </a:r>
                <a:endParaRPr lang="vi-VN"/>
              </a:p>
              <a:p>
                <a:r>
                  <a:rPr lang="en-US"/>
                  <a:t>Fill the values ​​outside [LB, UB] similarly</a:t>
                </a:r>
                <a:r>
                  <a:rPr lang="vi-VN"/>
                  <a:t>.</a:t>
                </a:r>
              </a:p>
            </p:txBody>
          </p:sp>
        </mc:Choice>
        <mc:Fallback xmlns="">
          <p:sp>
            <p:nvSpPr>
              <p:cNvPr id="25" name="TextBox 24">
                <a:extLst>
                  <a:ext uri="{FF2B5EF4-FFF2-40B4-BE49-F238E27FC236}">
                    <a16:creationId xmlns:a16="http://schemas.microsoft.com/office/drawing/2014/main" id="{46BC3BC4-02DC-C895-0624-57D09ADCCA87}"/>
                  </a:ext>
                </a:extLst>
              </p:cNvPr>
              <p:cNvSpPr txBox="1">
                <a:spLocks noRot="1" noChangeAspect="1" noMove="1" noResize="1" noEditPoints="1" noAdjustHandles="1" noChangeArrowheads="1" noChangeShapeType="1" noTextEdit="1"/>
              </p:cNvSpPr>
              <p:nvPr/>
            </p:nvSpPr>
            <p:spPr>
              <a:xfrm>
                <a:off x="5052282" y="2028615"/>
                <a:ext cx="3838957" cy="2031325"/>
              </a:xfrm>
              <a:prstGeom prst="rect">
                <a:avLst/>
              </a:prstGeom>
              <a:blipFill>
                <a:blip r:embed="rId4"/>
                <a:stretch>
                  <a:fillRect l="-476" t="-601" r="-952" b="-2102"/>
                </a:stretch>
              </a:blipFill>
            </p:spPr>
            <p:txBody>
              <a:bodyPr/>
              <a:lstStyle/>
              <a:p>
                <a:r>
                  <a:rPr lang="en-US">
                    <a:noFill/>
                  </a:rPr>
                  <a:t> </a:t>
                </a:r>
              </a:p>
            </p:txBody>
          </p:sp>
        </mc:Fallback>
      </mc:AlternateContent>
    </p:spTree>
    <p:extLst>
      <p:ext uri="{BB962C8B-B14F-4D97-AF65-F5344CB8AC3E}">
        <p14:creationId xmlns:p14="http://schemas.microsoft.com/office/powerpoint/2010/main" val="26542534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CF736C85-FE56-1737-BD42-D4507C072975}"/>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254B1AC6-8DDC-EC08-0970-1B76C15B897A}"/>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pic>
        <p:nvPicPr>
          <p:cNvPr id="3" name="Picture 2">
            <a:extLst>
              <a:ext uri="{FF2B5EF4-FFF2-40B4-BE49-F238E27FC236}">
                <a16:creationId xmlns:a16="http://schemas.microsoft.com/office/drawing/2014/main" id="{77173A85-FB25-C7C6-4CAE-E4D8AAFB3666}"/>
              </a:ext>
            </a:extLst>
          </p:cNvPr>
          <p:cNvPicPr>
            <a:picLocks noChangeAspect="1"/>
          </p:cNvPicPr>
          <p:nvPr/>
        </p:nvPicPr>
        <p:blipFill>
          <a:blip r:embed="rId3"/>
          <a:stretch>
            <a:fillRect/>
          </a:stretch>
        </p:blipFill>
        <p:spPr>
          <a:xfrm>
            <a:off x="1665249" y="1146252"/>
            <a:ext cx="2572214" cy="1929160"/>
          </a:xfrm>
          <a:prstGeom prst="rect">
            <a:avLst/>
          </a:prstGeom>
        </p:spPr>
      </p:pic>
      <p:pic>
        <p:nvPicPr>
          <p:cNvPr id="5" name="Picture 4">
            <a:extLst>
              <a:ext uri="{FF2B5EF4-FFF2-40B4-BE49-F238E27FC236}">
                <a16:creationId xmlns:a16="http://schemas.microsoft.com/office/drawing/2014/main" id="{C981CBBA-9FAD-B03E-828D-EE5553EC26BC}"/>
              </a:ext>
            </a:extLst>
          </p:cNvPr>
          <p:cNvPicPr>
            <a:picLocks noChangeAspect="1"/>
          </p:cNvPicPr>
          <p:nvPr/>
        </p:nvPicPr>
        <p:blipFill>
          <a:blip r:embed="rId4"/>
          <a:stretch>
            <a:fillRect/>
          </a:stretch>
        </p:blipFill>
        <p:spPr>
          <a:xfrm>
            <a:off x="4754756" y="1130454"/>
            <a:ext cx="2593278" cy="1944958"/>
          </a:xfrm>
          <a:prstGeom prst="rect">
            <a:avLst/>
          </a:prstGeom>
        </p:spPr>
      </p:pic>
      <p:pic>
        <p:nvPicPr>
          <p:cNvPr id="7" name="Picture 6">
            <a:extLst>
              <a:ext uri="{FF2B5EF4-FFF2-40B4-BE49-F238E27FC236}">
                <a16:creationId xmlns:a16="http://schemas.microsoft.com/office/drawing/2014/main" id="{983CABBA-0EFB-6E89-CEFD-BA602134EE8F}"/>
              </a:ext>
            </a:extLst>
          </p:cNvPr>
          <p:cNvPicPr>
            <a:picLocks noChangeAspect="1"/>
          </p:cNvPicPr>
          <p:nvPr/>
        </p:nvPicPr>
        <p:blipFill>
          <a:blip r:embed="rId5"/>
          <a:stretch>
            <a:fillRect/>
          </a:stretch>
        </p:blipFill>
        <p:spPr>
          <a:xfrm>
            <a:off x="1665248" y="3070397"/>
            <a:ext cx="2572213" cy="1929160"/>
          </a:xfrm>
          <a:prstGeom prst="rect">
            <a:avLst/>
          </a:prstGeom>
        </p:spPr>
      </p:pic>
      <p:pic>
        <p:nvPicPr>
          <p:cNvPr id="9" name="Picture 8">
            <a:extLst>
              <a:ext uri="{FF2B5EF4-FFF2-40B4-BE49-F238E27FC236}">
                <a16:creationId xmlns:a16="http://schemas.microsoft.com/office/drawing/2014/main" id="{C566DFB7-F93D-8102-CCB3-14A1A026C5F0}"/>
              </a:ext>
            </a:extLst>
          </p:cNvPr>
          <p:cNvPicPr>
            <a:picLocks noChangeAspect="1"/>
          </p:cNvPicPr>
          <p:nvPr/>
        </p:nvPicPr>
        <p:blipFill>
          <a:blip r:embed="rId5"/>
          <a:stretch>
            <a:fillRect/>
          </a:stretch>
        </p:blipFill>
        <p:spPr>
          <a:xfrm>
            <a:off x="4707983" y="3005486"/>
            <a:ext cx="2686824" cy="2015119"/>
          </a:xfrm>
          <a:prstGeom prst="rect">
            <a:avLst/>
          </a:prstGeom>
        </p:spPr>
      </p:pic>
    </p:spTree>
    <p:extLst>
      <p:ext uri="{BB962C8B-B14F-4D97-AF65-F5344CB8AC3E}">
        <p14:creationId xmlns:p14="http://schemas.microsoft.com/office/powerpoint/2010/main" val="25812219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BDAE63EB-89A5-0B8D-24A6-7E041686686B}"/>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D09BD6CD-2CAC-6C8C-CB7C-28DB26BDC871}"/>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79E3C8A1-A536-8B84-450C-1598FBC19EBD}"/>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F193A19E-171C-D363-F8E3-91D4C3E8ABC8}"/>
              </a:ext>
            </a:extLst>
          </p:cNvPr>
          <p:cNvGraphicFramePr/>
          <p:nvPr>
            <p:extLst>
              <p:ext uri="{D42A27DB-BD31-4B8C-83A1-F6EECF244321}">
                <p14:modId xmlns:p14="http://schemas.microsoft.com/office/powerpoint/2010/main" val="1603069379"/>
              </p:ext>
            </p:extLst>
          </p:nvPr>
        </p:nvGraphicFramePr>
        <p:xfrm>
          <a:off x="726725" y="114349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bl>
          </a:graphicData>
        </a:graphic>
      </p:graphicFrame>
    </p:spTree>
    <p:extLst>
      <p:ext uri="{BB962C8B-B14F-4D97-AF65-F5344CB8AC3E}">
        <p14:creationId xmlns:p14="http://schemas.microsoft.com/office/powerpoint/2010/main" val="19485762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895035A7-F115-6CDC-89EE-E1657B6BC524}"/>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E0BA5D47-201E-E5FD-10D3-7E1890967362}"/>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F05E2779-4DA3-2376-2269-DC888CB8B346}"/>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F4C4F747-A2AC-B0D7-E4C8-4B93910C841B}"/>
              </a:ext>
            </a:extLst>
          </p:cNvPr>
          <p:cNvGraphicFramePr/>
          <p:nvPr>
            <p:extLst>
              <p:ext uri="{D42A27DB-BD31-4B8C-83A1-F6EECF244321}">
                <p14:modId xmlns:p14="http://schemas.microsoft.com/office/powerpoint/2010/main" val="2021144078"/>
              </p:ext>
            </p:extLst>
          </p:nvPr>
        </p:nvGraphicFramePr>
        <p:xfrm>
          <a:off x="726725" y="114349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bl>
          </a:graphicData>
        </a:graphic>
      </p:graphicFrame>
    </p:spTree>
    <p:extLst>
      <p:ext uri="{BB962C8B-B14F-4D97-AF65-F5344CB8AC3E}">
        <p14:creationId xmlns:p14="http://schemas.microsoft.com/office/powerpoint/2010/main" val="21980954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C4B204EC-8F49-1C38-26C7-E52D741D29C9}"/>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224D4347-1F71-48DB-1421-DEA302037EEB}"/>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6EAD0116-0199-D21A-74BF-B1884473189F}"/>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D7C84846-9123-F233-8297-5CA36B3B025C}"/>
              </a:ext>
            </a:extLst>
          </p:cNvPr>
          <p:cNvGraphicFramePr/>
          <p:nvPr>
            <p:extLst>
              <p:ext uri="{D42A27DB-BD31-4B8C-83A1-F6EECF244321}">
                <p14:modId xmlns:p14="http://schemas.microsoft.com/office/powerpoint/2010/main" val="534754940"/>
              </p:ext>
            </p:extLst>
          </p:nvPr>
        </p:nvGraphicFramePr>
        <p:xfrm>
          <a:off x="726725" y="114349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326914244"/>
                  </a:ext>
                </a:extLst>
              </a:tr>
            </a:tbl>
          </a:graphicData>
        </a:graphic>
      </p:graphicFrame>
    </p:spTree>
    <p:extLst>
      <p:ext uri="{BB962C8B-B14F-4D97-AF65-F5344CB8AC3E}">
        <p14:creationId xmlns:p14="http://schemas.microsoft.com/office/powerpoint/2010/main" val="14637082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C7853339-F033-8EFE-0BEB-478E9DFF3D71}"/>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12AEC128-64E4-CB40-4F16-7D85AF5E5806}"/>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1" name="Chỗ dành sẵn cho Nội dung 13">
            <a:extLst>
              <a:ext uri="{FF2B5EF4-FFF2-40B4-BE49-F238E27FC236}">
                <a16:creationId xmlns:a16="http://schemas.microsoft.com/office/drawing/2014/main" id="{B1C25B49-526E-22DC-DEEF-D783E4FCD1E5}"/>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4" name="Hình ảnh 3" descr="Ảnh có chứa văn bản, ảnh chụp màn hình, biểu đồ, Hình chữ nhật&#10;&#10;Nội dung do AI tạo ra có thể không chính xác.">
            <a:extLst>
              <a:ext uri="{FF2B5EF4-FFF2-40B4-BE49-F238E27FC236}">
                <a16:creationId xmlns:a16="http://schemas.microsoft.com/office/drawing/2014/main" id="{3479297E-8DE9-0668-C79C-A034410E47FC}"/>
              </a:ext>
            </a:extLst>
          </p:cNvPr>
          <p:cNvPicPr>
            <a:picLocks noChangeAspect="1"/>
          </p:cNvPicPr>
          <p:nvPr/>
        </p:nvPicPr>
        <p:blipFill>
          <a:blip r:embed="rId3"/>
          <a:stretch>
            <a:fillRect/>
          </a:stretch>
        </p:blipFill>
        <p:spPr>
          <a:xfrm>
            <a:off x="510558" y="1526632"/>
            <a:ext cx="4061442" cy="2437336"/>
          </a:xfrm>
          <a:prstGeom prst="rect">
            <a:avLst/>
          </a:prstGeom>
        </p:spPr>
      </p:pic>
      <p:pic>
        <p:nvPicPr>
          <p:cNvPr id="6" name="Hình ảnh 5" descr="Ảnh có chứa văn bản, ảnh chụp màn hình, Sơ đồ, hàng&#10;&#10;Nội dung do AI tạo ra có thể không chính xác.">
            <a:extLst>
              <a:ext uri="{FF2B5EF4-FFF2-40B4-BE49-F238E27FC236}">
                <a16:creationId xmlns:a16="http://schemas.microsoft.com/office/drawing/2014/main" id="{BDBEE6D0-AD21-4738-2336-CB15FA321119}"/>
              </a:ext>
            </a:extLst>
          </p:cNvPr>
          <p:cNvPicPr>
            <a:picLocks noChangeAspect="1"/>
          </p:cNvPicPr>
          <p:nvPr/>
        </p:nvPicPr>
        <p:blipFill>
          <a:blip r:embed="rId4"/>
          <a:stretch>
            <a:fillRect/>
          </a:stretch>
        </p:blipFill>
        <p:spPr>
          <a:xfrm>
            <a:off x="4625358" y="1526632"/>
            <a:ext cx="4351408" cy="2437336"/>
          </a:xfrm>
          <a:prstGeom prst="rect">
            <a:avLst/>
          </a:prstGeom>
        </p:spPr>
      </p:pic>
    </p:spTree>
    <p:extLst>
      <p:ext uri="{BB962C8B-B14F-4D97-AF65-F5344CB8AC3E}">
        <p14:creationId xmlns:p14="http://schemas.microsoft.com/office/powerpoint/2010/main" val="302923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3663A6D9-3062-9ACC-C587-1513196BB830}"/>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E8CA8EE7-F340-C1DF-8C30-4FBD9E815D67}"/>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11" name="Chỗ dành sẵn cho Nội dung 13">
            <a:extLst>
              <a:ext uri="{FF2B5EF4-FFF2-40B4-BE49-F238E27FC236}">
                <a16:creationId xmlns:a16="http://schemas.microsoft.com/office/drawing/2014/main" id="{747D1380-7CA5-7C22-6147-68876CB8B908}"/>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ảnh chụp màn hình, biểu đồ, hàng&#10;&#10;Nội dung do AI tạo ra có thể không chính xác.">
            <a:extLst>
              <a:ext uri="{FF2B5EF4-FFF2-40B4-BE49-F238E27FC236}">
                <a16:creationId xmlns:a16="http://schemas.microsoft.com/office/drawing/2014/main" id="{E5D56BC5-3259-42C6-9F9B-FB30543417DF}"/>
              </a:ext>
            </a:extLst>
          </p:cNvPr>
          <p:cNvPicPr>
            <a:picLocks noChangeAspect="1"/>
          </p:cNvPicPr>
          <p:nvPr/>
        </p:nvPicPr>
        <p:blipFill>
          <a:blip r:embed="rId3"/>
          <a:stretch>
            <a:fillRect/>
          </a:stretch>
        </p:blipFill>
        <p:spPr>
          <a:xfrm>
            <a:off x="457200" y="1526632"/>
            <a:ext cx="3676760" cy="2437336"/>
          </a:xfrm>
          <a:prstGeom prst="rect">
            <a:avLst/>
          </a:prstGeom>
        </p:spPr>
      </p:pic>
      <p:pic>
        <p:nvPicPr>
          <p:cNvPr id="7" name="Hình ảnh 6" descr="Ảnh có chứa văn bản, ảnh chụp màn hình, Sơ đồ, Phông chữ&#10;&#10;Nội dung do AI tạo ra có thể không chính xác.">
            <a:extLst>
              <a:ext uri="{FF2B5EF4-FFF2-40B4-BE49-F238E27FC236}">
                <a16:creationId xmlns:a16="http://schemas.microsoft.com/office/drawing/2014/main" id="{9B875AC8-340D-FB3F-17E4-EAB9ADD625D0}"/>
              </a:ext>
            </a:extLst>
          </p:cNvPr>
          <p:cNvPicPr>
            <a:picLocks noChangeAspect="1"/>
          </p:cNvPicPr>
          <p:nvPr/>
        </p:nvPicPr>
        <p:blipFill>
          <a:blip r:embed="rId4"/>
          <a:stretch>
            <a:fillRect/>
          </a:stretch>
        </p:blipFill>
        <p:spPr>
          <a:xfrm>
            <a:off x="4324242" y="1526633"/>
            <a:ext cx="4321106" cy="2437336"/>
          </a:xfrm>
          <a:prstGeom prst="rect">
            <a:avLst/>
          </a:prstGeom>
        </p:spPr>
      </p:pic>
    </p:spTree>
    <p:extLst>
      <p:ext uri="{BB962C8B-B14F-4D97-AF65-F5344CB8AC3E}">
        <p14:creationId xmlns:p14="http://schemas.microsoft.com/office/powerpoint/2010/main" val="6146829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5EEDC8D-E6B8-5F81-6D15-7A24BFBE5541}"/>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E99A729D-0B6A-B160-B1DB-58AF86FA04FD}"/>
              </a:ext>
            </a:extLst>
          </p:cNvPr>
          <p:cNvSpPr>
            <a:spLocks noGrp="1"/>
          </p:cNvSpPr>
          <p:nvPr>
            <p:ph type="title"/>
          </p:nvPr>
        </p:nvSpPr>
        <p:spPr>
          <a:xfrm>
            <a:off x="713225" y="445025"/>
            <a:ext cx="7717500" cy="572700"/>
          </a:xfrm>
        </p:spPr>
        <p:txBody>
          <a:bodyPr/>
          <a:lstStyle/>
          <a:p>
            <a:pPr algn="ctr"/>
            <a:r>
              <a:rPr lang="en" sz="4000"/>
              <a:t>Preprocessing</a:t>
            </a:r>
            <a:endParaRPr lang="en-US" sz="4000"/>
          </a:p>
        </p:txBody>
      </p:sp>
      <p:sp>
        <p:nvSpPr>
          <p:cNvPr id="3" name="Chỗ dành sẵn cho Nội dung 13">
            <a:extLst>
              <a:ext uri="{FF2B5EF4-FFF2-40B4-BE49-F238E27FC236}">
                <a16:creationId xmlns:a16="http://schemas.microsoft.com/office/drawing/2014/main" id="{36661124-0CBE-2FF9-2123-138EA6CA657F}"/>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9DD2A5EC-E7F6-3813-F388-23512193D3BC}"/>
              </a:ext>
            </a:extLst>
          </p:cNvPr>
          <p:cNvGraphicFramePr/>
          <p:nvPr>
            <p:extLst>
              <p:ext uri="{D42A27DB-BD31-4B8C-83A1-F6EECF244321}">
                <p14:modId xmlns:p14="http://schemas.microsoft.com/office/powerpoint/2010/main" val="1319988050"/>
              </p:ext>
            </p:extLst>
          </p:nvPr>
        </p:nvGraphicFramePr>
        <p:xfrm>
          <a:off x="726725" y="1143495"/>
          <a:ext cx="7704000" cy="254498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rgbClr val="FF0000"/>
                          </a:solidFill>
                          <a:latin typeface="Archivo"/>
                          <a:ea typeface="Archivo"/>
                          <a:cs typeface="Archivo"/>
                          <a:sym typeface="Archivo"/>
                        </a:rPr>
                        <a:t>dap_tran_norm</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spillway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dap_tran_max</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capacity of the spillway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nha_may_norm</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turbine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nha_may_max</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through the power plant turbines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862254742"/>
                  </a:ext>
                </a:extLst>
              </a:tr>
            </a:tbl>
          </a:graphicData>
        </a:graphic>
      </p:graphicFrame>
    </p:spTree>
    <p:extLst>
      <p:ext uri="{BB962C8B-B14F-4D97-AF65-F5344CB8AC3E}">
        <p14:creationId xmlns:p14="http://schemas.microsoft.com/office/powerpoint/2010/main" val="14583401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04">
          <a:extLst>
            <a:ext uri="{FF2B5EF4-FFF2-40B4-BE49-F238E27FC236}">
              <a16:creationId xmlns:a16="http://schemas.microsoft.com/office/drawing/2014/main" id="{B92A124A-3716-2ACD-604D-54104A1F2440}"/>
            </a:ext>
          </a:extLst>
        </p:cNvPr>
        <p:cNvGrpSpPr/>
        <p:nvPr/>
      </p:nvGrpSpPr>
      <p:grpSpPr>
        <a:xfrm>
          <a:off x="0" y="0"/>
          <a:ext cx="0" cy="0"/>
          <a:chOff x="0" y="0"/>
          <a:chExt cx="0" cy="0"/>
        </a:xfrm>
      </p:grpSpPr>
      <p:sp>
        <p:nvSpPr>
          <p:cNvPr id="6" name="Google Shape;797;p41">
            <a:extLst>
              <a:ext uri="{FF2B5EF4-FFF2-40B4-BE49-F238E27FC236}">
                <a16:creationId xmlns:a16="http://schemas.microsoft.com/office/drawing/2014/main" id="{DCB6B023-0DAA-B91B-8F57-3949041BC569}"/>
              </a:ext>
            </a:extLst>
          </p:cNvPr>
          <p:cNvSpPr/>
          <p:nvPr/>
        </p:nvSpPr>
        <p:spPr>
          <a:xfrm>
            <a:off x="4096350" y="1463163"/>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98;p41">
            <a:extLst>
              <a:ext uri="{FF2B5EF4-FFF2-40B4-BE49-F238E27FC236}">
                <a16:creationId xmlns:a16="http://schemas.microsoft.com/office/drawing/2014/main" id="{53214323-FFD1-29D7-C09C-D0FD7903ACAF}"/>
              </a:ext>
            </a:extLst>
          </p:cNvPr>
          <p:cNvSpPr txBox="1">
            <a:spLocks noGrp="1"/>
          </p:cNvSpPr>
          <p:nvPr>
            <p:ph type="title"/>
          </p:nvPr>
        </p:nvSpPr>
        <p:spPr>
          <a:xfrm>
            <a:off x="2543249" y="2537925"/>
            <a:ext cx="4333335" cy="578400"/>
          </a:xfrm>
          <a:prstGeom prst="rect">
            <a:avLst/>
          </a:prstGeom>
        </p:spPr>
        <p:txBody>
          <a:bodyPr spcFirstLastPara="1" wrap="square" lIns="91425" tIns="91425" rIns="91425" bIns="91425" anchor="t" anchorCtr="0">
            <a:noAutofit/>
          </a:bodyPr>
          <a:lstStyle/>
          <a:p>
            <a:pPr lvl="0">
              <a:buClr>
                <a:schemeClr val="dk1"/>
              </a:buClr>
              <a:buSzPts val="1100"/>
            </a:pPr>
            <a:r>
              <a:rPr lang="en" sz="3200"/>
              <a:t>Feature engineering</a:t>
            </a:r>
            <a:endParaRPr sz="3200"/>
          </a:p>
        </p:txBody>
      </p:sp>
      <p:sp>
        <p:nvSpPr>
          <p:cNvPr id="8" name="Google Shape;800;p41">
            <a:extLst>
              <a:ext uri="{FF2B5EF4-FFF2-40B4-BE49-F238E27FC236}">
                <a16:creationId xmlns:a16="http://schemas.microsoft.com/office/drawing/2014/main" id="{F990FFF1-86F1-CEE8-0403-DEB028CD35B5}"/>
              </a:ext>
            </a:extLst>
          </p:cNvPr>
          <p:cNvSpPr txBox="1">
            <a:spLocks/>
          </p:cNvSpPr>
          <p:nvPr/>
        </p:nvSpPr>
        <p:spPr>
          <a:xfrm>
            <a:off x="4017450" y="1613613"/>
            <a:ext cx="1109100" cy="650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500">
                <a:solidFill>
                  <a:schemeClr val="bg1"/>
                </a:solidFill>
                <a:latin typeface="Archivo" panose="020B0604020202020204" charset="0"/>
                <a:cs typeface="Archivo" panose="020B0604020202020204" charset="0"/>
              </a:rPr>
              <a:t>04</a:t>
            </a:r>
          </a:p>
        </p:txBody>
      </p:sp>
    </p:spTree>
    <p:extLst>
      <p:ext uri="{BB962C8B-B14F-4D97-AF65-F5344CB8AC3E}">
        <p14:creationId xmlns:p14="http://schemas.microsoft.com/office/powerpoint/2010/main" val="34592264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B4483B82-728C-CACF-C551-1B4C0D3343B9}"/>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C064ECA0-AF2F-F74A-6C25-47CC0EB7DBFE}"/>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weather data</a:t>
            </a:r>
            <a:endParaRPr/>
          </a:p>
        </p:txBody>
      </p:sp>
      <p:graphicFrame>
        <p:nvGraphicFramePr>
          <p:cNvPr id="708" name="Google Shape;708;p38">
            <a:extLst>
              <a:ext uri="{FF2B5EF4-FFF2-40B4-BE49-F238E27FC236}">
                <a16:creationId xmlns:a16="http://schemas.microsoft.com/office/drawing/2014/main" id="{C1DEFB0B-BE8C-3489-3785-DA8861A73EDD}"/>
              </a:ext>
            </a:extLst>
          </p:cNvPr>
          <p:cNvGraphicFramePr/>
          <p:nvPr/>
        </p:nvGraphicFramePr>
        <p:xfrm>
          <a:off x="720000" y="1767225"/>
          <a:ext cx="7704000" cy="1752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100" b="1">
                          <a:solidFill>
                            <a:schemeClr val="accent1"/>
                          </a:solidFill>
                          <a:uFill>
                            <a:noFill/>
                          </a:uFill>
                          <a:latin typeface="Archivo"/>
                          <a:ea typeface="Archivo"/>
                          <a:cs typeface="Archivo"/>
                          <a:sym typeface="Archivo"/>
                        </a:rPr>
                        <a:t>Time</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Date and time, representing the timestamp of each recorded observation.</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vi-VN" sz="1100" b="1" err="1">
                          <a:solidFill>
                            <a:schemeClr val="accent1"/>
                          </a:solidFill>
                          <a:uFill>
                            <a:noFill/>
                          </a:uFill>
                          <a:latin typeface="Archivo"/>
                          <a:ea typeface="Archivo"/>
                          <a:cs typeface="Archivo"/>
                          <a:sym typeface="Archivo"/>
                        </a:rPr>
                        <a:t>precipitation</a:t>
                      </a:r>
                      <a:r>
                        <a:rPr lang="vi-VN" sz="1100" b="1">
                          <a:solidFill>
                            <a:schemeClr val="accent1"/>
                          </a:solidFill>
                          <a:uFill>
                            <a:noFill/>
                          </a:uFill>
                          <a:latin typeface="Archivo"/>
                          <a:ea typeface="Archivo"/>
                          <a:cs typeface="Archivo"/>
                          <a:sym typeface="Archivo"/>
                        </a:rPr>
                        <a:t>_(</a:t>
                      </a:r>
                      <a:r>
                        <a:rPr lang="vi-VN" sz="1100" b="1" err="1">
                          <a:solidFill>
                            <a:schemeClr val="accent1"/>
                          </a:solidFill>
                          <a:uFill>
                            <a:noFill/>
                          </a:uFill>
                          <a:latin typeface="Archivo"/>
                          <a:ea typeface="Archivo"/>
                          <a:cs typeface="Archivo"/>
                          <a:sym typeface="Archivo"/>
                        </a:rPr>
                        <a:t>mm</a:t>
                      </a:r>
                      <a:r>
                        <a:rPr lang="vi-VN" sz="1100" b="1">
                          <a:solidFill>
                            <a:schemeClr val="accent1"/>
                          </a:solidFill>
                          <a:uFill>
                            <a:noFill/>
                          </a:uFill>
                          <a:latin typeface="Archivo"/>
                          <a:ea typeface="Archivo"/>
                          <a:cs typeface="Archivo"/>
                          <a:sym typeface="Archivo"/>
                        </a:rPr>
                        <a:t>)</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rtl="0">
                        <a:lnSpc>
                          <a:spcPct val="100000"/>
                        </a:lnSpc>
                        <a:spcBef>
                          <a:spcPts val="0"/>
                        </a:spcBef>
                        <a:spcAft>
                          <a:spcPts val="1600"/>
                        </a:spcAft>
                        <a:buNone/>
                      </a:pPr>
                      <a:r>
                        <a:rPr lang="en-US" sz="1000"/>
                        <a:t>Total amount of rainfall measured in millimeters during each hour.</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vi-VN" sz="1100" b="1">
                          <a:solidFill>
                            <a:schemeClr val="accent1"/>
                          </a:solidFill>
                          <a:uFill>
                            <a:noFill/>
                          </a:uFill>
                          <a:latin typeface="Archivo"/>
                          <a:ea typeface="Archivo"/>
                          <a:cs typeface="Archivo"/>
                          <a:sym typeface="Archivo"/>
                        </a:rPr>
                        <a:t>temperature_2m_(°C)</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Air temperature measured at 2 meters above the ground (°C).</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vi-VN" sz="1100" b="1">
                          <a:solidFill>
                            <a:schemeClr val="accent1"/>
                          </a:solidFill>
                          <a:uFill>
                            <a:noFill/>
                          </a:uFill>
                          <a:latin typeface="Archivo"/>
                          <a:ea typeface="Archivo"/>
                          <a:cs typeface="Archivo"/>
                          <a:sym typeface="Archivo"/>
                        </a:rPr>
                        <a:t>relative_humidity_2m_(%)</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Relative humidity (%) at 2 meters above the ground.</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vi-VN" sz="1100" b="1" err="1">
                          <a:solidFill>
                            <a:schemeClr val="accent1"/>
                          </a:solidFill>
                          <a:uFill>
                            <a:noFill/>
                          </a:uFill>
                          <a:latin typeface="Archivo"/>
                          <a:ea typeface="Archivo"/>
                          <a:cs typeface="Archivo"/>
                          <a:sym typeface="Archivo"/>
                        </a:rPr>
                        <a:t>cloud_cover</a:t>
                      </a:r>
                      <a:r>
                        <a:rPr lang="vi-VN" sz="1100" b="1">
                          <a:solidFill>
                            <a:schemeClr val="accent1"/>
                          </a:solidFill>
                          <a:uFill>
                            <a:noFill/>
                          </a:uFill>
                          <a:latin typeface="Archivo"/>
                          <a:ea typeface="Archivo"/>
                          <a:cs typeface="Archivo"/>
                          <a:sym typeface="Archivo"/>
                        </a:rPr>
                        <a:t>_(%)</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Percentage of the sky covered by clouds (%).</a:t>
                      </a:r>
                      <a:endParaRPr lang="vi-VN" sz="100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827089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8F5D1617-F914-EAE7-A979-5E06782D39FA}"/>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75CD16B0-F1C0-908C-DD6E-479AB7445B99}"/>
              </a:ext>
            </a:extLst>
          </p:cNvPr>
          <p:cNvSpPr>
            <a:spLocks noGrp="1"/>
          </p:cNvSpPr>
          <p:nvPr>
            <p:ph type="title"/>
          </p:nvPr>
        </p:nvSpPr>
        <p:spPr>
          <a:xfrm>
            <a:off x="713225" y="445025"/>
            <a:ext cx="7717500" cy="572700"/>
          </a:xfrm>
        </p:spPr>
        <p:txBody>
          <a:bodyPr/>
          <a:lstStyle/>
          <a:p>
            <a:pPr algn="ctr"/>
            <a:r>
              <a:rPr lang="en" sz="4000"/>
              <a:t>Feature engineering</a:t>
            </a:r>
            <a:endParaRPr lang="en-US" sz="4000"/>
          </a:p>
        </p:txBody>
      </p:sp>
      <p:sp>
        <p:nvSpPr>
          <p:cNvPr id="11" name="Chỗ dành sẵn cho Nội dung 13">
            <a:extLst>
              <a:ext uri="{FF2B5EF4-FFF2-40B4-BE49-F238E27FC236}">
                <a16:creationId xmlns:a16="http://schemas.microsoft.com/office/drawing/2014/main" id="{122EA74A-202A-B1C6-3C7C-2A036C55D5EA}"/>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endParaRPr lang="en-US"/>
          </a:p>
        </p:txBody>
      </p:sp>
      <p:pic>
        <p:nvPicPr>
          <p:cNvPr id="3" name="Hình ảnh 2" descr="Ảnh có chứa văn bản, hàng, Sơ đồ, ảnh chụp màn hình&#10;&#10;Nội dung do AI tạo ra có thể không chính xác.">
            <a:extLst>
              <a:ext uri="{FF2B5EF4-FFF2-40B4-BE49-F238E27FC236}">
                <a16:creationId xmlns:a16="http://schemas.microsoft.com/office/drawing/2014/main" id="{B469A717-BCA9-A517-71C1-6F46DB7A2487}"/>
              </a:ext>
            </a:extLst>
          </p:cNvPr>
          <p:cNvPicPr>
            <a:picLocks noChangeAspect="1"/>
          </p:cNvPicPr>
          <p:nvPr/>
        </p:nvPicPr>
        <p:blipFill>
          <a:blip r:embed="rId3"/>
          <a:stretch>
            <a:fillRect/>
          </a:stretch>
        </p:blipFill>
        <p:spPr>
          <a:xfrm>
            <a:off x="1200150" y="1193393"/>
            <a:ext cx="6743700" cy="2756714"/>
          </a:xfrm>
          <a:prstGeom prst="rect">
            <a:avLst/>
          </a:prstGeom>
        </p:spPr>
      </p:pic>
    </p:spTree>
    <p:extLst>
      <p:ext uri="{BB962C8B-B14F-4D97-AF65-F5344CB8AC3E}">
        <p14:creationId xmlns:p14="http://schemas.microsoft.com/office/powerpoint/2010/main" val="317064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F12F3360-EAD0-0429-854B-D8FE48504BEC}"/>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D4CD9B45-BBC9-2637-4836-B24A226C71B0}"/>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weather data</a:t>
            </a:r>
            <a:endParaRPr/>
          </a:p>
        </p:txBody>
      </p:sp>
      <p:graphicFrame>
        <p:nvGraphicFramePr>
          <p:cNvPr id="708" name="Google Shape;708;p38">
            <a:extLst>
              <a:ext uri="{FF2B5EF4-FFF2-40B4-BE49-F238E27FC236}">
                <a16:creationId xmlns:a16="http://schemas.microsoft.com/office/drawing/2014/main" id="{181406DB-7A29-9B8B-76BD-A8E7120900CE}"/>
              </a:ext>
            </a:extLst>
          </p:cNvPr>
          <p:cNvGraphicFramePr/>
          <p:nvPr>
            <p:extLst>
              <p:ext uri="{D42A27DB-BD31-4B8C-83A1-F6EECF244321}">
                <p14:modId xmlns:p14="http://schemas.microsoft.com/office/powerpoint/2010/main" val="256186788"/>
              </p:ext>
            </p:extLst>
          </p:nvPr>
        </p:nvGraphicFramePr>
        <p:xfrm>
          <a:off x="720000" y="1767225"/>
          <a:ext cx="7704000" cy="214874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100" b="1">
                          <a:solidFill>
                            <a:schemeClr val="accent1"/>
                          </a:solidFill>
                          <a:uFill>
                            <a:noFill/>
                          </a:uFill>
                          <a:latin typeface="Archivo"/>
                          <a:ea typeface="Archivo"/>
                          <a:cs typeface="Archivo"/>
                          <a:sym typeface="Archivo"/>
                        </a:rPr>
                        <a:t>Time</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Date and time, representing the timestamp of each recorded observation.</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vi-VN" sz="1100" b="1" err="1">
                          <a:solidFill>
                            <a:schemeClr val="accent1"/>
                          </a:solidFill>
                          <a:uFill>
                            <a:noFill/>
                          </a:uFill>
                          <a:latin typeface="Archivo"/>
                          <a:ea typeface="Archivo"/>
                          <a:cs typeface="Archivo"/>
                          <a:sym typeface="Archivo"/>
                        </a:rPr>
                        <a:t>precipitation</a:t>
                      </a:r>
                      <a:r>
                        <a:rPr lang="vi-VN" sz="1100" b="1">
                          <a:solidFill>
                            <a:schemeClr val="accent1"/>
                          </a:solidFill>
                          <a:uFill>
                            <a:noFill/>
                          </a:uFill>
                          <a:latin typeface="Archivo"/>
                          <a:ea typeface="Archivo"/>
                          <a:cs typeface="Archivo"/>
                          <a:sym typeface="Archivo"/>
                        </a:rPr>
                        <a:t>_(</a:t>
                      </a:r>
                      <a:r>
                        <a:rPr lang="vi-VN" sz="1100" b="1" err="1">
                          <a:solidFill>
                            <a:schemeClr val="accent1"/>
                          </a:solidFill>
                          <a:uFill>
                            <a:noFill/>
                          </a:uFill>
                          <a:latin typeface="Archivo"/>
                          <a:ea typeface="Archivo"/>
                          <a:cs typeface="Archivo"/>
                          <a:sym typeface="Archivo"/>
                        </a:rPr>
                        <a:t>mm</a:t>
                      </a:r>
                      <a:r>
                        <a:rPr lang="vi-VN" sz="1100" b="1">
                          <a:solidFill>
                            <a:schemeClr val="accent1"/>
                          </a:solidFill>
                          <a:uFill>
                            <a:noFill/>
                          </a:uFill>
                          <a:latin typeface="Archivo"/>
                          <a:ea typeface="Archivo"/>
                          <a:cs typeface="Archivo"/>
                          <a:sym typeface="Archivo"/>
                        </a:rPr>
                        <a:t>)</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rtl="0">
                        <a:lnSpc>
                          <a:spcPct val="100000"/>
                        </a:lnSpc>
                        <a:spcBef>
                          <a:spcPts val="0"/>
                        </a:spcBef>
                        <a:spcAft>
                          <a:spcPts val="1600"/>
                        </a:spcAft>
                        <a:buNone/>
                      </a:pPr>
                      <a:r>
                        <a:rPr lang="en-US" sz="1000"/>
                        <a:t>Total amount of rainfall measured in millimeters during each hour.</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vi-VN" sz="1100" b="1">
                          <a:solidFill>
                            <a:schemeClr val="accent1"/>
                          </a:solidFill>
                          <a:uFill>
                            <a:noFill/>
                          </a:uFill>
                          <a:latin typeface="Archivo"/>
                          <a:ea typeface="Archivo"/>
                          <a:cs typeface="Archivo"/>
                          <a:sym typeface="Archivo"/>
                        </a:rPr>
                        <a:t>temperature_2m_(°C)</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Air temperature measured at 2 meters above the ground (°C).</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vi-VN" sz="1100" b="1">
                          <a:solidFill>
                            <a:schemeClr val="accent1"/>
                          </a:solidFill>
                          <a:uFill>
                            <a:noFill/>
                          </a:uFill>
                          <a:latin typeface="Archivo"/>
                          <a:ea typeface="Archivo"/>
                          <a:cs typeface="Archivo"/>
                          <a:sym typeface="Archivo"/>
                        </a:rPr>
                        <a:t>relative_humidity_2m_(%)</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t>Relative humidity (%) at 2 meters above the ground.</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vi-VN" sz="1100" b="1" err="1">
                          <a:solidFill>
                            <a:schemeClr val="accent1"/>
                          </a:solidFill>
                          <a:uFill>
                            <a:noFill/>
                          </a:uFill>
                          <a:latin typeface="Archivo"/>
                          <a:ea typeface="Archivo"/>
                          <a:cs typeface="Archivo"/>
                          <a:sym typeface="Archivo"/>
                        </a:rPr>
                        <a:t>cloud_cover</a:t>
                      </a:r>
                      <a:r>
                        <a:rPr lang="vi-VN" sz="1100" b="1">
                          <a:solidFill>
                            <a:schemeClr val="accent1"/>
                          </a:solidFill>
                          <a:uFill>
                            <a:noFill/>
                          </a:uFill>
                          <a:latin typeface="Archivo"/>
                          <a:ea typeface="Archivo"/>
                          <a:cs typeface="Archivo"/>
                          <a:sym typeface="Archivo"/>
                        </a:rPr>
                        <a:t>_(%)</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Percentage of the sky covered by clouds (%).</a:t>
                      </a:r>
                      <a:endParaRPr lang="vi-VN" sz="1000"/>
                    </a:p>
                  </a:txBody>
                  <a:tcPr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vi-VN" sz="1100" b="1">
                          <a:solidFill>
                            <a:srgbClr val="FF0000"/>
                          </a:solidFill>
                          <a:latin typeface="Archivo" panose="020B0604020202020204" charset="0"/>
                          <a:cs typeface="Archivo" panose="020B0604020202020204" charset="0"/>
                        </a:rPr>
                        <a:t>Season</a:t>
                      </a:r>
                      <a:endParaRPr lang="vi-VN" sz="1100" b="1">
                        <a:solidFill>
                          <a:srgbClr val="FF0000"/>
                        </a:solidFill>
                        <a:latin typeface="Archivo" panose="020B0604020202020204" charset="0"/>
                        <a:ea typeface="Archivo"/>
                        <a:cs typeface="Archivo" panose="020B0604020202020204" charset="0"/>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Seasonal classification based on rainfall patterns: </a:t>
                      </a:r>
                      <a:r>
                        <a:rPr lang="en-US" sz="1000" b="1"/>
                        <a:t>Rainy</a:t>
                      </a:r>
                      <a:r>
                        <a:rPr lang="en-US" sz="1000"/>
                        <a:t> (May–October) and </a:t>
                      </a:r>
                      <a:r>
                        <a:rPr lang="en-US" sz="1000" b="1"/>
                        <a:t>Dry</a:t>
                      </a:r>
                      <a:r>
                        <a:rPr lang="en-US" sz="1000"/>
                        <a:t> (November–April).</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3691079700"/>
                  </a:ext>
                </a:extLst>
              </a:tr>
            </a:tbl>
          </a:graphicData>
        </a:graphic>
      </p:graphicFrame>
    </p:spTree>
    <p:extLst>
      <p:ext uri="{BB962C8B-B14F-4D97-AF65-F5344CB8AC3E}">
        <p14:creationId xmlns:p14="http://schemas.microsoft.com/office/powerpoint/2010/main" val="33372323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81FAAB47-A2C9-312D-6555-779A7B7A45D9}"/>
            </a:ext>
          </a:extLst>
        </p:cNvPr>
        <p:cNvGrpSpPr/>
        <p:nvPr/>
      </p:nvGrpSpPr>
      <p:grpSpPr>
        <a:xfrm>
          <a:off x="0" y="0"/>
          <a:ext cx="0" cy="0"/>
          <a:chOff x="0" y="0"/>
          <a:chExt cx="0" cy="0"/>
        </a:xfrm>
      </p:grpSpPr>
      <p:sp>
        <p:nvSpPr>
          <p:cNvPr id="3" name="Chỗ dành sẵn cho Nội dung 13">
            <a:extLst>
              <a:ext uri="{FF2B5EF4-FFF2-40B4-BE49-F238E27FC236}">
                <a16:creationId xmlns:a16="http://schemas.microsoft.com/office/drawing/2014/main" id="{38C996AA-DF0F-A0A4-ADE8-4E26776BB92C}"/>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3FEC3CE3-C688-0CAD-4BE6-03CA9880DB2A}"/>
              </a:ext>
            </a:extLst>
          </p:cNvPr>
          <p:cNvGraphicFramePr/>
          <p:nvPr>
            <p:extLst>
              <p:ext uri="{D42A27DB-BD31-4B8C-83A1-F6EECF244321}">
                <p14:modId xmlns:p14="http://schemas.microsoft.com/office/powerpoint/2010/main" val="2507469406"/>
              </p:ext>
            </p:extLst>
          </p:nvPr>
        </p:nvGraphicFramePr>
        <p:xfrm>
          <a:off x="726725" y="1143495"/>
          <a:ext cx="7704000" cy="254498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dap_tran_norm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spillway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dap_tran_max</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capacity of the spillway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nha_may_norm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turbine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nha_may_max</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through the power plant turbines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862254742"/>
                  </a:ext>
                </a:extLst>
              </a:tr>
            </a:tbl>
          </a:graphicData>
        </a:graphic>
      </p:graphicFrame>
      <p:sp>
        <p:nvSpPr>
          <p:cNvPr id="6" name="Google Shape;707;p38">
            <a:extLst>
              <a:ext uri="{FF2B5EF4-FFF2-40B4-BE49-F238E27FC236}">
                <a16:creationId xmlns:a16="http://schemas.microsoft.com/office/drawing/2014/main" id="{C92DBCC4-6FD4-4E53-42C9-A83E0488A3A5}"/>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sz="2800">
                <a:solidFill>
                  <a:schemeClr val="dk1"/>
                </a:solidFill>
              </a:rPr>
              <a:t>Contents</a:t>
            </a:r>
            <a:r>
              <a:rPr lang="en" sz="2800">
                <a:solidFill>
                  <a:schemeClr val="accent1"/>
                </a:solidFill>
              </a:rPr>
              <a:t> </a:t>
            </a:r>
            <a:r>
              <a:rPr lang="en" sz="2800"/>
              <a:t>of </a:t>
            </a:r>
            <a:r>
              <a:rPr lang="en-US" sz="2800"/>
              <a:t>The Hoa Binh’s Dam data</a:t>
            </a:r>
            <a:endParaRPr sz="2800"/>
          </a:p>
        </p:txBody>
      </p:sp>
    </p:spTree>
    <p:extLst>
      <p:ext uri="{BB962C8B-B14F-4D97-AF65-F5344CB8AC3E}">
        <p14:creationId xmlns:p14="http://schemas.microsoft.com/office/powerpoint/2010/main" val="20475034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7B48B93-2241-2DCE-C7ED-60148E5FEB8F}"/>
            </a:ext>
          </a:extLst>
        </p:cNvPr>
        <p:cNvGrpSpPr/>
        <p:nvPr/>
      </p:nvGrpSpPr>
      <p:grpSpPr>
        <a:xfrm>
          <a:off x="0" y="0"/>
          <a:ext cx="0" cy="0"/>
          <a:chOff x="0" y="0"/>
          <a:chExt cx="0" cy="0"/>
        </a:xfrm>
      </p:grpSpPr>
      <p:sp>
        <p:nvSpPr>
          <p:cNvPr id="3" name="Chỗ dành sẵn cho Nội dung 13">
            <a:extLst>
              <a:ext uri="{FF2B5EF4-FFF2-40B4-BE49-F238E27FC236}">
                <a16:creationId xmlns:a16="http://schemas.microsoft.com/office/drawing/2014/main" id="{E5A79908-F06A-EDFE-97A2-5217D9884510}"/>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9C44B71F-AAFA-7940-B309-9F5DE16D77E4}"/>
              </a:ext>
            </a:extLst>
          </p:cNvPr>
          <p:cNvGraphicFramePr/>
          <p:nvPr>
            <p:extLst>
              <p:ext uri="{D42A27DB-BD31-4B8C-83A1-F6EECF244321}">
                <p14:modId xmlns:p14="http://schemas.microsoft.com/office/powerpoint/2010/main" val="1632563679"/>
              </p:ext>
            </p:extLst>
          </p:nvPr>
        </p:nvGraphicFramePr>
        <p:xfrm>
          <a:off x="726725" y="1143495"/>
          <a:ext cx="7704000" cy="254498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dap_tran_norm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spillway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dap_tran_max</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capacity of the spillway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nha_may_norm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turbine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nha_may_max</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through the power plant turbines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862254742"/>
                  </a:ext>
                </a:extLst>
              </a:tr>
            </a:tbl>
          </a:graphicData>
        </a:graphic>
      </p:graphicFrame>
      <p:sp>
        <p:nvSpPr>
          <p:cNvPr id="6" name="Google Shape;707;p38">
            <a:extLst>
              <a:ext uri="{FF2B5EF4-FFF2-40B4-BE49-F238E27FC236}">
                <a16:creationId xmlns:a16="http://schemas.microsoft.com/office/drawing/2014/main" id="{502E8BE2-1588-9095-A710-246B4048F5B4}"/>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sz="2800">
                <a:solidFill>
                  <a:schemeClr val="dk1"/>
                </a:solidFill>
              </a:rPr>
              <a:t>Contents</a:t>
            </a:r>
            <a:r>
              <a:rPr lang="en" sz="2800">
                <a:solidFill>
                  <a:schemeClr val="accent1"/>
                </a:solidFill>
              </a:rPr>
              <a:t> </a:t>
            </a:r>
            <a:r>
              <a:rPr lang="en" sz="2800"/>
              <a:t>of </a:t>
            </a:r>
            <a:r>
              <a:rPr lang="en-US" sz="2800"/>
              <a:t>The Hoa Binh’s Dam data</a:t>
            </a:r>
            <a:endParaRPr sz="2800"/>
          </a:p>
        </p:txBody>
      </p:sp>
    </p:spTree>
    <p:extLst>
      <p:ext uri="{BB962C8B-B14F-4D97-AF65-F5344CB8AC3E}">
        <p14:creationId xmlns:p14="http://schemas.microsoft.com/office/powerpoint/2010/main" val="17893959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DBB64A3E-6EC6-39BE-954E-FFC5537BF48B}"/>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5DBD6C88-F4DB-0103-7F0C-1DFA15058AAB}"/>
              </a:ext>
            </a:extLst>
          </p:cNvPr>
          <p:cNvSpPr>
            <a:spLocks noGrp="1"/>
          </p:cNvSpPr>
          <p:nvPr>
            <p:ph type="title"/>
          </p:nvPr>
        </p:nvSpPr>
        <p:spPr>
          <a:xfrm>
            <a:off x="713225" y="445025"/>
            <a:ext cx="7717500" cy="572700"/>
          </a:xfrm>
        </p:spPr>
        <p:txBody>
          <a:bodyPr/>
          <a:lstStyle/>
          <a:p>
            <a:pPr algn="ctr"/>
            <a:r>
              <a:rPr lang="en" sz="4000"/>
              <a:t>Feature engineering</a:t>
            </a:r>
            <a:endParaRPr lang="en-US" sz="4000"/>
          </a:p>
        </p:txBody>
      </p:sp>
      <p:sp>
        <p:nvSpPr>
          <p:cNvPr id="11" name="Chỗ dành sẵn cho Nội dung 13">
            <a:hlinkClick r:id="rId3"/>
            <a:extLst>
              <a:ext uri="{FF2B5EF4-FFF2-40B4-BE49-F238E27FC236}">
                <a16:creationId xmlns:a16="http://schemas.microsoft.com/office/drawing/2014/main" id="{1504F6DD-CFA1-04A1-1415-315C539CEE32}"/>
              </a:ext>
            </a:extLst>
          </p:cNvPr>
          <p:cNvSpPr txBox="1">
            <a:spLocks/>
          </p:cNvSpPr>
          <p:nvPr/>
        </p:nvSpPr>
        <p:spPr>
          <a:xfrm>
            <a:off x="457200" y="1493386"/>
            <a:ext cx="8229600" cy="26325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r>
              <a:rPr lang="en-US" sz="1800"/>
              <a:t>The Red River Basin Inter-Reservoir Process stipulates 3 flood season phases:</a:t>
            </a:r>
          </a:p>
          <a:p>
            <a:pPr marL="400050" indent="-285750" algn="just">
              <a:buFont typeface="Arial" panose="020B0604020202020204" pitchFamily="34" charset="0"/>
              <a:buChar char="•"/>
            </a:pPr>
            <a:r>
              <a:rPr lang="en-US" sz="1800" b="1"/>
              <a:t>Early flood </a:t>
            </a:r>
            <a:r>
              <a:rPr lang="en-US" sz="1800"/>
              <a:t>(June 15–July 19): highest water level before flood ~ 105.0 m</a:t>
            </a:r>
          </a:p>
          <a:p>
            <a:pPr marL="400050" indent="-285750" algn="just">
              <a:buFont typeface="Arial" panose="020B0604020202020204" pitchFamily="34" charset="0"/>
              <a:buChar char="•"/>
            </a:pPr>
            <a:r>
              <a:rPr lang="en-US" sz="1800" b="1"/>
              <a:t>Main flood </a:t>
            </a:r>
            <a:r>
              <a:rPr lang="en-US" sz="1800"/>
              <a:t>(July 20–August 21): reduced to 101.0 m</a:t>
            </a:r>
          </a:p>
          <a:p>
            <a:pPr marL="400050" indent="-285750" algn="just">
              <a:buFont typeface="Arial" panose="020B0604020202020204" pitchFamily="34" charset="0"/>
              <a:buChar char="•"/>
            </a:pPr>
            <a:r>
              <a:rPr lang="en-US" sz="1800" b="1"/>
              <a:t>Late flood </a:t>
            </a:r>
            <a:r>
              <a:rPr lang="en-US" sz="1800"/>
              <a:t>(August 22–September 15): after September 16, water is allowed to gradually accumulate to 117 m → The reservoir is forced to lower from June–August to receive the flood → Flow distribution is significantly lower in these months.</a:t>
            </a:r>
          </a:p>
          <a:p>
            <a:pPr marL="400050" indent="-285750" algn="just">
              <a:buFont typeface="Arial" panose="020B0604020202020204" pitchFamily="34" charset="0"/>
              <a:buChar char="•"/>
            </a:pPr>
            <a:r>
              <a:rPr lang="en-US" sz="1800" b="1"/>
              <a:t>Before June 26</a:t>
            </a:r>
            <a:r>
              <a:rPr lang="en-US" sz="1800"/>
              <a:t>: regulations on cutting off minor floods, the reservoir uses a capacity of up to 107 m to cut off early-season floods. → May–June may peak and then decrease rapidly.</a:t>
            </a:r>
          </a:p>
        </p:txBody>
      </p:sp>
      <p:sp>
        <p:nvSpPr>
          <p:cNvPr id="3" name="TextBox 2">
            <a:extLst>
              <a:ext uri="{FF2B5EF4-FFF2-40B4-BE49-F238E27FC236}">
                <a16:creationId xmlns:a16="http://schemas.microsoft.com/office/drawing/2014/main" id="{3BF5A842-2656-2D21-7D99-D6662EFE28D5}"/>
              </a:ext>
            </a:extLst>
          </p:cNvPr>
          <p:cNvSpPr txBox="1"/>
          <p:nvPr/>
        </p:nvSpPr>
        <p:spPr>
          <a:xfrm>
            <a:off x="1595739" y="4386168"/>
            <a:ext cx="6254719" cy="215444"/>
          </a:xfrm>
          <a:prstGeom prst="rect">
            <a:avLst/>
          </a:prstGeom>
          <a:noFill/>
        </p:spPr>
        <p:txBody>
          <a:bodyPr wrap="square" rtlCol="0">
            <a:spAutoFit/>
          </a:bodyPr>
          <a:lstStyle/>
          <a:p>
            <a:r>
              <a:rPr lang="en-US" sz="800">
                <a:solidFill>
                  <a:schemeClr val="accent1"/>
                </a:solidFill>
                <a:hlinkClick r:id="rId3">
                  <a:extLst>
                    <a:ext uri="{A12FA001-AC4F-418D-AE19-62706E023703}">
                      <ahyp:hlinkClr xmlns:ahyp="http://schemas.microsoft.com/office/drawing/2018/hyperlinkcolor" val="tx"/>
                    </a:ext>
                  </a:extLst>
                </a:hlinkClick>
              </a:rPr>
              <a:t>https://luatvietnam.vn/tai-nguyen/quyet-dinh-740-qd-ttg-2019-van-hanh-lien-ho-chua-tren-luu-vuc-song-hong-174744-d1.html</a:t>
            </a:r>
            <a:r>
              <a:rPr lang="en-US" sz="800">
                <a:solidFill>
                  <a:schemeClr val="accent1"/>
                </a:solidFill>
              </a:rPr>
              <a:t> </a:t>
            </a:r>
          </a:p>
        </p:txBody>
      </p:sp>
    </p:spTree>
    <p:extLst>
      <p:ext uri="{BB962C8B-B14F-4D97-AF65-F5344CB8AC3E}">
        <p14:creationId xmlns:p14="http://schemas.microsoft.com/office/powerpoint/2010/main" val="39411357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683504ED-DA97-A741-B0E6-340020EBA1F9}"/>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4369DED3-0A11-F0F8-F64E-6AC7277AE06E}"/>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Hoa Binh’s Dam data</a:t>
            </a:r>
            <a:endParaRPr/>
          </a:p>
        </p:txBody>
      </p:sp>
      <p:graphicFrame>
        <p:nvGraphicFramePr>
          <p:cNvPr id="708" name="Google Shape;708;p38">
            <a:extLst>
              <a:ext uri="{FF2B5EF4-FFF2-40B4-BE49-F238E27FC236}">
                <a16:creationId xmlns:a16="http://schemas.microsoft.com/office/drawing/2014/main" id="{EAE42F2E-EC59-6084-D641-E6FE03C7AA07}"/>
              </a:ext>
            </a:extLst>
          </p:cNvPr>
          <p:cNvGraphicFramePr/>
          <p:nvPr>
            <p:extLst>
              <p:ext uri="{D42A27DB-BD31-4B8C-83A1-F6EECF244321}">
                <p14:modId xmlns:p14="http://schemas.microsoft.com/office/powerpoint/2010/main" val="2386792205"/>
              </p:ext>
            </p:extLst>
          </p:nvPr>
        </p:nvGraphicFramePr>
        <p:xfrm>
          <a:off x="726725" y="1143495"/>
          <a:ext cx="7704000" cy="245350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Total water released through all outlets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tong_luong_xa_qua_dap_tran_m3_s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release; does not generate electricity</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tong_luong_xa_qua_nha_may_m3_s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Used for electricity generation</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a:solidFill>
                            <a:srgbClr val="FF0000"/>
                          </a:solidFill>
                          <a:latin typeface="Archivo"/>
                          <a:ea typeface="Archivo"/>
                          <a:cs typeface="Archivo"/>
                          <a:sym typeface="Archivo"/>
                        </a:rPr>
                        <a:t>phase</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season stages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58611442"/>
                  </a:ext>
                </a:extLst>
              </a:tr>
            </a:tbl>
          </a:graphicData>
        </a:graphic>
      </p:graphicFrame>
    </p:spTree>
    <p:extLst>
      <p:ext uri="{BB962C8B-B14F-4D97-AF65-F5344CB8AC3E}">
        <p14:creationId xmlns:p14="http://schemas.microsoft.com/office/powerpoint/2010/main" val="28761193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CA7A15EB-E4FB-5B05-598D-8C6614D5DCCD}"/>
            </a:ext>
          </a:extLst>
        </p:cNvPr>
        <p:cNvGrpSpPr/>
        <p:nvPr/>
      </p:nvGrpSpPr>
      <p:grpSpPr>
        <a:xfrm>
          <a:off x="0" y="0"/>
          <a:ext cx="0" cy="0"/>
          <a:chOff x="0" y="0"/>
          <a:chExt cx="0" cy="0"/>
        </a:xfrm>
      </p:grpSpPr>
      <p:sp>
        <p:nvSpPr>
          <p:cNvPr id="3" name="Chỗ dành sẵn cho Nội dung 13">
            <a:extLst>
              <a:ext uri="{FF2B5EF4-FFF2-40B4-BE49-F238E27FC236}">
                <a16:creationId xmlns:a16="http://schemas.microsoft.com/office/drawing/2014/main" id="{02800366-FFCF-0C3B-F455-2AF61FEB8F10}"/>
              </a:ext>
            </a:extLst>
          </p:cNvPr>
          <p:cNvSpPr txBox="1">
            <a:spLocks/>
          </p:cNvSpPr>
          <p:nvPr/>
        </p:nvSpPr>
        <p:spPr>
          <a:xfrm>
            <a:off x="457200" y="1478123"/>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algn="just">
              <a:buFont typeface="Arial" panose="020B0604020202020204" pitchFamily="34" charset="0"/>
              <a:buChar char="•"/>
            </a:pPr>
            <a:endParaRPr lang="en-US"/>
          </a:p>
        </p:txBody>
      </p:sp>
      <p:graphicFrame>
        <p:nvGraphicFramePr>
          <p:cNvPr id="4" name="Google Shape;708;p38">
            <a:extLst>
              <a:ext uri="{FF2B5EF4-FFF2-40B4-BE49-F238E27FC236}">
                <a16:creationId xmlns:a16="http://schemas.microsoft.com/office/drawing/2014/main" id="{B35FAAC7-9F0E-5A51-17EA-66698F43B2A0}"/>
              </a:ext>
            </a:extLst>
          </p:cNvPr>
          <p:cNvGraphicFramePr/>
          <p:nvPr>
            <p:extLst>
              <p:ext uri="{D42A27DB-BD31-4B8C-83A1-F6EECF244321}">
                <p14:modId xmlns:p14="http://schemas.microsoft.com/office/powerpoint/2010/main" val="1524709262"/>
              </p:ext>
            </p:extLst>
          </p:nvPr>
        </p:nvGraphicFramePr>
        <p:xfrm>
          <a:off x="726725" y="1143495"/>
          <a:ext cx="7704000" cy="254498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chemeClr val="accent1"/>
                          </a:solidFill>
                          <a:latin typeface="Archivo"/>
                          <a:ea typeface="Archivo"/>
                          <a:cs typeface="Archivo"/>
                          <a:sym typeface="Archivo"/>
                        </a:rPr>
                        <a:t>luu_luong_den_ho_m3_s</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00">
                        <a:alpha val="46260"/>
                      </a:srgbClr>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dap_tran_norm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spillway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dap_tran_max</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capacity of the spillway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nha_may_norm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turbine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nha_may_max</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through the power plant turbines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862254742"/>
                  </a:ext>
                </a:extLst>
              </a:tr>
            </a:tbl>
          </a:graphicData>
        </a:graphic>
      </p:graphicFrame>
      <p:sp>
        <p:nvSpPr>
          <p:cNvPr id="6" name="Google Shape;707;p38">
            <a:extLst>
              <a:ext uri="{FF2B5EF4-FFF2-40B4-BE49-F238E27FC236}">
                <a16:creationId xmlns:a16="http://schemas.microsoft.com/office/drawing/2014/main" id="{D789C253-AB73-508C-414D-211474E43CCA}"/>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sz="2800">
                <a:solidFill>
                  <a:schemeClr val="dk1"/>
                </a:solidFill>
              </a:rPr>
              <a:t>Contents</a:t>
            </a:r>
            <a:r>
              <a:rPr lang="en" sz="2800">
                <a:solidFill>
                  <a:schemeClr val="accent1"/>
                </a:solidFill>
              </a:rPr>
              <a:t> </a:t>
            </a:r>
            <a:r>
              <a:rPr lang="en" sz="2800"/>
              <a:t>of </a:t>
            </a:r>
            <a:r>
              <a:rPr lang="en-US" sz="2800"/>
              <a:t>The Hoa Binh’s Dam data</a:t>
            </a:r>
            <a:endParaRPr sz="2800"/>
          </a:p>
        </p:txBody>
      </p:sp>
    </p:spTree>
    <p:extLst>
      <p:ext uri="{BB962C8B-B14F-4D97-AF65-F5344CB8AC3E}">
        <p14:creationId xmlns:p14="http://schemas.microsoft.com/office/powerpoint/2010/main" val="33628196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F044B48F-2AE1-CFD0-619B-F2DC58664AF0}"/>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2B503B5D-943A-3A4E-E9FE-1437F6C69722}"/>
              </a:ext>
            </a:extLst>
          </p:cNvPr>
          <p:cNvSpPr>
            <a:spLocks noGrp="1"/>
          </p:cNvSpPr>
          <p:nvPr>
            <p:ph type="title"/>
          </p:nvPr>
        </p:nvSpPr>
        <p:spPr>
          <a:xfrm>
            <a:off x="713225" y="445025"/>
            <a:ext cx="7717500" cy="572700"/>
          </a:xfrm>
        </p:spPr>
        <p:txBody>
          <a:bodyPr/>
          <a:lstStyle/>
          <a:p>
            <a:pPr algn="ctr"/>
            <a:r>
              <a:rPr lang="en" sz="4000"/>
              <a:t>Feature engineering</a:t>
            </a:r>
            <a:endParaRPr lang="en-US" sz="4000"/>
          </a:p>
        </p:txBody>
      </p:sp>
      <p:sp>
        <p:nvSpPr>
          <p:cNvPr id="11" name="Chỗ dành sẵn cho Nội dung 13">
            <a:extLst>
              <a:ext uri="{FF2B5EF4-FFF2-40B4-BE49-F238E27FC236}">
                <a16:creationId xmlns:a16="http://schemas.microsoft.com/office/drawing/2014/main" id="{84E5297A-8A23-66EC-F31E-5BD471818796}"/>
              </a:ext>
            </a:extLst>
          </p:cNvPr>
          <p:cNvSpPr txBox="1">
            <a:spLocks/>
          </p:cNvSpPr>
          <p:nvPr/>
        </p:nvSpPr>
        <p:spPr>
          <a:xfrm>
            <a:off x="457200" y="1493387"/>
            <a:ext cx="8229600" cy="1385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r>
              <a:rPr lang="en-US"/>
              <a:t>Detecting “Event month”:</a:t>
            </a:r>
          </a:p>
          <a:p>
            <a:pPr algn="just">
              <a:buFont typeface="Arial" panose="020B0604020202020204" pitchFamily="34" charset="0"/>
              <a:buChar char="•"/>
            </a:pPr>
            <a:r>
              <a:rPr lang="en-US"/>
              <a:t>With the aim of identifying months with extreme or unusual volatility, to </a:t>
            </a:r>
            <a:r>
              <a:rPr lang="en-US" b="1"/>
              <a:t>loosen the capping margin</a:t>
            </a:r>
            <a:r>
              <a:rPr lang="en-US"/>
              <a:t> (not cutting off valid peaks).</a:t>
            </a:r>
          </a:p>
        </p:txBody>
      </p:sp>
    </p:spTree>
    <p:extLst>
      <p:ext uri="{BB962C8B-B14F-4D97-AF65-F5344CB8AC3E}">
        <p14:creationId xmlns:p14="http://schemas.microsoft.com/office/powerpoint/2010/main" val="22039690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129D846E-05C8-FDBB-065A-8C133F9EAF72}"/>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AAC6FB74-6A7C-D2D5-790B-BC4C395DC934}"/>
              </a:ext>
            </a:extLst>
          </p:cNvPr>
          <p:cNvSpPr>
            <a:spLocks noGrp="1"/>
          </p:cNvSpPr>
          <p:nvPr>
            <p:ph type="title"/>
          </p:nvPr>
        </p:nvSpPr>
        <p:spPr>
          <a:xfrm>
            <a:off x="713225" y="445025"/>
            <a:ext cx="7717500" cy="572700"/>
          </a:xfrm>
        </p:spPr>
        <p:txBody>
          <a:bodyPr/>
          <a:lstStyle/>
          <a:p>
            <a:pPr algn="ctr"/>
            <a:r>
              <a:rPr lang="en" sz="4000"/>
              <a:t>Feature engineering</a:t>
            </a:r>
            <a:endParaRPr lang="en-US" sz="4000"/>
          </a:p>
        </p:txBody>
      </p:sp>
      <mc:AlternateContent xmlns:mc="http://schemas.openxmlformats.org/markup-compatibility/2006" xmlns:a14="http://schemas.microsoft.com/office/drawing/2010/main">
        <mc:Choice Requires="a14">
          <p:sp>
            <p:nvSpPr>
              <p:cNvPr id="3" name="Chỗ dành sẵn cho Nội dung 13">
                <a:extLst>
                  <a:ext uri="{FF2B5EF4-FFF2-40B4-BE49-F238E27FC236}">
                    <a16:creationId xmlns:a16="http://schemas.microsoft.com/office/drawing/2014/main" id="{799A3B0B-ACB7-FB5A-1C8C-942F38E1A65B}"/>
                  </a:ext>
                </a:extLst>
              </p:cNvPr>
              <p:cNvSpPr txBox="1">
                <a:spLocks/>
              </p:cNvSpPr>
              <p:nvPr/>
            </p:nvSpPr>
            <p:spPr>
              <a:xfrm>
                <a:off x="457200" y="1493386"/>
                <a:ext cx="8229600" cy="23872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Archivo"/>
                  <a:buNone/>
                  <a:defRPr sz="2000" b="0" i="0" u="none" strike="noStrike" cap="none">
                    <a:solidFill>
                      <a:schemeClr val="dk1"/>
                    </a:solidFill>
                    <a:latin typeface="Archivo Light"/>
                    <a:ea typeface="Archivo Light"/>
                    <a:cs typeface="Archivo Light"/>
                    <a:sym typeface="Archivo Light"/>
                  </a:defRPr>
                </a:lvl1pPr>
                <a:lvl2pPr marL="914400" marR="0" lvl="1"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2pPr>
                <a:lvl3pPr marL="1371600" marR="0" lvl="2"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3pPr>
                <a:lvl4pPr marL="1828800" marR="0" lvl="3"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4pPr>
                <a:lvl5pPr marL="2286000" marR="0" lvl="4"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5pPr>
                <a:lvl6pPr marL="2743200" marR="0" lvl="5"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6pPr>
                <a:lvl7pPr marL="3200400" marR="0" lvl="6"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7pPr>
                <a:lvl8pPr marL="3657600" marR="0" lvl="7"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8pPr>
                <a:lvl9pPr marL="4114800" marR="0" lvl="8" indent="-317500" algn="ctr" rtl="0">
                  <a:lnSpc>
                    <a:spcPct val="100000"/>
                  </a:lnSpc>
                  <a:spcBef>
                    <a:spcPts val="0"/>
                  </a:spcBef>
                  <a:spcAft>
                    <a:spcPts val="0"/>
                  </a:spcAft>
                  <a:buClr>
                    <a:schemeClr val="dk1"/>
                  </a:buClr>
                  <a:buSzPts val="1400"/>
                  <a:buFont typeface="Archivo Light"/>
                  <a:buNone/>
                  <a:defRPr sz="1400" b="0" i="0" u="none" strike="noStrike" cap="none">
                    <a:solidFill>
                      <a:schemeClr val="dk1"/>
                    </a:solidFill>
                    <a:latin typeface="Archivo Light"/>
                    <a:ea typeface="Archivo Light"/>
                    <a:cs typeface="Archivo Light"/>
                    <a:sym typeface="Archivo Light"/>
                  </a:defRPr>
                </a:lvl9pPr>
              </a:lstStyle>
              <a:p>
                <a:pPr marL="114300" indent="0" algn="just"/>
                <a:r>
                  <a:rPr lang="en-US"/>
                  <a:t>Detecting “Event month”:</a:t>
                </a:r>
              </a:p>
              <a:p>
                <a:pPr algn="just">
                  <a:buFont typeface="Arial" panose="020B0604020202020204" pitchFamily="34" charset="0"/>
                  <a:buChar char="•"/>
                </a:pPr>
                <a14:m>
                  <m:oMath xmlns:m="http://schemas.openxmlformats.org/officeDocument/2006/math">
                    <m:r>
                      <a:rPr lang="en-US" b="1" i="0" dirty="0" smtClean="0">
                        <a:latin typeface="Cambria Math" panose="02040503050406030204" pitchFamily="18" charset="0"/>
                      </a:rPr>
                      <m:t>𝚫</m:t>
                    </m:r>
                    <m:r>
                      <a:rPr lang="en-US" b="1" i="1" dirty="0">
                        <a:latin typeface="Cambria Math" panose="02040503050406030204" pitchFamily="18" charset="0"/>
                      </a:rPr>
                      <m:t>% </m:t>
                    </m:r>
                  </m:oMath>
                </a14:m>
                <a:r>
                  <a:rPr lang="en-US" b="1"/>
                  <a:t>month-over-month</a:t>
                </a:r>
                <a:r>
                  <a:rPr lang="en-US"/>
                  <a:t> in each year: large → strong volatility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150%</m:t>
                    </m:r>
                  </m:oMath>
                </a14:m>
                <a:r>
                  <a:rPr lang="en-US"/>
                  <a:t>).</a:t>
                </a:r>
              </a:p>
              <a:p>
                <a:pPr algn="just">
                  <a:buFont typeface="Arial" panose="020B0604020202020204" pitchFamily="34" charset="0"/>
                  <a:buChar char="•"/>
                </a:pPr>
                <a:r>
                  <a:rPr lang="en-US" b="1"/>
                  <a:t>Climate deviation </a:t>
                </a:r>
                <a:r>
                  <a:rPr lang="en-US"/>
                  <a:t>(</a:t>
                </a:r>
                <a14:m>
                  <m:oMath xmlns:m="http://schemas.openxmlformats.org/officeDocument/2006/math">
                    <m:r>
                      <a:rPr lang="en-US" i="1" dirty="0" smtClean="0">
                        <a:solidFill>
                          <a:srgbClr val="FF0000"/>
                        </a:solidFill>
                        <a:latin typeface="Cambria Math" panose="02040503050406030204" pitchFamily="18" charset="0"/>
                        <a:ea typeface="Cambria Math" panose="02040503050406030204" pitchFamily="18" charset="0"/>
                      </a:rPr>
                      <m:t>≥</m:t>
                    </m:r>
                    <m:r>
                      <a:rPr lang="en-US" b="0" i="1" dirty="0" smtClean="0">
                        <a:solidFill>
                          <a:srgbClr val="FF0000"/>
                        </a:solidFill>
                        <a:latin typeface="Cambria Math" panose="02040503050406030204" pitchFamily="18" charset="0"/>
                        <a:ea typeface="Cambria Math" panose="02040503050406030204" pitchFamily="18" charset="0"/>
                      </a:rPr>
                      <m:t>1.5</m:t>
                    </m:r>
                  </m:oMath>
                </a14:m>
                <a:r>
                  <a:rPr lang="en-US"/>
                  <a:t>):</a:t>
                </a:r>
              </a:p>
              <a:p>
                <a:pPr marL="114300" indent="0" algn="just"/>
                <a14:m>
                  <m:oMathPara xmlns:m="http://schemas.openxmlformats.org/officeDocument/2006/math">
                    <m:oMathParaPr>
                      <m:jc m:val="centerGroup"/>
                    </m:oMathParaPr>
                    <m:oMath xmlns:m="http://schemas.openxmlformats.org/officeDocument/2006/math">
                      <m:r>
                        <m:rPr>
                          <m:nor/>
                        </m:rPr>
                        <a:rPr lang="en-US"/>
                        <m:t>anom</m:t>
                      </m:r>
                      <m:r>
                        <m:rPr>
                          <m:nor/>
                        </m:rPr>
                        <a:rPr lang="en-US"/>
                        <m:t>_</m:t>
                      </m:r>
                      <m:r>
                        <m:rPr>
                          <m:nor/>
                        </m:rPr>
                        <a:rPr lang="en-US"/>
                        <m:t>iqr</m:t>
                      </m:r>
                      <m:r>
                        <m:rPr>
                          <m:nor/>
                        </m:rPr>
                        <a:rPr lang="en-US"/>
                        <m:t>_</m:t>
                      </m:r>
                      <m:r>
                        <m:rPr>
                          <m:nor/>
                        </m:rPr>
                        <a:rPr lang="en-US"/>
                        <m:t>units</m:t>
                      </m:r>
                      <m:r>
                        <m:rPr>
                          <m:nor/>
                        </m:rPr>
                        <a:rPr lang="en-US" b="0" i="0" smtClean="0"/>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i="1">
                                  <a:latin typeface="Cambria Math" panose="02040503050406030204" pitchFamily="18" charset="0"/>
                                </a:rPr>
                                <m:t>𝑚𝑒𝑑𝑖𝑎𝑛</m:t>
                              </m:r>
                            </m:e>
                            <m:sub>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𝑚</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𝑚𝑒𝑑𝑖𝑎𝑛</m:t>
                              </m:r>
                            </m:e>
                            <m:sub>
                              <m:r>
                                <a:rPr lang="en-US" b="0" i="1" smtClean="0">
                                  <a:latin typeface="Cambria Math" panose="02040503050406030204" pitchFamily="18" charset="0"/>
                                </a:rPr>
                                <m:t>𝑐𝑙𝑖𝑚𝑎𝑡𝑜𝑙𝑜𝑔𝑦</m:t>
                              </m:r>
                              <m:r>
                                <a:rPr lang="en-US" b="0" i="1" smtClean="0">
                                  <a:latin typeface="Cambria Math" panose="02040503050406030204" pitchFamily="18" charset="0"/>
                                </a:rPr>
                                <m:t>_</m:t>
                              </m:r>
                              <m:r>
                                <a:rPr lang="en-US" b="0" i="1" smtClean="0">
                                  <a:latin typeface="Cambria Math" panose="02040503050406030204" pitchFamily="18" charset="0"/>
                                </a:rPr>
                                <m:t>𝑚𝑜𝑛𝑡h</m:t>
                              </m:r>
                            </m:sub>
                          </m:sSub>
                        </m:num>
                        <m:den>
                          <m:sSub>
                            <m:sSubPr>
                              <m:ctrlPr>
                                <a:rPr lang="en-US" i="1">
                                  <a:latin typeface="Cambria Math" panose="02040503050406030204" pitchFamily="18" charset="0"/>
                                </a:rPr>
                              </m:ctrlPr>
                            </m:sSubPr>
                            <m:e>
                              <m:r>
                                <a:rPr lang="en-US" b="0" i="1" smtClean="0">
                                  <a:latin typeface="Cambria Math" panose="02040503050406030204" pitchFamily="18" charset="0"/>
                                </a:rPr>
                                <m:t>𝐼𝑄𝑅</m:t>
                              </m:r>
                            </m:e>
                            <m:sub>
                              <m:r>
                                <a:rPr lang="en-US" i="1">
                                  <a:latin typeface="Cambria Math" panose="02040503050406030204" pitchFamily="18" charset="0"/>
                                </a:rPr>
                                <m:t>𝑐𝑙𝑖𝑚𝑎𝑡𝑜𝑙𝑜𝑔𝑦</m:t>
                              </m:r>
                              <m:r>
                                <a:rPr lang="en-US" i="1">
                                  <a:latin typeface="Cambria Math" panose="02040503050406030204" pitchFamily="18" charset="0"/>
                                </a:rPr>
                                <m:t>_</m:t>
                              </m:r>
                              <m:r>
                                <a:rPr lang="en-US" i="1">
                                  <a:latin typeface="Cambria Math" panose="02040503050406030204" pitchFamily="18" charset="0"/>
                                </a:rPr>
                                <m:t>𝑚𝑜𝑛𝑡h</m:t>
                              </m:r>
                            </m:sub>
                          </m:sSub>
                        </m:den>
                      </m:f>
                    </m:oMath>
                  </m:oMathPara>
                </a14:m>
                <a:endParaRPr lang="en-US"/>
              </a:p>
              <a:p>
                <a:pPr algn="just">
                  <a:buFont typeface="Arial" panose="020B0604020202020204" pitchFamily="34" charset="0"/>
                  <a:buChar char="•"/>
                </a:pPr>
                <a:r>
                  <a:rPr lang="en-US" b="1"/>
                  <a:t>Outlier % in the month</a:t>
                </a:r>
                <a:r>
                  <a:rPr lang="en-US"/>
                  <a:t> (according to IQR </a:t>
                </a:r>
                <a14:m>
                  <m:oMath xmlns:m="http://schemas.openxmlformats.org/officeDocument/2006/math">
                    <m:r>
                      <a:rPr lang="en-US" i="1" dirty="0" smtClean="0">
                        <a:latin typeface="Cambria Math" panose="02040503050406030204" pitchFamily="18" charset="0"/>
                      </a:rPr>
                      <m:t>1.5×</m:t>
                    </m:r>
                  </m:oMath>
                </a14:m>
                <a:r>
                  <a:rPr lang="en-US"/>
                  <a:t>) (</a:t>
                </a:r>
                <a14:m>
                  <m:oMath xmlns:m="http://schemas.openxmlformats.org/officeDocument/2006/math">
                    <m:r>
                      <a:rPr lang="en-US" i="1" dirty="0" smtClean="0">
                        <a:solidFill>
                          <a:srgbClr val="FF0000"/>
                        </a:solidFill>
                        <a:latin typeface="Cambria Math" panose="02040503050406030204" pitchFamily="18" charset="0"/>
                        <a:ea typeface="Cambria Math" panose="02040503050406030204" pitchFamily="18" charset="0"/>
                      </a:rPr>
                      <m:t>≥</m:t>
                    </m:r>
                    <m:r>
                      <a:rPr lang="en-US" b="0" i="1" dirty="0" smtClean="0">
                        <a:solidFill>
                          <a:srgbClr val="FF0000"/>
                        </a:solidFill>
                        <a:latin typeface="Cambria Math" panose="02040503050406030204" pitchFamily="18" charset="0"/>
                        <a:ea typeface="Cambria Math" panose="02040503050406030204" pitchFamily="18" charset="0"/>
                      </a:rPr>
                      <m:t>8%</m:t>
                    </m:r>
                  </m:oMath>
                </a14:m>
                <a:r>
                  <a:rPr lang="en-US"/>
                  <a:t>).</a:t>
                </a:r>
              </a:p>
              <a:p>
                <a:pPr marL="114300" indent="0" algn="ctr"/>
                <a:endParaRPr lang="en-US"/>
              </a:p>
              <a:p>
                <a:pPr marL="114300" indent="0" algn="ctr"/>
                <a:endParaRPr lang="en-US"/>
              </a:p>
            </p:txBody>
          </p:sp>
        </mc:Choice>
        <mc:Fallback xmlns="">
          <p:sp>
            <p:nvSpPr>
              <p:cNvPr id="3" name="Chỗ dành sẵn cho Nội dung 13">
                <a:extLst>
                  <a:ext uri="{FF2B5EF4-FFF2-40B4-BE49-F238E27FC236}">
                    <a16:creationId xmlns:a16="http://schemas.microsoft.com/office/drawing/2014/main" id="{799A3B0B-ACB7-FB5A-1C8C-942F38E1A65B}"/>
                  </a:ext>
                </a:extLst>
              </p:cNvPr>
              <p:cNvSpPr txBox="1">
                <a:spLocks noRot="1" noChangeAspect="1" noMove="1" noResize="1" noEditPoints="1" noAdjustHandles="1" noChangeArrowheads="1" noChangeShapeType="1" noTextEdit="1"/>
              </p:cNvSpPr>
              <p:nvPr/>
            </p:nvSpPr>
            <p:spPr>
              <a:xfrm>
                <a:off x="457200" y="1493386"/>
                <a:ext cx="8229600" cy="2387237"/>
              </a:xfrm>
              <a:prstGeom prst="rect">
                <a:avLst/>
              </a:prstGeom>
              <a:blipFill>
                <a:blip r:embed="rId3"/>
                <a:stretch>
                  <a:fillRect b="-229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0487712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E618BFA6-9856-B63E-7E01-2AEAEB26EF1A}"/>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6C8F2E0A-663A-2E6D-269B-14EC940470A2}"/>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Hoa Binh’s Dam data</a:t>
            </a:r>
            <a:endParaRPr/>
          </a:p>
        </p:txBody>
      </p:sp>
      <p:graphicFrame>
        <p:nvGraphicFramePr>
          <p:cNvPr id="708" name="Google Shape;708;p38">
            <a:extLst>
              <a:ext uri="{FF2B5EF4-FFF2-40B4-BE49-F238E27FC236}">
                <a16:creationId xmlns:a16="http://schemas.microsoft.com/office/drawing/2014/main" id="{18C2C53F-5505-2980-A3F3-522C65B1CD3B}"/>
              </a:ext>
            </a:extLst>
          </p:cNvPr>
          <p:cNvGraphicFramePr/>
          <p:nvPr>
            <p:extLst>
              <p:ext uri="{D42A27DB-BD31-4B8C-83A1-F6EECF244321}">
                <p14:modId xmlns:p14="http://schemas.microsoft.com/office/powerpoint/2010/main" val="1516439154"/>
              </p:ext>
            </p:extLst>
          </p:nvPr>
        </p:nvGraphicFramePr>
        <p:xfrm>
          <a:off x="726725" y="1143495"/>
          <a:ext cx="7704000" cy="376411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thoi_diem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l" rtl="0">
                        <a:spcBef>
                          <a:spcPts val="0"/>
                        </a:spcBef>
                        <a:spcAft>
                          <a:spcPts val="1600"/>
                        </a:spcAft>
                        <a:buNone/>
                      </a:pPr>
                      <a:r>
                        <a:rPr lang="en-US" sz="1000">
                          <a:solidFill>
                            <a:schemeClr val="dk1"/>
                          </a:solidFill>
                          <a:latin typeface="Archivo Light"/>
                          <a:ea typeface="Archivo Light"/>
                          <a:cs typeface="Archivo Light"/>
                          <a:sym typeface="Archivo Light"/>
                        </a:rPr>
                        <a:t>Timeline of hydroelectric reservoir operation data recording</a:t>
                      </a:r>
                      <a:endParaRPr sz="1000">
                        <a:solidFill>
                          <a:schemeClr val="dk1"/>
                        </a:solidFill>
                        <a:latin typeface="Archivo Light"/>
                        <a:ea typeface="Archivo Light"/>
                        <a:cs typeface="Archivo Light"/>
                        <a:sym typeface="Archivo 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muc_nuoc_thuong_luu_m</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a:ea typeface="Archivo Light"/>
                          <a:cs typeface="Archivo Light"/>
                          <a:sym typeface="Archivo Light"/>
                        </a:rPr>
                        <a:t>Indicates the current condition of the reservoir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nn-NO" sz="1100" b="1">
                          <a:solidFill>
                            <a:srgbClr val="FF0000"/>
                          </a:solidFill>
                          <a:latin typeface="Archivo"/>
                          <a:ea typeface="Archivo"/>
                          <a:cs typeface="Archivo"/>
                          <a:sym typeface="Archivo"/>
                        </a:rPr>
                        <a:t>luu_luong_den_ho_m3_s</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tc>
                  <a:txBody>
                    <a:bodyPr/>
                    <a:lstStyle/>
                    <a:p>
                      <a:pPr>
                        <a:buNone/>
                      </a:pPr>
                      <a:r>
                        <a:rPr lang="en-US" sz="1000"/>
                        <a:t>Volume of water entering the reservoir</a:t>
                      </a:r>
                      <a:endParaRPr lang="vi-VN"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it-IT" sz="1100" b="1">
                          <a:solidFill>
                            <a:schemeClr val="accent1"/>
                          </a:solidFill>
                          <a:latin typeface="Archivo"/>
                          <a:ea typeface="Archivo"/>
                          <a:cs typeface="Archivo"/>
                          <a:sym typeface="Archivo"/>
                        </a:rPr>
                        <a:t>dap_tran_norm</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spillway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dap_tran_max</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capacity of the spillway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41652954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nha_may_norm</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Normalized turbine discharge (0–1), calculated by dividing the actual discharge by the maximum value.</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326914244"/>
                  </a:ext>
                </a:extLst>
              </a:tr>
              <a:tr h="350500">
                <a:tc>
                  <a:txBody>
                    <a:bodyPr/>
                    <a:lstStyle/>
                    <a:p>
                      <a:pPr marL="0" lvl="0" indent="0" algn="l" rtl="0">
                        <a:spcBef>
                          <a:spcPts val="0"/>
                        </a:spcBef>
                        <a:spcAft>
                          <a:spcPts val="0"/>
                        </a:spcAft>
                        <a:buNone/>
                      </a:pPr>
                      <a:r>
                        <a:rPr lang="en-US" sz="1100" b="1" err="1">
                          <a:solidFill>
                            <a:schemeClr val="accent1"/>
                          </a:solidFill>
                          <a:latin typeface="Archivo"/>
                          <a:ea typeface="Archivo"/>
                          <a:cs typeface="Archivo"/>
                          <a:sym typeface="Archivo"/>
                        </a:rPr>
                        <a:t>nha_may_max</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Maximum discharge through the power plant turbines (m³/s).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958814875"/>
                  </a:ext>
                </a:extLst>
              </a:tr>
              <a:tr h="350500">
                <a:tc>
                  <a:txBody>
                    <a:bodyPr/>
                    <a:lstStyle/>
                    <a:p>
                      <a:pPr marL="0" lvl="0" indent="0" algn="l" rtl="0">
                        <a:spcBef>
                          <a:spcPts val="0"/>
                        </a:spcBef>
                        <a:spcAft>
                          <a:spcPts val="0"/>
                        </a:spcAft>
                        <a:buNone/>
                      </a:pPr>
                      <a:r>
                        <a:rPr lang="en-US" sz="1100" b="1">
                          <a:solidFill>
                            <a:schemeClr val="accent1"/>
                          </a:solidFill>
                          <a:latin typeface="Archivo"/>
                          <a:ea typeface="Archivo"/>
                          <a:cs typeface="Archivo"/>
                          <a:sym typeface="Archivo"/>
                        </a:rPr>
                        <a:t>phase</a:t>
                      </a:r>
                      <a:endParaRPr sz="1100" b="1">
                        <a:solidFill>
                          <a:schemeClr val="accent1"/>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Flood season stages</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3194500807"/>
                  </a:ext>
                </a:extLst>
              </a:tr>
              <a:tr h="350500">
                <a:tc>
                  <a:txBody>
                    <a:bodyPr/>
                    <a:lstStyle/>
                    <a:p>
                      <a:pPr marL="0" lvl="0" indent="0" algn="l" rtl="0">
                        <a:spcBef>
                          <a:spcPts val="0"/>
                        </a:spcBef>
                        <a:spcAft>
                          <a:spcPts val="0"/>
                        </a:spcAft>
                        <a:buNone/>
                      </a:pPr>
                      <a:r>
                        <a:rPr lang="en-US" sz="1100" b="1">
                          <a:solidFill>
                            <a:srgbClr val="FF0000"/>
                          </a:solidFill>
                          <a:latin typeface="Archivo"/>
                          <a:ea typeface="Archivo"/>
                          <a:cs typeface="Archivo"/>
                          <a:sym typeface="Archivo"/>
                        </a:rPr>
                        <a:t>luu_luong_den_ho_m3_s_capped_month_median</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Monthly crop platform</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92168396"/>
                  </a:ext>
                </a:extLst>
              </a:tr>
              <a:tr h="350500">
                <a:tc>
                  <a:txBody>
                    <a:bodyPr/>
                    <a:lstStyle/>
                    <a:p>
                      <a:pPr marL="0" lvl="0" indent="0" algn="l" rtl="0">
                        <a:spcBef>
                          <a:spcPts val="0"/>
                        </a:spcBef>
                        <a:spcAft>
                          <a:spcPts val="0"/>
                        </a:spcAft>
                        <a:buNone/>
                      </a:pPr>
                      <a:r>
                        <a:rPr lang="en-US" sz="1100" b="1">
                          <a:solidFill>
                            <a:srgbClr val="FF0000"/>
                          </a:solidFill>
                          <a:latin typeface="Archivo"/>
                          <a:ea typeface="Archivo"/>
                          <a:cs typeface="Archivo"/>
                          <a:sym typeface="Archivo"/>
                        </a:rPr>
                        <a:t>…</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endParaRPr lang="en-US"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515921948"/>
                  </a:ext>
                </a:extLst>
              </a:tr>
            </a:tbl>
          </a:graphicData>
        </a:graphic>
      </p:graphicFrame>
    </p:spTree>
    <p:extLst>
      <p:ext uri="{BB962C8B-B14F-4D97-AF65-F5344CB8AC3E}">
        <p14:creationId xmlns:p14="http://schemas.microsoft.com/office/powerpoint/2010/main" val="37249221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55C18CEF-93AE-2526-8F41-5B80E81B56A7}"/>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B697AB63-F1C8-A88E-A601-ECE00D2DE3B0}"/>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
                <a:solidFill>
                  <a:schemeClr val="dk1"/>
                </a:solidFill>
              </a:rPr>
              <a:t>Contents</a:t>
            </a:r>
            <a:r>
              <a:rPr lang="en">
                <a:solidFill>
                  <a:schemeClr val="accent1"/>
                </a:solidFill>
              </a:rPr>
              <a:t> </a:t>
            </a:r>
            <a:r>
              <a:rPr lang="en"/>
              <a:t>of </a:t>
            </a:r>
            <a:r>
              <a:rPr lang="en-US"/>
              <a:t>The Hoa Binh’s Dam data</a:t>
            </a:r>
            <a:endParaRPr/>
          </a:p>
        </p:txBody>
      </p:sp>
      <mc:AlternateContent xmlns:mc="http://schemas.openxmlformats.org/markup-compatibility/2006" xmlns:a14="http://schemas.microsoft.com/office/drawing/2010/main">
        <mc:Choice Requires="a14">
          <p:graphicFrame>
            <p:nvGraphicFramePr>
              <p:cNvPr id="708" name="Google Shape;708;p38">
                <a:extLst>
                  <a:ext uri="{FF2B5EF4-FFF2-40B4-BE49-F238E27FC236}">
                    <a16:creationId xmlns:a16="http://schemas.microsoft.com/office/drawing/2014/main" id="{C5FBF2D4-FB53-E103-AC14-5E1C18DF0F1E}"/>
                  </a:ext>
                </a:extLst>
              </p:cNvPr>
              <p:cNvGraphicFramePr/>
              <p:nvPr>
                <p:extLst>
                  <p:ext uri="{D42A27DB-BD31-4B8C-83A1-F6EECF244321}">
                    <p14:modId xmlns:p14="http://schemas.microsoft.com/office/powerpoint/2010/main" val="665554722"/>
                  </p:ext>
                </p:extLst>
              </p:nvPr>
            </p:nvGraphicFramePr>
            <p:xfrm>
              <a:off x="726725" y="1143495"/>
              <a:ext cx="7704000" cy="227063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a:solidFill>
                                <a:srgbClr val="FF0000"/>
                              </a:solidFill>
                              <a:latin typeface="Archivo"/>
                              <a:ea typeface="Archivo"/>
                              <a:cs typeface="Archivo"/>
                              <a:sym typeface="Archivo"/>
                            </a:rPr>
                            <a:t>…</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endParaRPr lang="en-US"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515921948"/>
                      </a:ext>
                    </a:extLst>
                  </a:tr>
                  <a:tr h="350500">
                    <a:tc>
                      <a:txBody>
                        <a:bodyPr/>
                        <a:lstStyle/>
                        <a:p>
                          <a:pPr marL="0" lvl="0" indent="0" algn="l" rtl="0">
                            <a:spcBef>
                              <a:spcPts val="0"/>
                            </a:spcBef>
                            <a:spcAft>
                              <a:spcPts val="0"/>
                            </a:spcAft>
                            <a:buNone/>
                          </a:pPr>
                          <a:r>
                            <a:rPr lang="en-US" sz="1100" b="1">
                              <a:solidFill>
                                <a:srgbClr val="FF0000"/>
                              </a:solidFill>
                              <a:latin typeface="Archivo"/>
                              <a:ea typeface="Archivo"/>
                              <a:cs typeface="Archivo"/>
                              <a:sym typeface="Archivo"/>
                            </a:rPr>
                            <a:t>luu_luong_den_ho_m3_s_capped_</a:t>
                          </a:r>
                        </a:p>
                        <a:p>
                          <a:pPr marL="0" lvl="0" indent="0" algn="l" rtl="0">
                            <a:spcBef>
                              <a:spcPts val="0"/>
                            </a:spcBef>
                            <a:spcAft>
                              <a:spcPts val="0"/>
                            </a:spcAft>
                            <a:buNone/>
                          </a:pPr>
                          <a:r>
                            <a:rPr lang="en-US" sz="1100" b="1">
                              <a:solidFill>
                                <a:srgbClr val="FF0000"/>
                              </a:solidFill>
                              <a:latin typeface="Archivo"/>
                              <a:ea typeface="Archivo"/>
                              <a:cs typeface="Archivo"/>
                              <a:sym typeface="Archivo"/>
                            </a:rPr>
                            <a:t>pct_in_month</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Relative position in the month</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582248785"/>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pct_change</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Sudden fluctuations between months (</a:t>
                          </a:r>
                          <a14:m>
                            <m:oMath xmlns:m="http://schemas.openxmlformats.org/officeDocument/2006/math">
                              <m:r>
                                <a:rPr lang="en-US" sz="1000" i="1" dirty="0" smtClean="0">
                                  <a:latin typeface="Cambria Math" panose="02040503050406030204" pitchFamily="18" charset="0"/>
                                </a:rPr>
                                <m:t> </m:t>
                              </m:r>
                              <m:r>
                                <a:rPr lang="en-US" sz="1000" i="1" dirty="0" smtClean="0">
                                  <a:latin typeface="Cambria Math" panose="02040503050406030204" pitchFamily="18" charset="0"/>
                                  <a:ea typeface="Cambria Math" panose="02040503050406030204" pitchFamily="18" charset="0"/>
                                </a:rPr>
                                <m:t>≥</m:t>
                              </m:r>
                              <m:r>
                                <a:rPr lang="en-US" sz="1000" i="1" dirty="0" smtClean="0">
                                  <a:latin typeface="Cambria Math" panose="02040503050406030204" pitchFamily="18" charset="0"/>
                                </a:rPr>
                                <m:t>150%</m:t>
                              </m:r>
                            </m:oMath>
                          </a14:m>
                          <a:r>
                            <a:rPr lang="en-US" sz="1000"/>
                            <a:t>)</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3988138131"/>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anom_iqr_units</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Climate deviation (median/IQR) (</a:t>
                          </a:r>
                          <a14:m>
                            <m:oMath xmlns:m="http://schemas.openxmlformats.org/officeDocument/2006/math">
                              <m:r>
                                <a:rPr lang="en-US" sz="1000" i="1" dirty="0" smtClean="0">
                                  <a:latin typeface="Cambria Math" panose="02040503050406030204" pitchFamily="18" charset="0"/>
                                  <a:ea typeface="Cambria Math" panose="02040503050406030204" pitchFamily="18" charset="0"/>
                                </a:rPr>
                                <m:t>≥</m:t>
                              </m:r>
                              <m:r>
                                <a:rPr lang="en-US" sz="1000" i="1" dirty="0" smtClean="0">
                                  <a:latin typeface="Cambria Math" panose="02040503050406030204" pitchFamily="18" charset="0"/>
                                </a:rPr>
                                <m:t>1</m:t>
                              </m:r>
                              <m:r>
                                <a:rPr lang="en-US" sz="1000" b="0" i="1" dirty="0" smtClean="0">
                                  <a:latin typeface="Cambria Math" panose="02040503050406030204" pitchFamily="18" charset="0"/>
                                </a:rPr>
                                <m:t>.5</m:t>
                              </m:r>
                            </m:oMath>
                          </a14:m>
                          <a:r>
                            <a:rPr lang="en-US" sz="1000"/>
                            <a:t>)</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3384510464"/>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out_pct</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Extreme value ratio in the month (</a:t>
                          </a:r>
                          <a14:m>
                            <m:oMath xmlns:m="http://schemas.openxmlformats.org/officeDocument/2006/math">
                              <m:r>
                                <a:rPr lang="en-US" sz="1000" i="1" dirty="0" smtClean="0">
                                  <a:latin typeface="Cambria Math" panose="02040503050406030204" pitchFamily="18" charset="0"/>
                                  <a:ea typeface="Cambria Math" panose="02040503050406030204" pitchFamily="18" charset="0"/>
                                </a:rPr>
                                <m:t>≥</m:t>
                              </m:r>
                              <m:r>
                                <a:rPr lang="en-US" sz="1000" b="0" i="1" dirty="0" smtClean="0">
                                  <a:latin typeface="Cambria Math" panose="02040503050406030204" pitchFamily="18" charset="0"/>
                                  <a:ea typeface="Cambria Math" panose="02040503050406030204" pitchFamily="18" charset="0"/>
                                </a:rPr>
                                <m:t>8%</m:t>
                              </m:r>
                            </m:oMath>
                          </a14:m>
                          <a:r>
                            <a:rPr lang="en-US" sz="1000"/>
                            <a:t>)</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692099044"/>
                      </a:ext>
                    </a:extLst>
                  </a:tr>
                  <a:tr h="3505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1" err="1">
                              <a:solidFill>
                                <a:srgbClr val="FF0000"/>
                              </a:solidFill>
                              <a:latin typeface="Archivo"/>
                              <a:ea typeface="Archivo"/>
                              <a:cs typeface="Archivo"/>
                              <a:sym typeface="Archivo"/>
                            </a:rPr>
                            <a:t>is_event_month</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Event Background</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137984377"/>
                      </a:ext>
                    </a:extLst>
                  </a:tr>
                </a:tbl>
              </a:graphicData>
            </a:graphic>
          </p:graphicFrame>
        </mc:Choice>
        <mc:Fallback xmlns="">
          <p:graphicFrame>
            <p:nvGraphicFramePr>
              <p:cNvPr id="708" name="Google Shape;708;p38">
                <a:extLst>
                  <a:ext uri="{FF2B5EF4-FFF2-40B4-BE49-F238E27FC236}">
                    <a16:creationId xmlns:a16="http://schemas.microsoft.com/office/drawing/2014/main" id="{C5FBF2D4-FB53-E103-AC14-5E1C18DF0F1E}"/>
                  </a:ext>
                </a:extLst>
              </p:cNvPr>
              <p:cNvGraphicFramePr/>
              <p:nvPr>
                <p:extLst>
                  <p:ext uri="{D42A27DB-BD31-4B8C-83A1-F6EECF244321}">
                    <p14:modId xmlns:p14="http://schemas.microsoft.com/office/powerpoint/2010/main" val="665554722"/>
                  </p:ext>
                </p:extLst>
              </p:nvPr>
            </p:nvGraphicFramePr>
            <p:xfrm>
              <a:off x="726725" y="1143495"/>
              <a:ext cx="7704000" cy="2270630"/>
            </p:xfrm>
            <a:graphic>
              <a:graphicData uri="http://schemas.openxmlformats.org/drawingml/2006/table">
                <a:tbl>
                  <a:tblPr>
                    <a:noFill/>
                    <a:tableStyleId>{D6CBFD61-9CC1-4848-B8E2-E103B36D63B7}</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a:solidFill>
                                <a:srgbClr val="FF0000"/>
                              </a:solidFill>
                              <a:latin typeface="Archivo"/>
                              <a:ea typeface="Archivo"/>
                              <a:cs typeface="Archivo"/>
                              <a:sym typeface="Archivo"/>
                            </a:rPr>
                            <a:t>…</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endParaRPr lang="en-US" sz="1000"/>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515921948"/>
                      </a:ext>
                    </a:extLst>
                  </a:tr>
                  <a:tr h="518130">
                    <a:tc>
                      <a:txBody>
                        <a:bodyPr/>
                        <a:lstStyle/>
                        <a:p>
                          <a:pPr marL="0" lvl="0" indent="0" algn="l" rtl="0">
                            <a:spcBef>
                              <a:spcPts val="0"/>
                            </a:spcBef>
                            <a:spcAft>
                              <a:spcPts val="0"/>
                            </a:spcAft>
                            <a:buNone/>
                          </a:pPr>
                          <a:r>
                            <a:rPr lang="en-US" sz="1100" b="1">
                              <a:solidFill>
                                <a:srgbClr val="FF0000"/>
                              </a:solidFill>
                              <a:latin typeface="Archivo"/>
                              <a:ea typeface="Archivo"/>
                              <a:cs typeface="Archivo"/>
                              <a:sym typeface="Archivo"/>
                            </a:rPr>
                            <a:t>luu_luong_den_ho_m3_s_capped_</a:t>
                          </a:r>
                        </a:p>
                        <a:p>
                          <a:pPr marL="0" lvl="0" indent="0" algn="l" rtl="0">
                            <a:spcBef>
                              <a:spcPts val="0"/>
                            </a:spcBef>
                            <a:spcAft>
                              <a:spcPts val="0"/>
                            </a:spcAft>
                            <a:buNone/>
                          </a:pPr>
                          <a:r>
                            <a:rPr lang="en-US" sz="1100" b="1">
                              <a:solidFill>
                                <a:srgbClr val="FF0000"/>
                              </a:solidFill>
                              <a:latin typeface="Archivo"/>
                              <a:ea typeface="Archivo"/>
                              <a:cs typeface="Archivo"/>
                              <a:sym typeface="Archivo"/>
                            </a:rPr>
                            <a:t>pct_in_month</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Relative position in the month</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582248785"/>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pct_change</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endParaRPr lang="en-US"/>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51679" t="-248276" r="-240" b="-300000"/>
                          </a:stretch>
                        </a:blipFill>
                      </a:tcPr>
                    </a:tc>
                    <a:extLst>
                      <a:ext uri="{0D108BD9-81ED-4DB2-BD59-A6C34878D82A}">
                        <a16:rowId xmlns:a16="http://schemas.microsoft.com/office/drawing/2014/main" val="3988138131"/>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anom_iqr_units</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endParaRPr lang="en-US"/>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51679" t="-348276" r="-240" b="-200000"/>
                          </a:stretch>
                        </a:blipFill>
                      </a:tcPr>
                    </a:tc>
                    <a:extLst>
                      <a:ext uri="{0D108BD9-81ED-4DB2-BD59-A6C34878D82A}">
                        <a16:rowId xmlns:a16="http://schemas.microsoft.com/office/drawing/2014/main" val="3384510464"/>
                      </a:ext>
                    </a:extLst>
                  </a:tr>
                  <a:tr h="350500">
                    <a:tc>
                      <a:txBody>
                        <a:bodyPr/>
                        <a:lstStyle/>
                        <a:p>
                          <a:pPr marL="0" lvl="0" indent="0" algn="l" rtl="0">
                            <a:spcBef>
                              <a:spcPts val="0"/>
                            </a:spcBef>
                            <a:spcAft>
                              <a:spcPts val="0"/>
                            </a:spcAft>
                            <a:buNone/>
                          </a:pPr>
                          <a:r>
                            <a:rPr lang="en-US" sz="1100" b="1" err="1">
                              <a:solidFill>
                                <a:srgbClr val="FF0000"/>
                              </a:solidFill>
                              <a:latin typeface="Archivo"/>
                              <a:ea typeface="Archivo"/>
                              <a:cs typeface="Archivo"/>
                              <a:sym typeface="Archivo"/>
                            </a:rPr>
                            <a:t>out_pct</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endParaRPr lang="en-US"/>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blipFill>
                          <a:blip r:embed="rId3"/>
                          <a:stretch>
                            <a:fillRect l="-51679" t="-456140" r="-240" b="-103509"/>
                          </a:stretch>
                        </a:blipFill>
                      </a:tcPr>
                    </a:tc>
                    <a:extLst>
                      <a:ext uri="{0D108BD9-81ED-4DB2-BD59-A6C34878D82A}">
                        <a16:rowId xmlns:a16="http://schemas.microsoft.com/office/drawing/2014/main" val="2692099044"/>
                      </a:ext>
                    </a:extLst>
                  </a:tr>
                  <a:tr h="3505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1" err="1">
                              <a:solidFill>
                                <a:srgbClr val="FF0000"/>
                              </a:solidFill>
                              <a:latin typeface="Archivo"/>
                              <a:ea typeface="Archivo"/>
                              <a:cs typeface="Archivo"/>
                              <a:sym typeface="Archivo"/>
                            </a:rPr>
                            <a:t>is_event_month</a:t>
                          </a:r>
                          <a:endParaRPr sz="1100" b="1">
                            <a:solidFill>
                              <a:srgbClr val="FF0000"/>
                            </a:solidFill>
                            <a:latin typeface="Archivo"/>
                            <a:ea typeface="Archivo"/>
                            <a:cs typeface="Archivo"/>
                            <a:sym typeface="Archiv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buNone/>
                          </a:pPr>
                          <a:r>
                            <a:rPr lang="en-US" sz="1000"/>
                            <a:t>Event Background</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137984377"/>
                      </a:ext>
                    </a:extLst>
                  </a:tr>
                </a:tbl>
              </a:graphicData>
            </a:graphic>
          </p:graphicFrame>
        </mc:Fallback>
      </mc:AlternateContent>
    </p:spTree>
    <p:extLst>
      <p:ext uri="{BB962C8B-B14F-4D97-AF65-F5344CB8AC3E}">
        <p14:creationId xmlns:p14="http://schemas.microsoft.com/office/powerpoint/2010/main" val="29473563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04">
          <a:extLst>
            <a:ext uri="{FF2B5EF4-FFF2-40B4-BE49-F238E27FC236}">
              <a16:creationId xmlns:a16="http://schemas.microsoft.com/office/drawing/2014/main" id="{D4E4CE82-E7C0-A49C-B439-C538BE400B3E}"/>
            </a:ext>
          </a:extLst>
        </p:cNvPr>
        <p:cNvGrpSpPr/>
        <p:nvPr/>
      </p:nvGrpSpPr>
      <p:grpSpPr>
        <a:xfrm>
          <a:off x="0" y="0"/>
          <a:ext cx="0" cy="0"/>
          <a:chOff x="0" y="0"/>
          <a:chExt cx="0" cy="0"/>
        </a:xfrm>
      </p:grpSpPr>
      <p:sp>
        <p:nvSpPr>
          <p:cNvPr id="6" name="Google Shape;797;p41">
            <a:extLst>
              <a:ext uri="{FF2B5EF4-FFF2-40B4-BE49-F238E27FC236}">
                <a16:creationId xmlns:a16="http://schemas.microsoft.com/office/drawing/2014/main" id="{38D3A9FE-E479-15ED-C964-E6DE09A770D8}"/>
              </a:ext>
            </a:extLst>
          </p:cNvPr>
          <p:cNvSpPr/>
          <p:nvPr/>
        </p:nvSpPr>
        <p:spPr>
          <a:xfrm>
            <a:off x="4096350" y="1463163"/>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98;p41">
            <a:extLst>
              <a:ext uri="{FF2B5EF4-FFF2-40B4-BE49-F238E27FC236}">
                <a16:creationId xmlns:a16="http://schemas.microsoft.com/office/drawing/2014/main" id="{395A9CA2-BDA1-3EFF-1F6E-9B6A91924CE6}"/>
              </a:ext>
            </a:extLst>
          </p:cNvPr>
          <p:cNvSpPr txBox="1">
            <a:spLocks noGrp="1"/>
          </p:cNvSpPr>
          <p:nvPr>
            <p:ph type="title"/>
          </p:nvPr>
        </p:nvSpPr>
        <p:spPr>
          <a:xfrm>
            <a:off x="2543250" y="2537925"/>
            <a:ext cx="4057500" cy="578400"/>
          </a:xfrm>
          <a:prstGeom prst="rect">
            <a:avLst/>
          </a:prstGeom>
        </p:spPr>
        <p:txBody>
          <a:bodyPr spcFirstLastPara="1" wrap="square" lIns="91425" tIns="91425" rIns="91425" bIns="91425" anchor="t" anchorCtr="0">
            <a:noAutofit/>
          </a:bodyPr>
          <a:lstStyle/>
          <a:p>
            <a:pPr lvl="0">
              <a:buClr>
                <a:schemeClr val="dk1"/>
              </a:buClr>
              <a:buSzPts val="1100"/>
            </a:pPr>
            <a:r>
              <a:rPr lang="en" sz="3200"/>
              <a:t>Modeling</a:t>
            </a:r>
            <a:endParaRPr sz="3200"/>
          </a:p>
        </p:txBody>
      </p:sp>
      <p:sp>
        <p:nvSpPr>
          <p:cNvPr id="8" name="Google Shape;800;p41">
            <a:extLst>
              <a:ext uri="{FF2B5EF4-FFF2-40B4-BE49-F238E27FC236}">
                <a16:creationId xmlns:a16="http://schemas.microsoft.com/office/drawing/2014/main" id="{419208B4-5809-6F82-851F-952936728B58}"/>
              </a:ext>
            </a:extLst>
          </p:cNvPr>
          <p:cNvSpPr txBox="1">
            <a:spLocks/>
          </p:cNvSpPr>
          <p:nvPr/>
        </p:nvSpPr>
        <p:spPr>
          <a:xfrm>
            <a:off x="4017450" y="1613613"/>
            <a:ext cx="1109100" cy="650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500">
                <a:solidFill>
                  <a:schemeClr val="bg1"/>
                </a:solidFill>
                <a:latin typeface="Archivo" panose="020B0604020202020204" charset="0"/>
                <a:cs typeface="Archivo" panose="020B0604020202020204" charset="0"/>
              </a:rPr>
              <a:t>05</a:t>
            </a:r>
          </a:p>
        </p:txBody>
      </p:sp>
    </p:spTree>
    <p:extLst>
      <p:ext uri="{BB962C8B-B14F-4D97-AF65-F5344CB8AC3E}">
        <p14:creationId xmlns:p14="http://schemas.microsoft.com/office/powerpoint/2010/main" val="17882520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8E35A9E8-CD8E-EB8C-EF3C-B085DC3A9AF5}"/>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AB21CA35-3B7B-7998-A3AB-023B570F4325}"/>
              </a:ext>
            </a:extLst>
          </p:cNvPr>
          <p:cNvSpPr>
            <a:spLocks noGrp="1"/>
          </p:cNvSpPr>
          <p:nvPr>
            <p:ph type="title"/>
          </p:nvPr>
        </p:nvSpPr>
        <p:spPr>
          <a:xfrm>
            <a:off x="713225" y="445025"/>
            <a:ext cx="7717500" cy="572700"/>
          </a:xfrm>
        </p:spPr>
        <p:txBody>
          <a:bodyPr/>
          <a:lstStyle/>
          <a:p>
            <a:pPr algn="ctr"/>
            <a:r>
              <a:rPr lang="en" sz="4000"/>
              <a:t>Modeling</a:t>
            </a:r>
            <a:endParaRPr lang="en-US" sz="4000"/>
          </a:p>
        </p:txBody>
      </p:sp>
      <p:pic>
        <p:nvPicPr>
          <p:cNvPr id="4" name="Hình ảnh 3" descr="Ảnh có chứa văn bản, biểu đồ, ảnh chụp màn hình, Kế hoạch">
            <a:extLst>
              <a:ext uri="{FF2B5EF4-FFF2-40B4-BE49-F238E27FC236}">
                <a16:creationId xmlns:a16="http://schemas.microsoft.com/office/drawing/2014/main" id="{BAAF4C14-F7C8-D833-FDFD-CAC07FF346C4}"/>
              </a:ext>
            </a:extLst>
          </p:cNvPr>
          <p:cNvPicPr>
            <a:picLocks noChangeAspect="1"/>
          </p:cNvPicPr>
          <p:nvPr/>
        </p:nvPicPr>
        <p:blipFill>
          <a:blip r:embed="rId3"/>
          <a:stretch>
            <a:fillRect/>
          </a:stretch>
        </p:blipFill>
        <p:spPr>
          <a:xfrm>
            <a:off x="1402701" y="1241855"/>
            <a:ext cx="2948264" cy="1720316"/>
          </a:xfrm>
          <a:prstGeom prst="rect">
            <a:avLst/>
          </a:prstGeom>
        </p:spPr>
      </p:pic>
      <p:pic>
        <p:nvPicPr>
          <p:cNvPr id="5" name="Hình ảnh 4" descr="Ảnh có chứa văn bản, biểu đồ, ảnh chụp màn hình, Phông chữ&#10;&#10;Nội dung do AI tạo ra có thể không chính xác.">
            <a:extLst>
              <a:ext uri="{FF2B5EF4-FFF2-40B4-BE49-F238E27FC236}">
                <a16:creationId xmlns:a16="http://schemas.microsoft.com/office/drawing/2014/main" id="{05449F2D-DBD9-AA7C-F636-0C8FD5975BB1}"/>
              </a:ext>
            </a:extLst>
          </p:cNvPr>
          <p:cNvPicPr>
            <a:picLocks noChangeAspect="1"/>
          </p:cNvPicPr>
          <p:nvPr/>
        </p:nvPicPr>
        <p:blipFill>
          <a:blip r:embed="rId4"/>
          <a:stretch>
            <a:fillRect/>
          </a:stretch>
        </p:blipFill>
        <p:spPr>
          <a:xfrm>
            <a:off x="4780567" y="1241855"/>
            <a:ext cx="2960732" cy="1774472"/>
          </a:xfrm>
          <a:prstGeom prst="rect">
            <a:avLst/>
          </a:prstGeom>
        </p:spPr>
      </p:pic>
      <p:pic>
        <p:nvPicPr>
          <p:cNvPr id="2" name="Hình ảnh 1" descr="Ảnh có chứa văn bản, ảnh chụp màn hình, số, Phông chữ">
            <a:extLst>
              <a:ext uri="{FF2B5EF4-FFF2-40B4-BE49-F238E27FC236}">
                <a16:creationId xmlns:a16="http://schemas.microsoft.com/office/drawing/2014/main" id="{CC7DC3C0-8813-11CD-745C-6CE158EC4D7F}"/>
              </a:ext>
            </a:extLst>
          </p:cNvPr>
          <p:cNvPicPr>
            <a:picLocks noChangeAspect="1"/>
          </p:cNvPicPr>
          <p:nvPr/>
        </p:nvPicPr>
        <p:blipFill>
          <a:blip r:embed="rId5"/>
          <a:stretch>
            <a:fillRect/>
          </a:stretch>
        </p:blipFill>
        <p:spPr>
          <a:xfrm>
            <a:off x="3271420" y="3081415"/>
            <a:ext cx="2727936" cy="1982870"/>
          </a:xfrm>
          <a:prstGeom prst="rect">
            <a:avLst/>
          </a:prstGeom>
        </p:spPr>
      </p:pic>
    </p:spTree>
    <p:extLst>
      <p:ext uri="{BB962C8B-B14F-4D97-AF65-F5344CB8AC3E}">
        <p14:creationId xmlns:p14="http://schemas.microsoft.com/office/powerpoint/2010/main" val="24584831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D8884ABE-4095-70B5-FC3D-EE9F51E4C2A1}"/>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1D3B3A05-0ACF-A8FC-D8F7-28236AC05D94}"/>
              </a:ext>
            </a:extLst>
          </p:cNvPr>
          <p:cNvSpPr>
            <a:spLocks noGrp="1"/>
          </p:cNvSpPr>
          <p:nvPr>
            <p:ph type="title"/>
          </p:nvPr>
        </p:nvSpPr>
        <p:spPr>
          <a:xfrm>
            <a:off x="713225" y="445025"/>
            <a:ext cx="7717500" cy="572700"/>
          </a:xfrm>
        </p:spPr>
        <p:txBody>
          <a:bodyPr/>
          <a:lstStyle/>
          <a:p>
            <a:pPr algn="ctr"/>
            <a:r>
              <a:rPr lang="en" sz="4000"/>
              <a:t>Modeling</a:t>
            </a:r>
            <a:endParaRPr lang="en-US" sz="4000"/>
          </a:p>
        </p:txBody>
      </p:sp>
      <p:sp>
        <p:nvSpPr>
          <p:cNvPr id="11" name="TextBox 10">
            <a:extLst>
              <a:ext uri="{FF2B5EF4-FFF2-40B4-BE49-F238E27FC236}">
                <a16:creationId xmlns:a16="http://schemas.microsoft.com/office/drawing/2014/main" id="{06301786-EFF6-C572-F0FF-2A48F078BA3D}"/>
              </a:ext>
            </a:extLst>
          </p:cNvPr>
          <p:cNvSpPr txBox="1"/>
          <p:nvPr/>
        </p:nvSpPr>
        <p:spPr>
          <a:xfrm>
            <a:off x="977211" y="1705186"/>
            <a:ext cx="4256427" cy="1600438"/>
          </a:xfrm>
          <a:prstGeom prst="rect">
            <a:avLst/>
          </a:prstGeom>
          <a:noFill/>
        </p:spPr>
        <p:txBody>
          <a:bodyPr wrap="square" rtlCol="0">
            <a:spAutoFit/>
          </a:bodyPr>
          <a:lstStyle/>
          <a:p>
            <a:pPr algn="just"/>
            <a:r>
              <a:rPr lang="en-US"/>
              <a:t>Decision Tree — Interpretable Baseline:</a:t>
            </a:r>
          </a:p>
          <a:p>
            <a:pPr marL="285750" indent="-285750" algn="just">
              <a:buFont typeface="Arial" panose="020B0604020202020204" pitchFamily="34" charset="0"/>
              <a:buChar char="•"/>
            </a:pPr>
            <a:r>
              <a:rPr lang="en-US"/>
              <a:t>Provides a </a:t>
            </a:r>
            <a:r>
              <a:rPr lang="en-US" b="1"/>
              <a:t>simple</a:t>
            </a:r>
            <a:r>
              <a:rPr lang="en-US"/>
              <a:t> and </a:t>
            </a:r>
            <a:r>
              <a:rPr lang="en-US" b="1"/>
              <a:t>explainable benchmark</a:t>
            </a:r>
            <a:r>
              <a:rPr lang="en-US"/>
              <a:t> for nonlinear or threshold-based relationships (e.g., water level, inflow, rainfall) with very low training cost, allowing quick validation of whether the data and features are informative.</a:t>
            </a:r>
          </a:p>
        </p:txBody>
      </p:sp>
      <p:pic>
        <p:nvPicPr>
          <p:cNvPr id="15" name="Hình ảnh 3" descr="Ảnh có chứa văn bản, biểu đồ, ảnh chụp màn hình, Kế hoạch">
            <a:extLst>
              <a:ext uri="{FF2B5EF4-FFF2-40B4-BE49-F238E27FC236}">
                <a16:creationId xmlns:a16="http://schemas.microsoft.com/office/drawing/2014/main" id="{30B20989-EA6B-A9AF-CDDC-43B3E72CF7A2}"/>
              </a:ext>
            </a:extLst>
          </p:cNvPr>
          <p:cNvPicPr>
            <a:picLocks noChangeAspect="1"/>
          </p:cNvPicPr>
          <p:nvPr/>
        </p:nvPicPr>
        <p:blipFill>
          <a:blip r:embed="rId3"/>
          <a:stretch>
            <a:fillRect/>
          </a:stretch>
        </p:blipFill>
        <p:spPr>
          <a:xfrm>
            <a:off x="5482461" y="1859074"/>
            <a:ext cx="2948264" cy="1720316"/>
          </a:xfrm>
          <a:prstGeom prst="rect">
            <a:avLst/>
          </a:prstGeom>
        </p:spPr>
      </p:pic>
    </p:spTree>
    <p:extLst>
      <p:ext uri="{BB962C8B-B14F-4D97-AF65-F5344CB8AC3E}">
        <p14:creationId xmlns:p14="http://schemas.microsoft.com/office/powerpoint/2010/main" val="11441523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B1FE66E4-1031-1F04-3516-6EB3D629B6FA}"/>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3A9639ED-DE66-704D-C60E-87D0FCE9D1B8}"/>
              </a:ext>
            </a:extLst>
          </p:cNvPr>
          <p:cNvSpPr>
            <a:spLocks noGrp="1"/>
          </p:cNvSpPr>
          <p:nvPr>
            <p:ph type="title"/>
          </p:nvPr>
        </p:nvSpPr>
        <p:spPr>
          <a:xfrm>
            <a:off x="713225" y="445025"/>
            <a:ext cx="7717500" cy="572700"/>
          </a:xfrm>
        </p:spPr>
        <p:txBody>
          <a:bodyPr/>
          <a:lstStyle/>
          <a:p>
            <a:pPr algn="ctr"/>
            <a:r>
              <a:rPr lang="en" sz="4000"/>
              <a:t>Modeling</a:t>
            </a:r>
            <a:endParaRPr lang="en-US" sz="4000"/>
          </a:p>
        </p:txBody>
      </p:sp>
      <p:sp>
        <p:nvSpPr>
          <p:cNvPr id="11" name="TextBox 10">
            <a:extLst>
              <a:ext uri="{FF2B5EF4-FFF2-40B4-BE49-F238E27FC236}">
                <a16:creationId xmlns:a16="http://schemas.microsoft.com/office/drawing/2014/main" id="{8682B5C9-B03A-F687-96C9-F2D68F03C9F5}"/>
              </a:ext>
            </a:extLst>
          </p:cNvPr>
          <p:cNvSpPr txBox="1"/>
          <p:nvPr/>
        </p:nvSpPr>
        <p:spPr>
          <a:xfrm>
            <a:off x="977212" y="1705186"/>
            <a:ext cx="4234125" cy="1815882"/>
          </a:xfrm>
          <a:prstGeom prst="rect">
            <a:avLst/>
          </a:prstGeom>
          <a:noFill/>
        </p:spPr>
        <p:txBody>
          <a:bodyPr wrap="square" rtlCol="0">
            <a:spAutoFit/>
          </a:bodyPr>
          <a:lstStyle/>
          <a:p>
            <a:r>
              <a:rPr lang="en-US" err="1"/>
              <a:t>XGBoost</a:t>
            </a:r>
            <a:r>
              <a:rPr lang="en-US"/>
              <a:t> — Strong Standard for Tabular Data:</a:t>
            </a:r>
          </a:p>
          <a:p>
            <a:pPr marL="285750" indent="-285750" algn="just">
              <a:buFont typeface="Arial" panose="020B0604020202020204" pitchFamily="34" charset="0"/>
              <a:buChar char="•"/>
            </a:pPr>
            <a:r>
              <a:rPr lang="en-US"/>
              <a:t>Delivers high and stable performance on tabular datasets with many engineered features over a 28-day window (lags, rolling statistics, quantiles). It effectively captures nonlinearities and interactions between hydrological and weather variables, while its built-in regularization helps prevent overfitting.</a:t>
            </a:r>
          </a:p>
        </p:txBody>
      </p:sp>
      <p:pic>
        <p:nvPicPr>
          <p:cNvPr id="2" name="Hình ảnh 4" descr="Ảnh có chứa văn bản, biểu đồ, ảnh chụp màn hình, Phông chữ&#10;&#10;Nội dung do AI tạo ra có thể không chính xác.">
            <a:extLst>
              <a:ext uri="{FF2B5EF4-FFF2-40B4-BE49-F238E27FC236}">
                <a16:creationId xmlns:a16="http://schemas.microsoft.com/office/drawing/2014/main" id="{D0398B25-6494-2397-2ED0-4915AF2FF6EA}"/>
              </a:ext>
            </a:extLst>
          </p:cNvPr>
          <p:cNvPicPr>
            <a:picLocks noChangeAspect="1"/>
          </p:cNvPicPr>
          <p:nvPr/>
        </p:nvPicPr>
        <p:blipFill>
          <a:blip r:embed="rId3"/>
          <a:stretch>
            <a:fillRect/>
          </a:stretch>
        </p:blipFill>
        <p:spPr>
          <a:xfrm>
            <a:off x="5352996" y="1859074"/>
            <a:ext cx="2960732" cy="1774472"/>
          </a:xfrm>
          <a:prstGeom prst="rect">
            <a:avLst/>
          </a:prstGeom>
        </p:spPr>
      </p:pic>
    </p:spTree>
    <p:extLst>
      <p:ext uri="{BB962C8B-B14F-4D97-AF65-F5344CB8AC3E}">
        <p14:creationId xmlns:p14="http://schemas.microsoft.com/office/powerpoint/2010/main" val="25447915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78EA1AEB-FCBF-AFBC-61DC-F188E76D0520}"/>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EE646A25-38C2-C8A1-E88C-DB5D8D63B68B}"/>
              </a:ext>
            </a:extLst>
          </p:cNvPr>
          <p:cNvSpPr>
            <a:spLocks noGrp="1"/>
          </p:cNvSpPr>
          <p:nvPr>
            <p:ph type="title"/>
          </p:nvPr>
        </p:nvSpPr>
        <p:spPr>
          <a:xfrm>
            <a:off x="713225" y="445025"/>
            <a:ext cx="7717500" cy="572700"/>
          </a:xfrm>
        </p:spPr>
        <p:txBody>
          <a:bodyPr/>
          <a:lstStyle/>
          <a:p>
            <a:pPr algn="ctr"/>
            <a:r>
              <a:rPr lang="en" sz="4000"/>
              <a:t>Modeling</a:t>
            </a:r>
            <a:endParaRPr lang="en-US" sz="4000"/>
          </a:p>
        </p:txBody>
      </p:sp>
      <p:sp>
        <p:nvSpPr>
          <p:cNvPr id="11" name="TextBox 10">
            <a:extLst>
              <a:ext uri="{FF2B5EF4-FFF2-40B4-BE49-F238E27FC236}">
                <a16:creationId xmlns:a16="http://schemas.microsoft.com/office/drawing/2014/main" id="{3008B49A-54EF-5D4F-F33C-0EAC0FAA4693}"/>
              </a:ext>
            </a:extLst>
          </p:cNvPr>
          <p:cNvSpPr txBox="1"/>
          <p:nvPr/>
        </p:nvSpPr>
        <p:spPr>
          <a:xfrm>
            <a:off x="977211" y="1705186"/>
            <a:ext cx="4115179" cy="2246769"/>
          </a:xfrm>
          <a:prstGeom prst="rect">
            <a:avLst/>
          </a:prstGeom>
          <a:noFill/>
        </p:spPr>
        <p:txBody>
          <a:bodyPr wrap="square" rtlCol="0">
            <a:spAutoFit/>
          </a:bodyPr>
          <a:lstStyle/>
          <a:p>
            <a:pPr algn="just"/>
            <a:r>
              <a:rPr lang="en-US"/>
              <a:t>CNN+LSTM — Specialist for Multivariate Time Series:</a:t>
            </a:r>
          </a:p>
          <a:p>
            <a:pPr marL="285750" indent="-285750" algn="just">
              <a:buFont typeface="Arial" panose="020B0604020202020204" pitchFamily="34" charset="0"/>
              <a:buChar char="•"/>
            </a:pPr>
            <a:r>
              <a:rPr lang="en-US"/>
              <a:t>Directly models the temporal patterns and dependencies within the 28-day sequence — CNN extracts local patterns (e.g., rainfall spikes, flow surges), while LSTM captures long-term and delayed dependencies — enabling the model to learn dynamic behaviors that tree-based models cannot capture without handcrafted features.</a:t>
            </a:r>
          </a:p>
        </p:txBody>
      </p:sp>
      <p:pic>
        <p:nvPicPr>
          <p:cNvPr id="2" name="Hình ảnh 1" descr="Ảnh có chứa văn bản, ảnh chụp màn hình, số, Phông chữ">
            <a:extLst>
              <a:ext uri="{FF2B5EF4-FFF2-40B4-BE49-F238E27FC236}">
                <a16:creationId xmlns:a16="http://schemas.microsoft.com/office/drawing/2014/main" id="{8A650408-9062-46C0-CC09-C7FAC2D461A1}"/>
              </a:ext>
            </a:extLst>
          </p:cNvPr>
          <p:cNvPicPr>
            <a:picLocks noChangeAspect="1"/>
          </p:cNvPicPr>
          <p:nvPr/>
        </p:nvPicPr>
        <p:blipFill>
          <a:blip r:embed="rId3"/>
          <a:stretch>
            <a:fillRect/>
          </a:stretch>
        </p:blipFill>
        <p:spPr>
          <a:xfrm>
            <a:off x="5438852" y="1859074"/>
            <a:ext cx="2727936" cy="1982870"/>
          </a:xfrm>
          <a:prstGeom prst="rect">
            <a:avLst/>
          </a:prstGeom>
        </p:spPr>
      </p:pic>
    </p:spTree>
    <p:extLst>
      <p:ext uri="{BB962C8B-B14F-4D97-AF65-F5344CB8AC3E}">
        <p14:creationId xmlns:p14="http://schemas.microsoft.com/office/powerpoint/2010/main" val="32601019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5CBDF850-44C2-6934-41DE-424C527F3273}"/>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CB6E3278-4B28-9826-0E96-F673BAF90E30}"/>
              </a:ext>
            </a:extLst>
          </p:cNvPr>
          <p:cNvSpPr>
            <a:spLocks noGrp="1"/>
          </p:cNvSpPr>
          <p:nvPr>
            <p:ph type="title"/>
          </p:nvPr>
        </p:nvSpPr>
        <p:spPr>
          <a:xfrm>
            <a:off x="713225" y="445025"/>
            <a:ext cx="7717500" cy="572700"/>
          </a:xfrm>
        </p:spPr>
        <p:txBody>
          <a:bodyPr/>
          <a:lstStyle/>
          <a:p>
            <a:pPr algn="ctr"/>
            <a:r>
              <a:rPr lang="en" sz="4000"/>
              <a:t>Modeling</a:t>
            </a:r>
            <a:endParaRPr lang="en-US" sz="4000"/>
          </a:p>
        </p:txBody>
      </p:sp>
      <p:pic>
        <p:nvPicPr>
          <p:cNvPr id="11" name="Picture 10">
            <a:extLst>
              <a:ext uri="{FF2B5EF4-FFF2-40B4-BE49-F238E27FC236}">
                <a16:creationId xmlns:a16="http://schemas.microsoft.com/office/drawing/2014/main" id="{243A6784-F2FC-6475-2157-4D0A73CAEE57}"/>
              </a:ext>
            </a:extLst>
          </p:cNvPr>
          <p:cNvPicPr>
            <a:picLocks noChangeAspect="1"/>
          </p:cNvPicPr>
          <p:nvPr/>
        </p:nvPicPr>
        <p:blipFill>
          <a:blip r:embed="rId3"/>
          <a:stretch>
            <a:fillRect/>
          </a:stretch>
        </p:blipFill>
        <p:spPr>
          <a:xfrm>
            <a:off x="1687498" y="1357107"/>
            <a:ext cx="5531058" cy="2181106"/>
          </a:xfrm>
          <a:prstGeom prst="rect">
            <a:avLst/>
          </a:prstGeom>
        </p:spPr>
      </p:pic>
      <p:sp>
        <p:nvSpPr>
          <p:cNvPr id="12" name="TextBox 11">
            <a:extLst>
              <a:ext uri="{FF2B5EF4-FFF2-40B4-BE49-F238E27FC236}">
                <a16:creationId xmlns:a16="http://schemas.microsoft.com/office/drawing/2014/main" id="{A507D3A6-09D7-ED95-DA37-D871FB7F2738}"/>
              </a:ext>
            </a:extLst>
          </p:cNvPr>
          <p:cNvSpPr txBox="1"/>
          <p:nvPr/>
        </p:nvSpPr>
        <p:spPr>
          <a:xfrm>
            <a:off x="3966132" y="3644736"/>
            <a:ext cx="1375237" cy="307777"/>
          </a:xfrm>
          <a:prstGeom prst="rect">
            <a:avLst/>
          </a:prstGeom>
          <a:noFill/>
        </p:spPr>
        <p:txBody>
          <a:bodyPr wrap="square" rtlCol="0">
            <a:spAutoFit/>
          </a:bodyPr>
          <a:lstStyle/>
          <a:p>
            <a:r>
              <a:rPr lang="en-US">
                <a:solidFill>
                  <a:srgbClr val="FF0000"/>
                </a:solidFill>
              </a:rPr>
              <a:t>CNN + LSTM</a:t>
            </a:r>
          </a:p>
        </p:txBody>
      </p:sp>
    </p:spTree>
    <p:extLst>
      <p:ext uri="{BB962C8B-B14F-4D97-AF65-F5344CB8AC3E}">
        <p14:creationId xmlns:p14="http://schemas.microsoft.com/office/powerpoint/2010/main" val="2638536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C7024F02-6802-DD82-B174-0DC7982B55D0}"/>
            </a:ext>
          </a:extLst>
        </p:cNvPr>
        <p:cNvGrpSpPr/>
        <p:nvPr/>
      </p:nvGrpSpPr>
      <p:grpSpPr>
        <a:xfrm>
          <a:off x="0" y="0"/>
          <a:ext cx="0" cy="0"/>
          <a:chOff x="0" y="0"/>
          <a:chExt cx="0" cy="0"/>
        </a:xfrm>
      </p:grpSpPr>
      <p:sp>
        <p:nvSpPr>
          <p:cNvPr id="10" name="Tiêu đề 1">
            <a:extLst>
              <a:ext uri="{FF2B5EF4-FFF2-40B4-BE49-F238E27FC236}">
                <a16:creationId xmlns:a16="http://schemas.microsoft.com/office/drawing/2014/main" id="{BBA6C18D-2159-ED10-83A9-0EC666E9644F}"/>
              </a:ext>
            </a:extLst>
          </p:cNvPr>
          <p:cNvSpPr>
            <a:spLocks noGrp="1"/>
          </p:cNvSpPr>
          <p:nvPr>
            <p:ph type="title"/>
          </p:nvPr>
        </p:nvSpPr>
        <p:spPr>
          <a:xfrm>
            <a:off x="713225" y="445025"/>
            <a:ext cx="7717500" cy="572700"/>
          </a:xfrm>
        </p:spPr>
        <p:txBody>
          <a:bodyPr/>
          <a:lstStyle/>
          <a:p>
            <a:pPr algn="ctr"/>
            <a:r>
              <a:rPr lang="en" sz="4000"/>
              <a:t>Modeling</a:t>
            </a:r>
            <a:endParaRPr lang="en-US" sz="4000"/>
          </a:p>
        </p:txBody>
      </p:sp>
      <p:pic>
        <p:nvPicPr>
          <p:cNvPr id="7" name="Picture 6">
            <a:extLst>
              <a:ext uri="{FF2B5EF4-FFF2-40B4-BE49-F238E27FC236}">
                <a16:creationId xmlns:a16="http://schemas.microsoft.com/office/drawing/2014/main" id="{9EFFAAD2-1ACB-930F-4F15-97201ACEC35A}"/>
              </a:ext>
            </a:extLst>
          </p:cNvPr>
          <p:cNvPicPr>
            <a:picLocks noChangeAspect="1"/>
          </p:cNvPicPr>
          <p:nvPr/>
        </p:nvPicPr>
        <p:blipFill>
          <a:blip r:embed="rId3"/>
          <a:stretch>
            <a:fillRect/>
          </a:stretch>
        </p:blipFill>
        <p:spPr>
          <a:xfrm>
            <a:off x="1866684" y="1231373"/>
            <a:ext cx="5157869" cy="1684578"/>
          </a:xfrm>
          <a:prstGeom prst="rect">
            <a:avLst/>
          </a:prstGeom>
        </p:spPr>
      </p:pic>
      <p:sp>
        <p:nvSpPr>
          <p:cNvPr id="8" name="TextBox 7">
            <a:extLst>
              <a:ext uri="{FF2B5EF4-FFF2-40B4-BE49-F238E27FC236}">
                <a16:creationId xmlns:a16="http://schemas.microsoft.com/office/drawing/2014/main" id="{1E8772D3-EFEC-E8AE-5F9E-69940D54C2AE}"/>
              </a:ext>
            </a:extLst>
          </p:cNvPr>
          <p:cNvSpPr txBox="1"/>
          <p:nvPr/>
        </p:nvSpPr>
        <p:spPr>
          <a:xfrm>
            <a:off x="7211916" y="1765885"/>
            <a:ext cx="1375237" cy="307777"/>
          </a:xfrm>
          <a:prstGeom prst="rect">
            <a:avLst/>
          </a:prstGeom>
          <a:noFill/>
        </p:spPr>
        <p:txBody>
          <a:bodyPr wrap="square" rtlCol="0">
            <a:spAutoFit/>
          </a:bodyPr>
          <a:lstStyle/>
          <a:p>
            <a:r>
              <a:rPr lang="en-US" err="1">
                <a:solidFill>
                  <a:srgbClr val="FF0000"/>
                </a:solidFill>
              </a:rPr>
              <a:t>Descision</a:t>
            </a:r>
            <a:r>
              <a:rPr lang="en-US">
                <a:solidFill>
                  <a:srgbClr val="FF0000"/>
                </a:solidFill>
              </a:rPr>
              <a:t> Tree</a:t>
            </a:r>
          </a:p>
        </p:txBody>
      </p:sp>
      <p:pic>
        <p:nvPicPr>
          <p:cNvPr id="3" name="Picture 2">
            <a:extLst>
              <a:ext uri="{FF2B5EF4-FFF2-40B4-BE49-F238E27FC236}">
                <a16:creationId xmlns:a16="http://schemas.microsoft.com/office/drawing/2014/main" id="{6BA79223-29E3-FACF-F6A4-D1340FB3FE54}"/>
              </a:ext>
            </a:extLst>
          </p:cNvPr>
          <p:cNvPicPr>
            <a:picLocks noChangeAspect="1"/>
          </p:cNvPicPr>
          <p:nvPr/>
        </p:nvPicPr>
        <p:blipFill>
          <a:blip r:embed="rId4"/>
          <a:stretch>
            <a:fillRect/>
          </a:stretch>
        </p:blipFill>
        <p:spPr>
          <a:xfrm>
            <a:off x="1866685" y="2915951"/>
            <a:ext cx="5157870" cy="1719290"/>
          </a:xfrm>
          <a:prstGeom prst="rect">
            <a:avLst/>
          </a:prstGeom>
        </p:spPr>
      </p:pic>
      <p:sp>
        <p:nvSpPr>
          <p:cNvPr id="4" name="TextBox 3">
            <a:extLst>
              <a:ext uri="{FF2B5EF4-FFF2-40B4-BE49-F238E27FC236}">
                <a16:creationId xmlns:a16="http://schemas.microsoft.com/office/drawing/2014/main" id="{481E56CA-F831-7D2E-9CB3-C0FCF77F37C2}"/>
              </a:ext>
            </a:extLst>
          </p:cNvPr>
          <p:cNvSpPr txBox="1"/>
          <p:nvPr/>
        </p:nvSpPr>
        <p:spPr>
          <a:xfrm>
            <a:off x="7211916" y="3467819"/>
            <a:ext cx="1375237" cy="307777"/>
          </a:xfrm>
          <a:prstGeom prst="rect">
            <a:avLst/>
          </a:prstGeom>
          <a:noFill/>
        </p:spPr>
        <p:txBody>
          <a:bodyPr wrap="square" rtlCol="0">
            <a:spAutoFit/>
          </a:bodyPr>
          <a:lstStyle/>
          <a:p>
            <a:r>
              <a:rPr lang="en-US" err="1">
                <a:solidFill>
                  <a:srgbClr val="FF0000"/>
                </a:solidFill>
              </a:rPr>
              <a:t>XGBoost</a:t>
            </a:r>
            <a:endParaRPr lang="en-US">
              <a:solidFill>
                <a:srgbClr val="FF0000"/>
              </a:solidFill>
            </a:endParaRPr>
          </a:p>
        </p:txBody>
      </p:sp>
    </p:spTree>
    <p:extLst>
      <p:ext uri="{BB962C8B-B14F-4D97-AF65-F5344CB8AC3E}">
        <p14:creationId xmlns:p14="http://schemas.microsoft.com/office/powerpoint/2010/main" val="1219329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06">
          <a:extLst>
            <a:ext uri="{FF2B5EF4-FFF2-40B4-BE49-F238E27FC236}">
              <a16:creationId xmlns:a16="http://schemas.microsoft.com/office/drawing/2014/main" id="{047F16C2-D6E4-6F4F-C2C6-750300B954D2}"/>
            </a:ext>
          </a:extLst>
        </p:cNvPr>
        <p:cNvGrpSpPr/>
        <p:nvPr/>
      </p:nvGrpSpPr>
      <p:grpSpPr>
        <a:xfrm>
          <a:off x="0" y="0"/>
          <a:ext cx="0" cy="0"/>
          <a:chOff x="0" y="0"/>
          <a:chExt cx="0" cy="0"/>
        </a:xfrm>
      </p:grpSpPr>
      <p:sp>
        <p:nvSpPr>
          <p:cNvPr id="707" name="Google Shape;707;p38">
            <a:extLst>
              <a:ext uri="{FF2B5EF4-FFF2-40B4-BE49-F238E27FC236}">
                <a16:creationId xmlns:a16="http://schemas.microsoft.com/office/drawing/2014/main" id="{610D646F-4F80-6E51-52A7-03F69D6B5163}"/>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lvl="0"/>
            <a:r>
              <a:rPr lang="en-US">
                <a:solidFill>
                  <a:schemeClr val="dk1"/>
                </a:solidFill>
              </a:rPr>
              <a:t>Metric </a:t>
            </a:r>
            <a:r>
              <a:rPr lang="en-US"/>
              <a:t>Summary</a:t>
            </a:r>
            <a:endParaRPr/>
          </a:p>
        </p:txBody>
      </p:sp>
      <p:graphicFrame>
        <p:nvGraphicFramePr>
          <p:cNvPr id="708" name="Google Shape;708;p38">
            <a:extLst>
              <a:ext uri="{FF2B5EF4-FFF2-40B4-BE49-F238E27FC236}">
                <a16:creationId xmlns:a16="http://schemas.microsoft.com/office/drawing/2014/main" id="{13E28CE4-F8AE-73F3-7E57-D13CCC031805}"/>
              </a:ext>
            </a:extLst>
          </p:cNvPr>
          <p:cNvGraphicFramePr/>
          <p:nvPr>
            <p:extLst>
              <p:ext uri="{D42A27DB-BD31-4B8C-83A1-F6EECF244321}">
                <p14:modId xmlns:p14="http://schemas.microsoft.com/office/powerpoint/2010/main" val="45444066"/>
              </p:ext>
            </p:extLst>
          </p:nvPr>
        </p:nvGraphicFramePr>
        <p:xfrm>
          <a:off x="469389" y="1143495"/>
          <a:ext cx="8205172" cy="1508710"/>
        </p:xfrm>
        <a:graphic>
          <a:graphicData uri="http://schemas.openxmlformats.org/drawingml/2006/table">
            <a:tbl>
              <a:tblPr>
                <a:noFill/>
                <a:tableStyleId>{D6CBFD61-9CC1-4848-B8E2-E103B36D63B7}</a:tableStyleId>
              </a:tblPr>
              <a:tblGrid>
                <a:gridCol w="1183798">
                  <a:extLst>
                    <a:ext uri="{9D8B030D-6E8A-4147-A177-3AD203B41FA5}">
                      <a16:colId xmlns:a16="http://schemas.microsoft.com/office/drawing/2014/main" val="20000"/>
                    </a:ext>
                  </a:extLst>
                </a:gridCol>
                <a:gridCol w="1569801">
                  <a:extLst>
                    <a:ext uri="{9D8B030D-6E8A-4147-A177-3AD203B41FA5}">
                      <a16:colId xmlns:a16="http://schemas.microsoft.com/office/drawing/2014/main" val="20001"/>
                    </a:ext>
                  </a:extLst>
                </a:gridCol>
                <a:gridCol w="1817191">
                  <a:extLst>
                    <a:ext uri="{9D8B030D-6E8A-4147-A177-3AD203B41FA5}">
                      <a16:colId xmlns:a16="http://schemas.microsoft.com/office/drawing/2014/main" val="1137530157"/>
                    </a:ext>
                  </a:extLst>
                </a:gridCol>
                <a:gridCol w="1817191">
                  <a:extLst>
                    <a:ext uri="{9D8B030D-6E8A-4147-A177-3AD203B41FA5}">
                      <a16:colId xmlns:a16="http://schemas.microsoft.com/office/drawing/2014/main" val="238250668"/>
                    </a:ext>
                  </a:extLst>
                </a:gridCol>
                <a:gridCol w="1817191">
                  <a:extLst>
                    <a:ext uri="{9D8B030D-6E8A-4147-A177-3AD203B41FA5}">
                      <a16:colId xmlns:a16="http://schemas.microsoft.com/office/drawing/2014/main" val="3191718473"/>
                    </a:ext>
                  </a:extLst>
                </a:gridCol>
              </a:tblGrid>
              <a:tr h="350500">
                <a:tc>
                  <a:txBody>
                    <a:bodyPr/>
                    <a:lstStyle/>
                    <a:p>
                      <a:pPr marL="0" lvl="0" indent="0" algn="ctr" rtl="0">
                        <a:spcBef>
                          <a:spcPts val="0"/>
                        </a:spcBef>
                        <a:spcAft>
                          <a:spcPts val="0"/>
                        </a:spcAft>
                        <a:buNone/>
                      </a:pPr>
                      <a:r>
                        <a:rPr lang="en-US" sz="1200" b="1">
                          <a:solidFill>
                            <a:schemeClr val="accent1"/>
                          </a:solidFill>
                          <a:latin typeface="Archivo"/>
                          <a:ea typeface="Archivo"/>
                          <a:cs typeface="Archivo"/>
                          <a:sym typeface="Archivo"/>
                        </a:rPr>
                        <a:t>Method</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ctr" rtl="0">
                        <a:spcBef>
                          <a:spcPts val="0"/>
                        </a:spcBef>
                        <a:spcAft>
                          <a:spcPts val="1600"/>
                        </a:spcAft>
                        <a:buNone/>
                      </a:pPr>
                      <a:r>
                        <a:rPr lang="en-US" sz="1200" b="1">
                          <a:solidFill>
                            <a:schemeClr val="dk1"/>
                          </a:solidFill>
                          <a:latin typeface="Archivo Light"/>
                          <a:ea typeface="Archivo Light"/>
                          <a:cs typeface="Archivo Light"/>
                          <a:sym typeface="Archivo Light"/>
                        </a:rPr>
                        <a:t>N</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lvl="0" indent="0" algn="ctr" rtl="0">
                        <a:spcBef>
                          <a:spcPts val="0"/>
                        </a:spcBef>
                        <a:spcAft>
                          <a:spcPts val="1600"/>
                        </a:spcAft>
                        <a:buNone/>
                      </a:pPr>
                      <a:r>
                        <a:rPr lang="en-US" sz="1200" b="1">
                          <a:solidFill>
                            <a:schemeClr val="dk1"/>
                          </a:solidFill>
                          <a:latin typeface="Archivo Light"/>
                          <a:ea typeface="Archivo Light"/>
                          <a:cs typeface="Archivo Light"/>
                          <a:sym typeface="Archivo Light"/>
                        </a:rPr>
                        <a:t>MAE</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marL="0" lvl="0" indent="0" algn="ctr" rtl="0">
                        <a:spcBef>
                          <a:spcPts val="0"/>
                        </a:spcBef>
                        <a:spcAft>
                          <a:spcPts val="1600"/>
                        </a:spcAft>
                        <a:buNone/>
                      </a:pPr>
                      <a:r>
                        <a:rPr lang="en-US" sz="1200" b="1">
                          <a:solidFill>
                            <a:schemeClr val="dk1"/>
                          </a:solidFill>
                          <a:latin typeface="Archivo Light"/>
                          <a:ea typeface="Archivo Light"/>
                          <a:cs typeface="Archivo Light"/>
                          <a:sym typeface="Archivo Light"/>
                        </a:rPr>
                        <a:t>RMSE</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marL="0" lvl="0" indent="0" algn="ctr" rtl="0">
                        <a:spcBef>
                          <a:spcPts val="0"/>
                        </a:spcBef>
                        <a:spcAft>
                          <a:spcPts val="1600"/>
                        </a:spcAft>
                        <a:buNone/>
                      </a:pPr>
                      <a:r>
                        <a:rPr lang="en-US" sz="1200" b="1">
                          <a:solidFill>
                            <a:schemeClr val="dk1"/>
                          </a:solidFill>
                          <a:latin typeface="Archivo Light"/>
                          <a:ea typeface="Archivo Light"/>
                          <a:cs typeface="Archivo Light"/>
                          <a:sym typeface="Archivo Light"/>
                        </a:rPr>
                        <a:t>R2</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0"/>
                  </a:ext>
                </a:extLst>
              </a:tr>
              <a:tr h="350500">
                <a:tc>
                  <a:txBody>
                    <a:bodyPr/>
                    <a:lstStyle/>
                    <a:p>
                      <a:pPr marL="0" lvl="0" indent="0" algn="ctr" rtl="0">
                        <a:spcBef>
                          <a:spcPts val="0"/>
                        </a:spcBef>
                        <a:spcAft>
                          <a:spcPts val="0"/>
                        </a:spcAft>
                        <a:buNone/>
                      </a:pPr>
                      <a:r>
                        <a:rPr lang="en-US" sz="1100" b="1">
                          <a:solidFill>
                            <a:schemeClr val="accent1"/>
                          </a:solidFill>
                          <a:latin typeface="Archivo"/>
                          <a:ea typeface="Archivo"/>
                          <a:cs typeface="Archivo"/>
                          <a:sym typeface="Archivo"/>
                        </a:rPr>
                        <a:t>Decision Tree</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panose="020B0604020202020204" charset="0"/>
                          <a:ea typeface="Archivo Light"/>
                          <a:cs typeface="Archivo Light" panose="020B0604020202020204" charset="0"/>
                          <a:sym typeface="Archivo Light"/>
                        </a:rPr>
                        <a:t>6,653</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panose="020B0604020202020204" charset="0"/>
                          <a:ea typeface="Archivo Light"/>
                          <a:cs typeface="Archivo Light" panose="020B0604020202020204" charset="0"/>
                          <a:sym typeface="Archivo Light"/>
                        </a:rPr>
                        <a:t>1.3386</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panose="020B0604020202020204" charset="0"/>
                          <a:ea typeface="Archivo Light"/>
                          <a:cs typeface="Archivo Light" panose="020B0604020202020204" charset="0"/>
                          <a:sym typeface="Archivo Light"/>
                        </a:rPr>
                        <a:t>3.3292</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a:solidFill>
                            <a:schemeClr val="dk1"/>
                          </a:solidFill>
                          <a:latin typeface="Archivo Light" panose="020B0604020202020204" charset="0"/>
                          <a:ea typeface="Archivo Light"/>
                          <a:cs typeface="Archivo Light" panose="020B0604020202020204" charset="0"/>
                          <a:sym typeface="Archivo Light"/>
                        </a:rPr>
                        <a:t>0.8649</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10001"/>
                  </a:ext>
                </a:extLst>
              </a:tr>
              <a:tr h="350500">
                <a:tc>
                  <a:txBody>
                    <a:bodyPr/>
                    <a:lstStyle/>
                    <a:p>
                      <a:pPr marL="0" lvl="0" indent="0" algn="ctr" rtl="0">
                        <a:spcBef>
                          <a:spcPts val="0"/>
                        </a:spcBef>
                        <a:spcAft>
                          <a:spcPts val="0"/>
                        </a:spcAft>
                        <a:buNone/>
                      </a:pPr>
                      <a:r>
                        <a:rPr lang="nn-NO" sz="1100" b="1">
                          <a:solidFill>
                            <a:schemeClr val="accent1"/>
                          </a:solidFill>
                          <a:latin typeface="Archivo"/>
                          <a:ea typeface="Archivo"/>
                          <a:cs typeface="Archivo"/>
                          <a:sym typeface="Archivo"/>
                        </a:rPr>
                        <a:t>XGBoost</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a:solidFill>
                            <a:schemeClr val="dk1"/>
                          </a:solidFill>
                          <a:latin typeface="Archivo Light" panose="020B0604020202020204" charset="0"/>
                          <a:ea typeface="Archivo Light"/>
                          <a:cs typeface="Archivo Light" panose="020B0604020202020204" charset="0"/>
                          <a:sym typeface="Archivo Light"/>
                        </a:rPr>
                        <a:t>6,653</a:t>
                      </a:r>
                    </a:p>
                    <a:p>
                      <a:pPr lvl="0" algn="ctr">
                        <a:buNone/>
                      </a:pPr>
                      <a:endParaRPr lang="vi-VN" sz="1000">
                        <a:latin typeface="Archivo Light" panose="020B0604020202020204" charset="0"/>
                        <a:cs typeface="Archivo Light" panose="020B0604020202020204"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tc>
                  <a:txBody>
                    <a:bodyPr/>
                    <a:lstStyle/>
                    <a:p>
                      <a:pPr algn="ctr">
                        <a:buNone/>
                      </a:pPr>
                      <a:r>
                        <a:rPr lang="en-US" sz="1000">
                          <a:latin typeface="Archivo Light" panose="020B0604020202020204" charset="0"/>
                          <a:cs typeface="Archivo Light" panose="020B0604020202020204" charset="0"/>
                        </a:rPr>
                        <a:t>1.5412</a:t>
                      </a:r>
                      <a:endParaRPr lang="vi-VN" sz="1000">
                        <a:latin typeface="Archivo Light" panose="020B0604020202020204" charset="0"/>
                        <a:cs typeface="Archivo Light" panose="020B0604020202020204"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tc>
                  <a:txBody>
                    <a:bodyPr/>
                    <a:lstStyle/>
                    <a:p>
                      <a:pPr algn="ctr">
                        <a:buNone/>
                      </a:pPr>
                      <a:r>
                        <a:rPr lang="en-US" sz="1000">
                          <a:latin typeface="Archivo Light" panose="020B0604020202020204" charset="0"/>
                          <a:cs typeface="Archivo Light" panose="020B0604020202020204" charset="0"/>
                        </a:rPr>
                        <a:t>3.5458</a:t>
                      </a:r>
                      <a:endParaRPr lang="vi-VN" sz="1000">
                        <a:latin typeface="Archivo Light" panose="020B0604020202020204" charset="0"/>
                        <a:cs typeface="Archivo Light" panose="020B0604020202020204"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tc>
                  <a:txBody>
                    <a:bodyPr/>
                    <a:lstStyle/>
                    <a:p>
                      <a:pPr algn="ctr">
                        <a:buNone/>
                      </a:pPr>
                      <a:r>
                        <a:rPr lang="en-US" sz="1000">
                          <a:latin typeface="Archivo Light" panose="020B0604020202020204" charset="0"/>
                          <a:cs typeface="Archivo Light" panose="020B0604020202020204" charset="0"/>
                        </a:rPr>
                        <a:t>0.8381</a:t>
                      </a:r>
                      <a:endParaRPr lang="vi-VN" sz="1000">
                        <a:latin typeface="Archivo Light" panose="020B0604020202020204" charset="0"/>
                        <a:cs typeface="Archivo Light" panose="020B0604020202020204" charset="0"/>
                      </a:endParaRP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noFill/>
                  </a:tcPr>
                </a:tc>
                <a:extLst>
                  <a:ext uri="{0D108BD9-81ED-4DB2-BD59-A6C34878D82A}">
                    <a16:rowId xmlns:a16="http://schemas.microsoft.com/office/drawing/2014/main" val="10004"/>
                  </a:ext>
                </a:extLst>
              </a:tr>
              <a:tr h="350500">
                <a:tc>
                  <a:txBody>
                    <a:bodyPr/>
                    <a:lstStyle/>
                    <a:p>
                      <a:pPr marL="0" lvl="0" indent="0" algn="ctr" rtl="0">
                        <a:spcBef>
                          <a:spcPts val="0"/>
                        </a:spcBef>
                        <a:spcAft>
                          <a:spcPts val="0"/>
                        </a:spcAft>
                        <a:buNone/>
                      </a:pPr>
                      <a:r>
                        <a:rPr lang="it-IT" sz="1100" b="1">
                          <a:solidFill>
                            <a:schemeClr val="accent1"/>
                          </a:solidFill>
                          <a:latin typeface="Archivo"/>
                          <a:ea typeface="Archivo"/>
                          <a:cs typeface="Archivo"/>
                          <a:sym typeface="Archivo"/>
                        </a:rPr>
                        <a:t>CNN-LSTM</a:t>
                      </a: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a:solidFill>
                            <a:schemeClr val="dk1"/>
                          </a:solidFill>
                          <a:latin typeface="Archivo Light" panose="020B0604020202020204" charset="0"/>
                          <a:ea typeface="Archivo Light"/>
                          <a:cs typeface="Archivo Light" panose="020B0604020202020204" charset="0"/>
                          <a:sym typeface="Archivo Light"/>
                        </a:rPr>
                        <a:t>6,653</a:t>
                      </a:r>
                    </a:p>
                    <a:p>
                      <a:pPr lvl="0" algn="ctr">
                        <a:buNone/>
                      </a:pPr>
                      <a:endParaRPr lang="en-US" sz="1000">
                        <a:latin typeface="Archivo Light" panose="020B0604020202020204" charset="0"/>
                        <a:cs typeface="Archivo Light" panose="020B0604020202020204" charset="0"/>
                      </a:endParaRP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lgn="ctr">
                        <a:buNone/>
                      </a:pPr>
                      <a:r>
                        <a:rPr lang="en-US" sz="1000">
                          <a:latin typeface="Archivo Light" panose="020B0604020202020204" charset="0"/>
                          <a:cs typeface="Archivo Light" panose="020B0604020202020204" charset="0"/>
                        </a:rPr>
                        <a:t>2.0146</a:t>
                      </a: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lgn="ctr">
                        <a:buNone/>
                      </a:pPr>
                      <a:r>
                        <a:rPr lang="en-US" sz="1000">
                          <a:latin typeface="Archivo Light" panose="020B0604020202020204" charset="0"/>
                          <a:cs typeface="Archivo Light" panose="020B0604020202020204" charset="0"/>
                        </a:rPr>
                        <a:t>3.6451</a:t>
                      </a:r>
                    </a:p>
                  </a:txBody>
                  <a:tcPr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tc>
                  <a:txBody>
                    <a:bodyPr/>
                    <a:lstStyle/>
                    <a:p>
                      <a:pPr algn="ctr">
                        <a:buNone/>
                      </a:pPr>
                      <a:r>
                        <a:rPr lang="en-US" sz="1000">
                          <a:latin typeface="Archivo Light" panose="020B0604020202020204" charset="0"/>
                          <a:cs typeface="Archivo Light" panose="020B0604020202020204" charset="0"/>
                        </a:rPr>
                        <a:t>0.8289</a:t>
                      </a:r>
                    </a:p>
                  </a:txBody>
                  <a:tcPr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FFFFFF">
                        <a:alpha val="46260"/>
                      </a:srgbClr>
                    </a:solidFill>
                  </a:tcPr>
                </a:tc>
                <a:extLst>
                  <a:ext uri="{0D108BD9-81ED-4DB2-BD59-A6C34878D82A}">
                    <a16:rowId xmlns:a16="http://schemas.microsoft.com/office/drawing/2014/main" val="2216942892"/>
                  </a:ext>
                </a:extLst>
              </a:tr>
            </a:tbl>
          </a:graphicData>
        </a:graphic>
      </p:graphicFrame>
    </p:spTree>
    <p:extLst>
      <p:ext uri="{BB962C8B-B14F-4D97-AF65-F5344CB8AC3E}">
        <p14:creationId xmlns:p14="http://schemas.microsoft.com/office/powerpoint/2010/main" val="13431378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04">
          <a:extLst>
            <a:ext uri="{FF2B5EF4-FFF2-40B4-BE49-F238E27FC236}">
              <a16:creationId xmlns:a16="http://schemas.microsoft.com/office/drawing/2014/main" id="{54D058F4-457B-ED1A-6FF0-229F4BBEB07B}"/>
            </a:ext>
          </a:extLst>
        </p:cNvPr>
        <p:cNvGrpSpPr/>
        <p:nvPr/>
      </p:nvGrpSpPr>
      <p:grpSpPr>
        <a:xfrm>
          <a:off x="0" y="0"/>
          <a:ext cx="0" cy="0"/>
          <a:chOff x="0" y="0"/>
          <a:chExt cx="0" cy="0"/>
        </a:xfrm>
      </p:grpSpPr>
      <p:sp>
        <p:nvSpPr>
          <p:cNvPr id="6" name="Google Shape;797;p41">
            <a:extLst>
              <a:ext uri="{FF2B5EF4-FFF2-40B4-BE49-F238E27FC236}">
                <a16:creationId xmlns:a16="http://schemas.microsoft.com/office/drawing/2014/main" id="{F7F70371-A959-29E0-FFC8-DFBA202C623D}"/>
              </a:ext>
            </a:extLst>
          </p:cNvPr>
          <p:cNvSpPr/>
          <p:nvPr/>
        </p:nvSpPr>
        <p:spPr>
          <a:xfrm>
            <a:off x="4096350" y="1463163"/>
            <a:ext cx="951300" cy="951300"/>
          </a:xfrm>
          <a:prstGeom prst="ellipse">
            <a:avLst/>
          </a:pr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98;p41">
            <a:extLst>
              <a:ext uri="{FF2B5EF4-FFF2-40B4-BE49-F238E27FC236}">
                <a16:creationId xmlns:a16="http://schemas.microsoft.com/office/drawing/2014/main" id="{A0A3F555-BA1C-F212-CE1E-3BCB4767BFC4}"/>
              </a:ext>
            </a:extLst>
          </p:cNvPr>
          <p:cNvSpPr txBox="1">
            <a:spLocks noGrp="1"/>
          </p:cNvSpPr>
          <p:nvPr>
            <p:ph type="title"/>
          </p:nvPr>
        </p:nvSpPr>
        <p:spPr>
          <a:xfrm>
            <a:off x="2543250" y="2537925"/>
            <a:ext cx="4057500" cy="578400"/>
          </a:xfrm>
          <a:prstGeom prst="rect">
            <a:avLst/>
          </a:prstGeom>
        </p:spPr>
        <p:txBody>
          <a:bodyPr spcFirstLastPara="1" wrap="square" lIns="91425" tIns="91425" rIns="91425" bIns="91425" anchor="t" anchorCtr="0">
            <a:noAutofit/>
          </a:bodyPr>
          <a:lstStyle/>
          <a:p>
            <a:pPr lvl="0">
              <a:buClr>
                <a:schemeClr val="dk1"/>
              </a:buClr>
              <a:buSzPts val="1100"/>
            </a:pPr>
            <a:r>
              <a:rPr lang="en" sz="3200"/>
              <a:t>DEMO</a:t>
            </a:r>
            <a:endParaRPr sz="3200"/>
          </a:p>
        </p:txBody>
      </p:sp>
      <p:sp>
        <p:nvSpPr>
          <p:cNvPr id="8" name="Google Shape;800;p41">
            <a:extLst>
              <a:ext uri="{FF2B5EF4-FFF2-40B4-BE49-F238E27FC236}">
                <a16:creationId xmlns:a16="http://schemas.microsoft.com/office/drawing/2014/main" id="{0182AB22-5104-1297-CDF1-EE83986AC73C}"/>
              </a:ext>
            </a:extLst>
          </p:cNvPr>
          <p:cNvSpPr txBox="1">
            <a:spLocks/>
          </p:cNvSpPr>
          <p:nvPr/>
        </p:nvSpPr>
        <p:spPr>
          <a:xfrm>
            <a:off x="4017450" y="1613613"/>
            <a:ext cx="1109100" cy="650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500">
                <a:solidFill>
                  <a:schemeClr val="bg1"/>
                </a:solidFill>
                <a:latin typeface="Archivo" panose="020B0604020202020204" charset="0"/>
                <a:cs typeface="Archivo" panose="020B0604020202020204" charset="0"/>
              </a:rPr>
              <a:t>06</a:t>
            </a:r>
          </a:p>
        </p:txBody>
      </p:sp>
    </p:spTree>
    <p:extLst>
      <p:ext uri="{BB962C8B-B14F-4D97-AF65-F5344CB8AC3E}">
        <p14:creationId xmlns:p14="http://schemas.microsoft.com/office/powerpoint/2010/main" val="25067242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6" name="Google Shape;1776;p86"/>
          <p:cNvSpPr txBox="1">
            <a:spLocks noGrp="1"/>
          </p:cNvSpPr>
          <p:nvPr>
            <p:ph type="title"/>
          </p:nvPr>
        </p:nvSpPr>
        <p:spPr>
          <a:xfrm>
            <a:off x="2310384" y="1320768"/>
            <a:ext cx="4951590" cy="250196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400"/>
              <a:t>Thanks for your attention!</a:t>
            </a:r>
            <a:endParaRPr sz="5400"/>
          </a:p>
        </p:txBody>
      </p:sp>
      <p:sp>
        <p:nvSpPr>
          <p:cNvPr id="4" name="Hình chữ nhật 3">
            <a:extLst>
              <a:ext uri="{FF2B5EF4-FFF2-40B4-BE49-F238E27FC236}">
                <a16:creationId xmlns:a16="http://schemas.microsoft.com/office/drawing/2014/main" id="{CA556BC0-462D-8C51-9F49-DCD28120A32C}"/>
              </a:ext>
            </a:extLst>
          </p:cNvPr>
          <p:cNvSpPr/>
          <p:nvPr/>
        </p:nvSpPr>
        <p:spPr>
          <a:xfrm>
            <a:off x="2590800" y="3700272"/>
            <a:ext cx="4218432" cy="524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Digital Business Consulting Toolkit by Slidesgo">
  <a:themeElements>
    <a:clrScheme name="Simple Light">
      <a:dk1>
        <a:srgbClr val="000000"/>
      </a:dk1>
      <a:lt1>
        <a:srgbClr val="FFFFFF"/>
      </a:lt1>
      <a:dk2>
        <a:srgbClr val="595959"/>
      </a:dk2>
      <a:lt2>
        <a:srgbClr val="EEEEEE"/>
      </a:lt2>
      <a:accent1>
        <a:srgbClr val="224CE6"/>
      </a:accent1>
      <a:accent2>
        <a:srgbClr val="00D4F9"/>
      </a:accent2>
      <a:accent3>
        <a:srgbClr val="5C38F1"/>
      </a:accent3>
      <a:accent4>
        <a:srgbClr val="2D2183"/>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3582</Words>
  <Application>Microsoft Office PowerPoint</Application>
  <PresentationFormat>On-screen Show (16:9)</PresentationFormat>
  <Paragraphs>476</Paragraphs>
  <Slides>82</Slides>
  <Notes>82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82</vt:i4>
      </vt:variant>
    </vt:vector>
  </HeadingPairs>
  <TitlesOfParts>
    <vt:vector size="88" baseType="lpstr">
      <vt:lpstr>Cambria Math</vt:lpstr>
      <vt:lpstr>Archivo Light</vt:lpstr>
      <vt:lpstr>Archivo</vt:lpstr>
      <vt:lpstr>Arial</vt:lpstr>
      <vt:lpstr>Barlow</vt:lpstr>
      <vt:lpstr>Digital Business Consulting Toolkit by Slidesgo</vt:lpstr>
      <vt:lpstr>Forecasting Water Levels in Hydropower Reservoirs</vt:lpstr>
      <vt:lpstr>Task Assignment Table</vt:lpstr>
      <vt:lpstr>01</vt:lpstr>
      <vt:lpstr>Introduction</vt:lpstr>
      <vt:lpstr>Introduction</vt:lpstr>
      <vt:lpstr>Introduction</vt:lpstr>
      <vt:lpstr>Introduction</vt:lpstr>
      <vt:lpstr>Introduction</vt:lpstr>
      <vt:lpstr>Introduction</vt:lpstr>
      <vt:lpstr>Introduction</vt:lpstr>
      <vt:lpstr>EDA</vt:lpstr>
      <vt:lpstr>Contents of The weather data</vt:lpstr>
      <vt:lpstr>EDA</vt:lpstr>
      <vt:lpstr>EDA</vt:lpstr>
      <vt:lpstr>EDA</vt:lpstr>
      <vt:lpstr>EDA</vt:lpstr>
      <vt:lpstr>EDA</vt:lpstr>
      <vt:lpstr>EDA</vt:lpstr>
      <vt:lpstr>EDA</vt:lpstr>
      <vt:lpstr>EDA</vt:lpstr>
      <vt:lpstr>EDA</vt:lpstr>
      <vt:lpstr>EDA</vt:lpstr>
      <vt:lpstr>Contents of The Hoa Binh’s Dam data</vt:lpstr>
      <vt:lpstr>EDA</vt:lpstr>
      <vt:lpstr>EDA</vt:lpstr>
      <vt:lpstr>EDA</vt:lpstr>
      <vt:lpstr>EDA</vt:lpstr>
      <vt:lpstr>EDA</vt:lpstr>
      <vt:lpstr>EDA</vt:lpstr>
      <vt:lpstr>EDA</vt:lpstr>
      <vt:lpstr>EDA</vt:lpstr>
      <vt:lpstr>EDA</vt:lpstr>
      <vt:lpstr>EDA</vt:lpstr>
      <vt:lpstr>EDA</vt:lpstr>
      <vt:lpstr>EDA</vt:lpstr>
      <vt:lpstr>EDA</vt:lpstr>
      <vt:lpstr>EDA</vt:lpstr>
      <vt:lpstr>Preprocessing</vt:lpstr>
      <vt:lpstr>Contents of The Hoa Binh’s Dam data</vt:lpstr>
      <vt:lpstr>Contents of The Hoa Binh’s Dam data</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Preprocessing</vt:lpstr>
      <vt:lpstr>Feature engineering</vt:lpstr>
      <vt:lpstr>Contents of The weather data</vt:lpstr>
      <vt:lpstr>Feature engineering</vt:lpstr>
      <vt:lpstr>Contents of The weather data</vt:lpstr>
      <vt:lpstr>Contents of The Hoa Binh’s Dam data</vt:lpstr>
      <vt:lpstr>Contents of The Hoa Binh’s Dam data</vt:lpstr>
      <vt:lpstr>Feature engineering</vt:lpstr>
      <vt:lpstr>Contents of The Hoa Binh’s Dam data</vt:lpstr>
      <vt:lpstr>Contents of The Hoa Binh’s Dam data</vt:lpstr>
      <vt:lpstr>Feature engineering</vt:lpstr>
      <vt:lpstr>Feature engineering</vt:lpstr>
      <vt:lpstr>Contents of The Hoa Binh’s Dam data</vt:lpstr>
      <vt:lpstr>Contents of The Hoa Binh’s Dam data</vt:lpstr>
      <vt:lpstr>Modeling</vt:lpstr>
      <vt:lpstr>Modeling</vt:lpstr>
      <vt:lpstr>Modeling</vt:lpstr>
      <vt:lpstr>Modeling</vt:lpstr>
      <vt:lpstr>Modeling</vt:lpstr>
      <vt:lpstr>Modeling</vt:lpstr>
      <vt:lpstr>Modeling</vt:lpstr>
      <vt:lpstr>Metric Summary</vt:lpstr>
      <vt:lpstr>DEMO</vt:lpstr>
      <vt:lpstr>Thanks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Đức Thành Lê</dc:creator>
  <cp:lastModifiedBy>Đức Thành Lê</cp:lastModifiedBy>
  <cp:revision>2</cp:revision>
  <dcterms:modified xsi:type="dcterms:W3CDTF">2025-12-14T08:46:12Z</dcterms:modified>
</cp:coreProperties>
</file>